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E293B"/>
                </a:solidFill>
                <a:latin typeface="Arial"/>
              </a:defRPr>
            </a:pPr>
            <a:r>
              <a:rPr lang="en-IN" sz="1000" b="0" i="0" u="none" strike="noStrike">
                <a:solidFill>
                  <a:srgbClr val="1E293B"/>
                </a:solidFill>
                <a:latin typeface="Arial"/>
              </a:rPr>
              <a:t>Monthly Temperature</a:t>
            </a:r>
          </a:p>
        </c:rich>
      </c:tx>
      <c:overlay val="0"/>
    </c:title>
    <c:autoTitleDeleted val="0"/>
    <c:plotArea>
      <c:layout/>
      <c:lineChart>
        <c:grouping val="standard"/>
        <c:varyColors val="0"/>
        <c:ser>
          <c:idx val="0"/>
          <c:order val="0"/>
          <c:tx>
            <c:strRef>
              <c:f>Sheet1!$B$1</c:f>
              <c:strCache>
                <c:ptCount val="1"/>
                <c:pt idx="0">
                  <c:v>Temperature (°C)</c:v>
                </c:pt>
              </c:strCache>
            </c:strRef>
          </c:tx>
          <c:spPr>
            <a:ln w="31750" cap="flat">
              <a:solidFill>
                <a:srgbClr val="1D4ED8"/>
              </a:solidFill>
              <a:prstDash val="solid"/>
              <a:round/>
            </a:ln>
            <a:effectLst/>
          </c:spPr>
          <c:marker>
            <c:symbol val="circle"/>
            <c:size val="6"/>
            <c:spPr>
              <a:solidFill>
                <a:srgbClr val="1D4ED8"/>
              </a:solidFill>
              <a:ln w="9525" cap="flat">
                <a:solidFill>
                  <a:srgbClr val="1D4ED8"/>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8</c:v>
                </c:pt>
                <c:pt idx="1">
                  <c:v>10</c:v>
                </c:pt>
                <c:pt idx="2">
                  <c:v>14</c:v>
                </c:pt>
                <c:pt idx="3">
                  <c:v>18</c:v>
                </c:pt>
                <c:pt idx="4">
                  <c:v>23</c:v>
                </c:pt>
                <c:pt idx="5">
                  <c:v>28</c:v>
                </c:pt>
                <c:pt idx="6">
                  <c:v>31</c:v>
                </c:pt>
                <c:pt idx="7">
                  <c:v>30</c:v>
                </c:pt>
                <c:pt idx="8">
                  <c:v>25</c:v>
                </c:pt>
                <c:pt idx="9">
                  <c:v>19</c:v>
                </c:pt>
                <c:pt idx="10">
                  <c:v>13</c:v>
                </c:pt>
                <c:pt idx="11">
                  <c:v>9</c:v>
                </c:pt>
              </c:numCache>
            </c:numRef>
          </c:val>
          <c:smooth val="1"/>
          <c:extLst>
            <c:ext xmlns:c16="http://schemas.microsoft.com/office/drawing/2014/chart" uri="{C3380CC4-5D6E-409C-BE32-E72D297353CC}">
              <c16:uniqueId val="{00000000-339D-4669-97AB-D49E5B806DB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E293B"/>
                </a:solidFill>
                <a:latin typeface="Arial"/>
              </a:defRPr>
            </a:pPr>
            <a:r>
              <a:rPr lang="en-IN" sz="1000" b="0" i="0" u="none" strike="noStrike">
                <a:solidFill>
                  <a:srgbClr val="1E293B"/>
                </a:solidFill>
                <a:latin typeface="Arial"/>
              </a:rPr>
              <a:t>Fruit Sales (units)</a:t>
            </a:r>
          </a:p>
        </c:rich>
      </c:tx>
      <c:overlay val="0"/>
    </c:title>
    <c:autoTitleDeleted val="0"/>
    <c:plotArea>
      <c:layout/>
      <c:barChart>
        <c:barDir val="col"/>
        <c:grouping val="clustered"/>
        <c:varyColors val="0"/>
        <c:ser>
          <c:idx val="0"/>
          <c:order val="0"/>
          <c:tx>
            <c:strRef>
              <c:f>Sheet1!$B$1</c:f>
              <c:strCache>
                <c:ptCount val="1"/>
                <c:pt idx="0">
                  <c:v>Fruit Sales</c:v>
                </c:pt>
              </c:strCache>
            </c:strRef>
          </c:tx>
          <c:spPr>
            <a:solidFill>
              <a:srgbClr val="0D9488"/>
            </a:solidFill>
            <a:effectLst/>
          </c:spPr>
          <c:invertIfNegative val="0"/>
          <c:dPt>
            <c:idx val="0"/>
            <c:invertIfNegative val="0"/>
            <c:bubble3D val="0"/>
            <c:extLst>
              <c:ext xmlns:c16="http://schemas.microsoft.com/office/drawing/2014/chart" uri="{C3380CC4-5D6E-409C-BE32-E72D297353CC}">
                <c16:uniqueId val="{00000001-D02A-4E1E-8A36-8D430BCD258B}"/>
              </c:ext>
            </c:extLst>
          </c:dPt>
          <c:dPt>
            <c:idx val="1"/>
            <c:invertIfNegative val="0"/>
            <c:bubble3D val="0"/>
            <c:spPr>
              <a:solidFill>
                <a:srgbClr val="14B8A6"/>
              </a:solidFill>
              <a:effectLst/>
            </c:spPr>
            <c:extLst>
              <c:ext xmlns:c16="http://schemas.microsoft.com/office/drawing/2014/chart" uri="{C3380CC4-5D6E-409C-BE32-E72D297353CC}">
                <c16:uniqueId val="{00000003-D02A-4E1E-8A36-8D430BCD258B}"/>
              </c:ext>
            </c:extLst>
          </c:dPt>
          <c:dPt>
            <c:idx val="2"/>
            <c:invertIfNegative val="0"/>
            <c:bubble3D val="0"/>
            <c:spPr>
              <a:solidFill>
                <a:srgbClr val="5EEAD4"/>
              </a:solidFill>
              <a:effectLst/>
            </c:spPr>
            <c:extLst>
              <c:ext xmlns:c16="http://schemas.microsoft.com/office/drawing/2014/chart" uri="{C3380CC4-5D6E-409C-BE32-E72D297353CC}">
                <c16:uniqueId val="{00000005-D02A-4E1E-8A36-8D430BCD258B}"/>
              </c:ext>
            </c:extLst>
          </c:dPt>
          <c:dPt>
            <c:idx val="3"/>
            <c:invertIfNegative val="0"/>
            <c:bubble3D val="0"/>
            <c:spPr>
              <a:solidFill>
                <a:srgbClr val="99F6E4"/>
              </a:solidFill>
              <a:effectLst/>
            </c:spPr>
            <c:extLst>
              <c:ext xmlns:c16="http://schemas.microsoft.com/office/drawing/2014/chart" uri="{C3380CC4-5D6E-409C-BE32-E72D297353CC}">
                <c16:uniqueId val="{00000007-D02A-4E1E-8A36-8D430BCD258B}"/>
              </c:ext>
            </c:extLst>
          </c:dPt>
          <c:dPt>
            <c:idx val="4"/>
            <c:invertIfNegative val="0"/>
            <c:bubble3D val="0"/>
            <c:spPr>
              <a:solidFill>
                <a:srgbClr val="CCFBF1"/>
              </a:solidFill>
              <a:effectLst/>
            </c:spPr>
            <c:extLst>
              <c:ext xmlns:c16="http://schemas.microsoft.com/office/drawing/2014/chart" uri="{C3380CC4-5D6E-409C-BE32-E72D297353CC}">
                <c16:uniqueId val="{00000009-D02A-4E1E-8A36-8D430BCD258B}"/>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Mango</c:v>
                </c:pt>
                <c:pt idx="1">
                  <c:v>Apple</c:v>
                </c:pt>
                <c:pt idx="2">
                  <c:v>Banana</c:v>
                </c:pt>
                <c:pt idx="3">
                  <c:v>Orange</c:v>
                </c:pt>
                <c:pt idx="4">
                  <c:v>Grapes</c:v>
                </c:pt>
              </c:strCache>
            </c:strRef>
          </c:cat>
          <c:val>
            <c:numRef>
              <c:f>Sheet1!$B$2:$B$6</c:f>
              <c:numCache>
                <c:formatCode>General</c:formatCode>
                <c:ptCount val="5"/>
                <c:pt idx="0">
                  <c:v>420</c:v>
                </c:pt>
                <c:pt idx="1">
                  <c:v>380</c:v>
                </c:pt>
                <c:pt idx="2">
                  <c:v>310</c:v>
                </c:pt>
                <c:pt idx="3">
                  <c:v>275</c:v>
                </c:pt>
                <c:pt idx="4">
                  <c:v>220</c:v>
                </c:pt>
              </c:numCache>
            </c:numRef>
          </c:val>
          <c:extLst>
            <c:ext xmlns:c16="http://schemas.microsoft.com/office/drawing/2014/chart" uri="{C3380CC4-5D6E-409C-BE32-E72D297353CC}">
              <c16:uniqueId val="{0000000A-D02A-4E1E-8A36-8D430BCD258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E293B"/>
                </a:solidFill>
                <a:latin typeface="Arial"/>
              </a:defRPr>
            </a:pPr>
            <a:r>
              <a:rPr lang="en-IN" sz="1000" b="0" i="0" u="none" strike="noStrike">
                <a:solidFill>
                  <a:srgbClr val="1E293B"/>
                </a:solidFill>
                <a:latin typeface="Arial"/>
              </a:rPr>
              <a:t>Exam Score Distribution</a:t>
            </a:r>
          </a:p>
        </c:rich>
      </c:tx>
      <c:overlay val="0"/>
    </c:title>
    <c:autoTitleDeleted val="0"/>
    <c:plotArea>
      <c:layout/>
      <c:barChart>
        <c:barDir val="col"/>
        <c:grouping val="clustered"/>
        <c:varyColors val="0"/>
        <c:ser>
          <c:idx val="0"/>
          <c:order val="0"/>
          <c:tx>
            <c:strRef>
              <c:f>Sheet1!$B$1</c:f>
              <c:strCache>
                <c:ptCount val="1"/>
                <c:pt idx="0">
                  <c:v>Frequency</c:v>
                </c:pt>
              </c:strCache>
            </c:strRef>
          </c:tx>
          <c:spPr>
            <a:solidFill>
              <a:srgbClr val="F59E0B"/>
            </a:solidFill>
            <a:effectLst/>
          </c:spPr>
          <c:invertIfNegative val="0"/>
          <c:dPt>
            <c:idx val="0"/>
            <c:invertIfNegative val="0"/>
            <c:bubble3D val="0"/>
            <c:extLst>
              <c:ext xmlns:c16="http://schemas.microsoft.com/office/drawing/2014/chart" uri="{C3380CC4-5D6E-409C-BE32-E72D297353CC}">
                <c16:uniqueId val="{00000001-3610-4014-9DB0-CFB818AF32A7}"/>
              </c:ext>
            </c:extLst>
          </c:dPt>
          <c:dPt>
            <c:idx val="1"/>
            <c:invertIfNegative val="0"/>
            <c:bubble3D val="0"/>
            <c:spPr>
              <a:solidFill>
                <a:srgbClr val="FBBF24"/>
              </a:solidFill>
              <a:effectLst/>
            </c:spPr>
            <c:extLst>
              <c:ext xmlns:c16="http://schemas.microsoft.com/office/drawing/2014/chart" uri="{C3380CC4-5D6E-409C-BE32-E72D297353CC}">
                <c16:uniqueId val="{00000003-3610-4014-9DB0-CFB818AF32A7}"/>
              </c:ext>
            </c:extLst>
          </c:dPt>
          <c:dPt>
            <c:idx val="2"/>
            <c:invertIfNegative val="0"/>
            <c:bubble3D val="0"/>
            <c:spPr>
              <a:solidFill>
                <a:srgbClr val="FCD34D"/>
              </a:solidFill>
              <a:effectLst/>
            </c:spPr>
            <c:extLst>
              <c:ext xmlns:c16="http://schemas.microsoft.com/office/drawing/2014/chart" uri="{C3380CC4-5D6E-409C-BE32-E72D297353CC}">
                <c16:uniqueId val="{00000005-3610-4014-9DB0-CFB818AF32A7}"/>
              </c:ext>
            </c:extLst>
          </c:dPt>
          <c:dPt>
            <c:idx val="3"/>
            <c:invertIfNegative val="0"/>
            <c:bubble3D val="0"/>
            <c:spPr>
              <a:solidFill>
                <a:srgbClr val="FDE68A"/>
              </a:solidFill>
              <a:effectLst/>
            </c:spPr>
            <c:extLst>
              <c:ext xmlns:c16="http://schemas.microsoft.com/office/drawing/2014/chart" uri="{C3380CC4-5D6E-409C-BE32-E72D297353CC}">
                <c16:uniqueId val="{00000007-3610-4014-9DB0-CFB818AF32A7}"/>
              </c:ext>
            </c:extLst>
          </c:dPt>
          <c:dPt>
            <c:idx val="4"/>
            <c:invertIfNegative val="0"/>
            <c:bubble3D val="0"/>
            <c:spPr>
              <a:solidFill>
                <a:srgbClr val="FEF3C7"/>
              </a:solidFill>
              <a:effectLst/>
            </c:spPr>
            <c:extLst>
              <c:ext xmlns:c16="http://schemas.microsoft.com/office/drawing/2014/chart" uri="{C3380CC4-5D6E-409C-BE32-E72D297353CC}">
                <c16:uniqueId val="{00000009-3610-4014-9DB0-CFB818AF32A7}"/>
              </c:ext>
            </c:extLst>
          </c:dPt>
          <c:dPt>
            <c:idx val="5"/>
            <c:invertIfNegative val="0"/>
            <c:bubble3D val="0"/>
            <c:spPr>
              <a:solidFill>
                <a:srgbClr val="FEF3C7"/>
              </a:solidFill>
              <a:effectLst/>
            </c:spPr>
            <c:extLst>
              <c:ext xmlns:c16="http://schemas.microsoft.com/office/drawing/2014/chart" uri="{C3380CC4-5D6E-409C-BE32-E72D297353CC}">
                <c16:uniqueId val="{0000000B-3610-4014-9DB0-CFB818AF32A7}"/>
              </c:ext>
            </c:extLst>
          </c:dPt>
          <c:dPt>
            <c:idx val="6"/>
            <c:invertIfNegative val="0"/>
            <c:bubble3D val="0"/>
            <c:spPr>
              <a:solidFill>
                <a:srgbClr val="FDE68A"/>
              </a:solidFill>
              <a:effectLst/>
            </c:spPr>
            <c:extLst>
              <c:ext xmlns:c16="http://schemas.microsoft.com/office/drawing/2014/chart" uri="{C3380CC4-5D6E-409C-BE32-E72D297353CC}">
                <c16:uniqueId val="{0000000D-3610-4014-9DB0-CFB818AF32A7}"/>
              </c:ext>
            </c:extLst>
          </c:dPt>
          <c:dPt>
            <c:idx val="7"/>
            <c:invertIfNegative val="0"/>
            <c:bubble3D val="0"/>
            <c:spPr>
              <a:solidFill>
                <a:srgbClr val="FCD34D"/>
              </a:solidFill>
              <a:effectLst/>
            </c:spPr>
            <c:extLst>
              <c:ext xmlns:c16="http://schemas.microsoft.com/office/drawing/2014/chart" uri="{C3380CC4-5D6E-409C-BE32-E72D297353CC}">
                <c16:uniqueId val="{0000000F-3610-4014-9DB0-CFB818AF32A7}"/>
              </c:ext>
            </c:extLst>
          </c:dPt>
          <c:dPt>
            <c:idx val="8"/>
            <c:invertIfNegative val="0"/>
            <c:bubble3D val="0"/>
            <c:spPr>
              <a:solidFill>
                <a:srgbClr val="FBBF24"/>
              </a:solidFill>
              <a:effectLst/>
            </c:spPr>
            <c:extLst>
              <c:ext xmlns:c16="http://schemas.microsoft.com/office/drawing/2014/chart" uri="{C3380CC4-5D6E-409C-BE32-E72D297353CC}">
                <c16:uniqueId val="{00000011-3610-4014-9DB0-CFB818AF32A7}"/>
              </c:ext>
            </c:extLst>
          </c:dPt>
          <c:dPt>
            <c:idx val="9"/>
            <c:invertIfNegative val="0"/>
            <c:bubble3D val="0"/>
            <c:extLst>
              <c:ext xmlns:c16="http://schemas.microsoft.com/office/drawing/2014/chart" uri="{C3380CC4-5D6E-409C-BE32-E72D297353CC}">
                <c16:uniqueId val="{00000013-3610-4014-9DB0-CFB818AF32A7}"/>
              </c:ext>
            </c:extLst>
          </c:dPt>
          <c:cat>
            <c:strRef>
              <c:f>Sheet1!$A$2:$A$11</c:f>
              <c:strCache>
                <c:ptCount val="10"/>
                <c:pt idx="0">
                  <c:v>50-55</c:v>
                </c:pt>
                <c:pt idx="1">
                  <c:v>55-60</c:v>
                </c:pt>
                <c:pt idx="2">
                  <c:v>60-65</c:v>
                </c:pt>
                <c:pt idx="3">
                  <c:v>65-70</c:v>
                </c:pt>
                <c:pt idx="4">
                  <c:v>70-75</c:v>
                </c:pt>
                <c:pt idx="5">
                  <c:v>75-80</c:v>
                </c:pt>
                <c:pt idx="6">
                  <c:v>80-85</c:v>
                </c:pt>
                <c:pt idx="7">
                  <c:v>85-90</c:v>
                </c:pt>
                <c:pt idx="8">
                  <c:v>90-95</c:v>
                </c:pt>
                <c:pt idx="9">
                  <c:v>95-100</c:v>
                </c:pt>
              </c:strCache>
            </c:strRef>
          </c:cat>
          <c:val>
            <c:numRef>
              <c:f>Sheet1!$B$2:$B$11</c:f>
              <c:numCache>
                <c:formatCode>General</c:formatCode>
                <c:ptCount val="10"/>
                <c:pt idx="0">
                  <c:v>2</c:v>
                </c:pt>
                <c:pt idx="1">
                  <c:v>5</c:v>
                </c:pt>
                <c:pt idx="2">
                  <c:v>11</c:v>
                </c:pt>
                <c:pt idx="3">
                  <c:v>18</c:v>
                </c:pt>
                <c:pt idx="4">
                  <c:v>24</c:v>
                </c:pt>
                <c:pt idx="5">
                  <c:v>20</c:v>
                </c:pt>
                <c:pt idx="6">
                  <c:v>13</c:v>
                </c:pt>
                <c:pt idx="7">
                  <c:v>7</c:v>
                </c:pt>
                <c:pt idx="8">
                  <c:v>3</c:v>
                </c:pt>
                <c:pt idx="9">
                  <c:v>1</c:v>
                </c:pt>
              </c:numCache>
            </c:numRef>
          </c:val>
          <c:extLst>
            <c:ext xmlns:c16="http://schemas.microsoft.com/office/drawing/2014/chart" uri="{C3380CC4-5D6E-409C-BE32-E72D297353CC}">
              <c16:uniqueId val="{00000014-3610-4014-9DB0-CFB818AF32A7}"/>
            </c:ext>
          </c:extLst>
        </c:ser>
        <c:dLbls>
          <c:showLegendKey val="0"/>
          <c:showVal val="0"/>
          <c:showCatName val="0"/>
          <c:showSerName val="0"/>
          <c:showPercent val="0"/>
          <c:showBubbleSize val="0"/>
        </c:dLbls>
        <c:gapWidth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E293B"/>
                </a:solidFill>
                <a:latin typeface="Arial"/>
              </a:defRPr>
            </a:pPr>
            <a:r>
              <a:rPr lang="en-IN" sz="1000" b="0" i="0" u="none" strike="noStrike">
                <a:solidFill>
                  <a:srgbClr val="1E293B"/>
                </a:solidFill>
                <a:latin typeface="Arial"/>
              </a:rPr>
              <a:t>Study Hours vs Score</a:t>
            </a:r>
          </a:p>
        </c:rich>
      </c:tx>
      <c:overlay val="0"/>
    </c:title>
    <c:autoTitleDeleted val="0"/>
    <c:plotArea>
      <c:layout/>
      <c:scatterChart>
        <c:scatterStyle val="lineMarker"/>
        <c:varyColors val="0"/>
        <c:ser>
          <c:idx val="0"/>
          <c:order val="0"/>
          <c:tx>
            <c:strRef>
              <c:f>Sheet1!$B$1</c:f>
              <c:strCache>
                <c:ptCount val="1"/>
                <c:pt idx="0">
                  <c:v>Study Hours vs Score</c:v>
                </c:pt>
              </c:strCache>
            </c:strRef>
          </c:tx>
          <c:spPr>
            <a:ln w="25400" cap="flat">
              <a:solidFill>
                <a:srgbClr val="EF4444"/>
              </a:solidFill>
              <a:prstDash val="solid"/>
              <a:round/>
            </a:ln>
            <a:effectLst/>
          </c:spPr>
          <c:marker>
            <c:symbol val="circle"/>
            <c:size val="6"/>
            <c:spPr>
              <a:solidFill>
                <a:srgbClr val="EF4444"/>
              </a:solidFill>
              <a:ln w="9525" cap="flat">
                <a:solidFill>
                  <a:srgbClr val="EF4444"/>
                </a:solidFill>
                <a:prstDash val="solid"/>
                <a:round/>
              </a:ln>
              <a:effectLst/>
            </c:spPr>
          </c:marker>
          <c:xVal>
            <c:numRef>
              <c:f>Sheet1!$A$2:$A$16</c:f>
              <c:numCache>
                <c:formatCode>General</c:formatCode>
                <c:ptCount val="15"/>
                <c:pt idx="0">
                  <c:v>22</c:v>
                </c:pt>
                <c:pt idx="1">
                  <c:v>25</c:v>
                </c:pt>
                <c:pt idx="2">
                  <c:v>30</c:v>
                </c:pt>
                <c:pt idx="3">
                  <c:v>35</c:v>
                </c:pt>
                <c:pt idx="4">
                  <c:v>38</c:v>
                </c:pt>
                <c:pt idx="5">
                  <c:v>42</c:v>
                </c:pt>
                <c:pt idx="6">
                  <c:v>45</c:v>
                </c:pt>
                <c:pt idx="7">
                  <c:v>48</c:v>
                </c:pt>
                <c:pt idx="8">
                  <c:v>52</c:v>
                </c:pt>
                <c:pt idx="9">
                  <c:v>55</c:v>
                </c:pt>
                <c:pt idx="10">
                  <c:v>60</c:v>
                </c:pt>
                <c:pt idx="11">
                  <c:v>62</c:v>
                </c:pt>
                <c:pt idx="12">
                  <c:v>65</c:v>
                </c:pt>
                <c:pt idx="13">
                  <c:v>70</c:v>
                </c:pt>
                <c:pt idx="14">
                  <c:v>72</c:v>
                </c:pt>
              </c:numCache>
            </c:numRef>
          </c:xVal>
          <c:yVal>
            <c:numRef>
              <c:f>Sheet1!$B$2:$B$16</c:f>
              <c:numCache>
                <c:formatCode>General</c:formatCode>
                <c:ptCount val="15"/>
                <c:pt idx="0">
                  <c:v>45</c:v>
                </c:pt>
                <c:pt idx="1">
                  <c:v>52</c:v>
                </c:pt>
                <c:pt idx="2">
                  <c:v>58</c:v>
                </c:pt>
                <c:pt idx="3">
                  <c:v>63</c:v>
                </c:pt>
                <c:pt idx="4">
                  <c:v>68</c:v>
                </c:pt>
                <c:pt idx="5">
                  <c:v>75</c:v>
                </c:pt>
                <c:pt idx="6">
                  <c:v>80</c:v>
                </c:pt>
                <c:pt idx="7">
                  <c:v>85</c:v>
                </c:pt>
                <c:pt idx="8">
                  <c:v>90</c:v>
                </c:pt>
                <c:pt idx="9">
                  <c:v>93</c:v>
                </c:pt>
                <c:pt idx="10">
                  <c:v>97</c:v>
                </c:pt>
                <c:pt idx="11">
                  <c:v>100</c:v>
                </c:pt>
                <c:pt idx="12">
                  <c:v>104</c:v>
                </c:pt>
                <c:pt idx="13">
                  <c:v>110</c:v>
                </c:pt>
                <c:pt idx="14">
                  <c:v>115</c:v>
                </c:pt>
              </c:numCache>
            </c:numRef>
          </c:yVal>
          <c:smooth val="0"/>
          <c:extLst>
            <c:ext xmlns:c16="http://schemas.microsoft.com/office/drawing/2014/chart" uri="{C3380CC4-5D6E-409C-BE32-E72D297353CC}">
              <c16:uniqueId val="{00000000-51C5-417C-A1C1-A01894F04773}"/>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crossBetween val="midCat"/>
      </c:val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5388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8BDF8"/>
          </a:solidFill>
          <a:ln w="12700">
            <a:solidFill>
              <a:srgbClr val="38BDF8"/>
            </a:solidFill>
            <a:prstDash val="solid"/>
          </a:ln>
        </p:spPr>
      </p:sp>
      <p:sp>
        <p:nvSpPr>
          <p:cNvPr id="3" name="Text 1"/>
          <p:cNvSpPr/>
          <p:nvPr/>
        </p:nvSpPr>
        <p:spPr>
          <a:xfrm>
            <a:off x="457200" y="54187"/>
            <a:ext cx="8229600" cy="1088813"/>
          </a:xfrm>
          <a:prstGeom prst="rect">
            <a:avLst/>
          </a:prstGeom>
          <a:noFill/>
          <a:ln/>
        </p:spPr>
        <p:txBody>
          <a:bodyPr wrap="square" lIns="0" tIns="0" rIns="0" bIns="0"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Matplotlib</a:t>
            </a:r>
            <a:endParaRPr lang="en-US" sz="7200" dirty="0"/>
          </a:p>
        </p:txBody>
      </p:sp>
      <p:sp>
        <p:nvSpPr>
          <p:cNvPr id="4" name="Text 2"/>
          <p:cNvSpPr/>
          <p:nvPr/>
        </p:nvSpPr>
        <p:spPr>
          <a:xfrm>
            <a:off x="457200" y="1016000"/>
            <a:ext cx="8229600" cy="419945"/>
          </a:xfrm>
          <a:prstGeom prst="rect">
            <a:avLst/>
          </a:prstGeom>
          <a:noFill/>
          <a:ln/>
        </p:spPr>
        <p:txBody>
          <a:bodyPr wrap="square" lIns="0" tIns="0" rIns="0" bIns="0" rtlCol="0" anchor="ctr"/>
          <a:lstStyle/>
          <a:p>
            <a:pPr marL="0" indent="0">
              <a:buNone/>
            </a:pPr>
            <a:r>
              <a:rPr lang="en-US" sz="2600" dirty="0">
                <a:solidFill>
                  <a:srgbClr val="38BDF8"/>
                </a:solidFill>
                <a:latin typeface="Calibri" pitchFamily="34" charset="0"/>
                <a:ea typeface="Calibri" pitchFamily="34" charset="-122"/>
                <a:cs typeface="Calibri" pitchFamily="34" charset="-120"/>
              </a:rPr>
              <a:t>Data Visualization in Python</a:t>
            </a:r>
            <a:endParaRPr lang="en-US" sz="2600" dirty="0"/>
          </a:p>
        </p:txBody>
      </p:sp>
      <p:sp>
        <p:nvSpPr>
          <p:cNvPr id="5" name="Shape 3"/>
          <p:cNvSpPr/>
          <p:nvPr/>
        </p:nvSpPr>
        <p:spPr>
          <a:xfrm>
            <a:off x="493776" y="1458297"/>
            <a:ext cx="4114800" cy="0"/>
          </a:xfrm>
          <a:prstGeom prst="line">
            <a:avLst/>
          </a:prstGeom>
          <a:noFill/>
          <a:ln w="19050">
            <a:solidFill>
              <a:srgbClr val="334155"/>
            </a:solidFill>
            <a:prstDash val="solid"/>
          </a:ln>
        </p:spPr>
      </p:sp>
      <p:sp>
        <p:nvSpPr>
          <p:cNvPr id="6" name="Text 4"/>
          <p:cNvSpPr/>
          <p:nvPr/>
        </p:nvSpPr>
        <p:spPr>
          <a:xfrm>
            <a:off x="162560" y="1551094"/>
            <a:ext cx="8676640" cy="2248402"/>
          </a:xfrm>
          <a:prstGeom prst="rect">
            <a:avLst/>
          </a:prstGeom>
          <a:noFill/>
          <a:ln/>
        </p:spPr>
        <p:txBody>
          <a:bodyPr wrap="square" lIns="0" tIns="0" rIns="0" bIns="0" rtlCol="0" anchor="ctr"/>
          <a:lstStyle/>
          <a:p>
            <a:pPr marL="0" indent="0">
              <a:buNone/>
            </a:pPr>
            <a:r>
              <a:rPr lang="en-US" sz="1200" dirty="0">
                <a:solidFill>
                  <a:schemeClr val="bg1"/>
                </a:solidFill>
              </a:rPr>
              <a:t>Matplotlib is an open-source data visualization library in Python. It is used to create a wide variety of charts and graphs, such as line plots, bar charts, pie charts, histograms, and scatter plots. Matplotlib helps transform raw data into visual representations, making it easier to understand patterns, trends, and relationships in data. It is widely used in data science, machine learning, research, and business analytics.</a:t>
            </a:r>
          </a:p>
          <a:p>
            <a:pPr marL="0" indent="0">
              <a:buNone/>
            </a:pPr>
            <a:endParaRPr lang="en-US" sz="1200" dirty="0">
              <a:solidFill>
                <a:schemeClr val="bg1"/>
              </a:solidFill>
            </a:endParaRPr>
          </a:p>
          <a:p>
            <a:pPr marL="0" indent="0">
              <a:buNone/>
            </a:pPr>
            <a:r>
              <a:rPr lang="en-US" sz="1200" dirty="0">
                <a:solidFill>
                  <a:schemeClr val="accent2"/>
                </a:solidFill>
              </a:rPr>
              <a:t>Why Use Matplotlib?                                                                                                                                                                                                                     </a:t>
            </a:r>
            <a:r>
              <a:rPr lang="en-US" sz="1200" dirty="0">
                <a:solidFill>
                  <a:schemeClr val="bg1"/>
                </a:solidFill>
              </a:rPr>
              <a:t>-&gt;Easy to learn and use                                                                                                                                                                                                        -&gt;Supports many chart types</a:t>
            </a:r>
          </a:p>
          <a:p>
            <a:pPr marL="0" indent="0">
              <a:buNone/>
            </a:pPr>
            <a:r>
              <a:rPr lang="en-US" sz="1200" dirty="0">
                <a:solidFill>
                  <a:schemeClr val="bg1"/>
                </a:solidFill>
              </a:rPr>
              <a:t>-&gt;Works well with NumPy and Pandas</a:t>
            </a:r>
          </a:p>
          <a:p>
            <a:pPr marL="0" indent="0">
              <a:buNone/>
            </a:pPr>
            <a:r>
              <a:rPr lang="en-US" sz="1200" dirty="0">
                <a:solidFill>
                  <a:schemeClr val="bg1"/>
                </a:solidFill>
              </a:rPr>
              <a:t>-&gt;Helps in data analysis and decision-making</a:t>
            </a:r>
          </a:p>
          <a:p>
            <a:pPr marL="0" indent="0">
              <a:buNone/>
            </a:pPr>
            <a:r>
              <a:rPr lang="en-US" sz="1400" dirty="0">
                <a:solidFill>
                  <a:schemeClr val="accent2"/>
                </a:solidFill>
              </a:rPr>
              <a:t>Applications </a:t>
            </a:r>
          </a:p>
          <a:p>
            <a:pPr marL="0" indent="0">
              <a:buNone/>
            </a:pPr>
            <a:r>
              <a:rPr lang="en-US" sz="1200" dirty="0">
                <a:solidFill>
                  <a:schemeClr val="bg1"/>
                </a:solidFill>
              </a:rPr>
              <a:t>-&gt; data analysis </a:t>
            </a:r>
          </a:p>
          <a:p>
            <a:pPr marL="0" indent="0">
              <a:buNone/>
            </a:pPr>
            <a:r>
              <a:rPr lang="en-US" sz="1200" dirty="0">
                <a:solidFill>
                  <a:schemeClr val="bg1"/>
                </a:solidFill>
              </a:rPr>
              <a:t>-&gt; Machine learning </a:t>
            </a:r>
          </a:p>
          <a:p>
            <a:pPr marL="0" indent="0">
              <a:buNone/>
            </a:pPr>
            <a:r>
              <a:rPr lang="en-US" sz="1200" dirty="0">
                <a:solidFill>
                  <a:schemeClr val="bg1"/>
                </a:solidFill>
              </a:rPr>
              <a:t>-&gt; business reporting </a:t>
            </a:r>
          </a:p>
          <a:p>
            <a:pPr marL="0" indent="0">
              <a:buNone/>
            </a:pPr>
            <a:r>
              <a:rPr lang="en-US" sz="1200" dirty="0">
                <a:solidFill>
                  <a:schemeClr val="bg1"/>
                </a:solidFill>
              </a:rPr>
              <a:t>-&gt;academic projects</a:t>
            </a:r>
          </a:p>
        </p:txBody>
      </p:sp>
      <p:sp>
        <p:nvSpPr>
          <p:cNvPr id="7" name="Shape 5"/>
          <p:cNvSpPr/>
          <p:nvPr/>
        </p:nvSpPr>
        <p:spPr>
          <a:xfrm>
            <a:off x="457200" y="4114800"/>
            <a:ext cx="1920240" cy="640080"/>
          </a:xfrm>
          <a:prstGeom prst="rect">
            <a:avLst/>
          </a:prstGeom>
          <a:solidFill>
            <a:srgbClr val="1D4ED8"/>
          </a:solidFill>
          <a:ln w="12700">
            <a:solidFill>
              <a:srgbClr val="1D4ED8"/>
            </a:solidFill>
            <a:prstDash val="solid"/>
          </a:ln>
        </p:spPr>
      </p:sp>
      <p:sp>
        <p:nvSpPr>
          <p:cNvPr id="8" name="Text 6"/>
          <p:cNvSpPr/>
          <p:nvPr/>
        </p:nvSpPr>
        <p:spPr>
          <a:xfrm>
            <a:off x="457200" y="4114800"/>
            <a:ext cx="1920240" cy="640080"/>
          </a:xfrm>
          <a:prstGeom prst="rect">
            <a:avLst/>
          </a:prstGeom>
          <a:noFill/>
          <a:ln/>
        </p:spPr>
        <p:txBody>
          <a:bodyPr wrap="square" lIns="0" tIns="0" rIns="0" bIns="0" rtlCol="0" anchor="ctr"/>
          <a:lstStyle/>
          <a:p>
            <a:pPr marL="0" indent="0" algn="ctr">
              <a:buNone/>
            </a:pPr>
            <a:r>
              <a:rPr lang="en-US" sz="1200" b="1" dirty="0">
                <a:solidFill>
                  <a:srgbClr val="FFFFFF"/>
                </a:solidFill>
              </a:rPr>
              <a:t>Line Chart</a:t>
            </a:r>
            <a:endParaRPr lang="en-US" sz="1200" dirty="0"/>
          </a:p>
        </p:txBody>
      </p:sp>
      <p:sp>
        <p:nvSpPr>
          <p:cNvPr id="9" name="Shape 7"/>
          <p:cNvSpPr/>
          <p:nvPr/>
        </p:nvSpPr>
        <p:spPr>
          <a:xfrm>
            <a:off x="2532888" y="4114800"/>
            <a:ext cx="1920240" cy="640080"/>
          </a:xfrm>
          <a:prstGeom prst="rect">
            <a:avLst/>
          </a:prstGeom>
          <a:solidFill>
            <a:srgbClr val="0D9488"/>
          </a:solidFill>
          <a:ln w="12700">
            <a:solidFill>
              <a:srgbClr val="0D9488"/>
            </a:solidFill>
            <a:prstDash val="solid"/>
          </a:ln>
        </p:spPr>
      </p:sp>
      <p:sp>
        <p:nvSpPr>
          <p:cNvPr id="10" name="Text 8"/>
          <p:cNvSpPr/>
          <p:nvPr/>
        </p:nvSpPr>
        <p:spPr>
          <a:xfrm>
            <a:off x="2532888" y="4114800"/>
            <a:ext cx="1920240" cy="640080"/>
          </a:xfrm>
          <a:prstGeom prst="rect">
            <a:avLst/>
          </a:prstGeom>
          <a:noFill/>
          <a:ln/>
        </p:spPr>
        <p:txBody>
          <a:bodyPr wrap="square" lIns="0" tIns="0" rIns="0" bIns="0" rtlCol="0" anchor="ctr"/>
          <a:lstStyle/>
          <a:p>
            <a:pPr marL="0" indent="0" algn="ctr">
              <a:buNone/>
            </a:pPr>
            <a:r>
              <a:rPr lang="en-US" sz="1200" b="1" dirty="0">
                <a:solidFill>
                  <a:srgbClr val="FFFFFF"/>
                </a:solidFill>
              </a:rPr>
              <a:t>Bar Chart</a:t>
            </a:r>
            <a:endParaRPr lang="en-US" sz="1200" dirty="0"/>
          </a:p>
        </p:txBody>
      </p:sp>
      <p:sp>
        <p:nvSpPr>
          <p:cNvPr id="11" name="Shape 9"/>
          <p:cNvSpPr/>
          <p:nvPr/>
        </p:nvSpPr>
        <p:spPr>
          <a:xfrm>
            <a:off x="4608576" y="4114800"/>
            <a:ext cx="1920240" cy="640080"/>
          </a:xfrm>
          <a:prstGeom prst="rect">
            <a:avLst/>
          </a:prstGeom>
          <a:solidFill>
            <a:srgbClr val="F59E0B"/>
          </a:solidFill>
          <a:ln w="12700">
            <a:solidFill>
              <a:srgbClr val="F59E0B"/>
            </a:solidFill>
            <a:prstDash val="solid"/>
          </a:ln>
        </p:spPr>
      </p:sp>
      <p:sp>
        <p:nvSpPr>
          <p:cNvPr id="12" name="Text 10"/>
          <p:cNvSpPr/>
          <p:nvPr/>
        </p:nvSpPr>
        <p:spPr>
          <a:xfrm>
            <a:off x="4608576" y="4114800"/>
            <a:ext cx="1920240" cy="640080"/>
          </a:xfrm>
          <a:prstGeom prst="rect">
            <a:avLst/>
          </a:prstGeom>
          <a:noFill/>
          <a:ln/>
        </p:spPr>
        <p:txBody>
          <a:bodyPr wrap="square" lIns="0" tIns="0" rIns="0" bIns="0" rtlCol="0" anchor="ctr"/>
          <a:lstStyle/>
          <a:p>
            <a:pPr marL="0" indent="0" algn="ctr">
              <a:buNone/>
            </a:pPr>
            <a:r>
              <a:rPr lang="en-US" sz="1200" b="1" dirty="0">
                <a:solidFill>
                  <a:srgbClr val="FFFFFF"/>
                </a:solidFill>
              </a:rPr>
              <a:t>Histogram</a:t>
            </a:r>
            <a:endParaRPr lang="en-US" sz="1200" dirty="0"/>
          </a:p>
        </p:txBody>
      </p:sp>
      <p:sp>
        <p:nvSpPr>
          <p:cNvPr id="13" name="Shape 11"/>
          <p:cNvSpPr/>
          <p:nvPr/>
        </p:nvSpPr>
        <p:spPr>
          <a:xfrm>
            <a:off x="6684264" y="4114800"/>
            <a:ext cx="1920240" cy="640080"/>
          </a:xfrm>
          <a:prstGeom prst="rect">
            <a:avLst/>
          </a:prstGeom>
          <a:solidFill>
            <a:srgbClr val="EF4444"/>
          </a:solidFill>
          <a:ln w="12700">
            <a:solidFill>
              <a:srgbClr val="EF4444"/>
            </a:solidFill>
            <a:prstDash val="solid"/>
          </a:ln>
        </p:spPr>
      </p:sp>
      <p:sp>
        <p:nvSpPr>
          <p:cNvPr id="14" name="Text 12"/>
          <p:cNvSpPr/>
          <p:nvPr/>
        </p:nvSpPr>
        <p:spPr>
          <a:xfrm>
            <a:off x="6684264" y="4114800"/>
            <a:ext cx="1920240" cy="640080"/>
          </a:xfrm>
          <a:prstGeom prst="rect">
            <a:avLst/>
          </a:prstGeom>
          <a:noFill/>
          <a:ln/>
        </p:spPr>
        <p:txBody>
          <a:bodyPr wrap="square" lIns="0" tIns="0" rIns="0" bIns="0" rtlCol="0" anchor="ctr"/>
          <a:lstStyle/>
          <a:p>
            <a:pPr marL="0" indent="0" algn="ctr">
              <a:buNone/>
            </a:pPr>
            <a:r>
              <a:rPr lang="en-US" sz="1200" b="1" dirty="0">
                <a:solidFill>
                  <a:srgbClr val="FFFFFF"/>
                </a:solidFill>
              </a:rPr>
              <a:t>Scatter Plot</a:t>
            </a:r>
            <a:endParaRPr lang="en-US" sz="1200" dirty="0"/>
          </a:p>
        </p:txBody>
      </p:sp>
      <p:sp>
        <p:nvSpPr>
          <p:cNvPr id="15" name="Text 13"/>
          <p:cNvSpPr/>
          <p:nvPr/>
        </p:nvSpPr>
        <p:spPr>
          <a:xfrm>
            <a:off x="457200" y="4754880"/>
            <a:ext cx="8229600" cy="274320"/>
          </a:xfrm>
          <a:prstGeom prst="rect">
            <a:avLst/>
          </a:prstGeom>
          <a:noFill/>
          <a:ln/>
        </p:spPr>
        <p:txBody>
          <a:bodyPr wrap="square" lIns="0" tIns="0" rIns="0" bIns="0" rtlCol="0" anchor="ctr"/>
          <a:lstStyle/>
          <a:p>
            <a:pPr marL="0" indent="0">
              <a:buNone/>
            </a:pPr>
            <a:r>
              <a:rPr lang="en-US" sz="1000" dirty="0">
                <a:solidFill>
                  <a:srgbClr val="475569"/>
                </a:solidFill>
              </a:rPr>
              <a:t>Group of 6  •  Python Data Visualization Series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w="12700">
            <a:solidFill>
              <a:srgbClr val="1D4ED8"/>
            </a:solidFill>
            <a:prstDash val="solid"/>
          </a:ln>
        </p:spPr>
      </p:sp>
      <p:sp>
        <p:nvSpPr>
          <p:cNvPr id="3" name="Text 1"/>
          <p:cNvSpPr/>
          <p:nvPr/>
        </p:nvSpPr>
        <p:spPr>
          <a:xfrm>
            <a:off x="365760" y="201168"/>
            <a:ext cx="8595360" cy="50292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Line Chart</a:t>
            </a:r>
            <a:endParaRPr lang="en-US" sz="2600" dirty="0"/>
          </a:p>
        </p:txBody>
      </p:sp>
      <p:sp>
        <p:nvSpPr>
          <p:cNvPr id="4" name="Text 2"/>
          <p:cNvSpPr/>
          <p:nvPr/>
        </p:nvSpPr>
        <p:spPr>
          <a:xfrm>
            <a:off x="365760" y="713232"/>
            <a:ext cx="859536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Slide 1 of 2  •  Definition &amp; Overview</a:t>
            </a:r>
            <a:endParaRPr lang="en-US" sz="1200" dirty="0"/>
          </a:p>
        </p:txBody>
      </p:sp>
      <p:sp>
        <p:nvSpPr>
          <p:cNvPr id="5" name="Shape 3"/>
          <p:cNvSpPr/>
          <p:nvPr/>
        </p:nvSpPr>
        <p:spPr>
          <a:xfrm>
            <a:off x="365760" y="1005840"/>
            <a:ext cx="8412480" cy="0"/>
          </a:xfrm>
          <a:prstGeom prst="line">
            <a:avLst/>
          </a:prstGeom>
          <a:noFill/>
          <a:ln w="12700">
            <a:solidFill>
              <a:srgbClr val="E2E8F0"/>
            </a:solidFill>
            <a:prstDash val="solid"/>
          </a:ln>
        </p:spPr>
      </p:sp>
      <p:sp>
        <p:nvSpPr>
          <p:cNvPr id="6" name="Shape 4"/>
          <p:cNvSpPr/>
          <p:nvPr/>
        </p:nvSpPr>
        <p:spPr>
          <a:xfrm>
            <a:off x="365760" y="1143000"/>
            <a:ext cx="5303520" cy="14173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7" name="Text 5"/>
          <p:cNvSpPr/>
          <p:nvPr/>
        </p:nvSpPr>
        <p:spPr>
          <a:xfrm>
            <a:off x="502920" y="1188720"/>
            <a:ext cx="5029200" cy="320040"/>
          </a:xfrm>
          <a:prstGeom prst="rect">
            <a:avLst/>
          </a:prstGeom>
          <a:noFill/>
          <a:ln/>
        </p:spPr>
        <p:txBody>
          <a:bodyPr wrap="square" lIns="0" tIns="0" rIns="0" bIns="0" rtlCol="0" anchor="ctr"/>
          <a:lstStyle/>
          <a:p>
            <a:pPr marL="0" indent="0">
              <a:buNone/>
            </a:pPr>
            <a:r>
              <a:rPr lang="en-US" sz="1300" b="1" dirty="0">
                <a:solidFill>
                  <a:srgbClr val="1D4ED8"/>
                </a:solidFill>
              </a:rPr>
              <a:t>What is a Line Chart?</a:t>
            </a:r>
            <a:endParaRPr lang="en-US" sz="1300" dirty="0"/>
          </a:p>
        </p:txBody>
      </p:sp>
      <p:sp>
        <p:nvSpPr>
          <p:cNvPr id="8" name="Text 6"/>
          <p:cNvSpPr/>
          <p:nvPr/>
        </p:nvSpPr>
        <p:spPr>
          <a:xfrm>
            <a:off x="502920" y="1508760"/>
            <a:ext cx="5029200" cy="914400"/>
          </a:xfrm>
          <a:prstGeom prst="rect">
            <a:avLst/>
          </a:prstGeom>
          <a:noFill/>
          <a:ln/>
        </p:spPr>
        <p:txBody>
          <a:bodyPr wrap="square" lIns="0" tIns="0" rIns="0" bIns="0" rtlCol="0" anchor="ctr"/>
          <a:lstStyle/>
          <a:p>
            <a:pPr marL="0" indent="0">
              <a:buNone/>
            </a:pPr>
            <a:r>
              <a:rPr lang="en-US" sz="1150" dirty="0">
                <a:solidFill>
                  <a:srgbClr val="475569"/>
                </a:solidFill>
              </a:rPr>
              <a:t>A line chart displays data points connected by straight lines. It is best used to show trends over time or continuous data, making it easy to visualize how a variable changes across an ordered sequence.</a:t>
            </a:r>
            <a:endParaRPr lang="en-US" sz="1150" dirty="0"/>
          </a:p>
        </p:txBody>
      </p:sp>
      <p:sp>
        <p:nvSpPr>
          <p:cNvPr id="9" name="Shape 7"/>
          <p:cNvSpPr/>
          <p:nvPr/>
        </p:nvSpPr>
        <p:spPr>
          <a:xfrm>
            <a:off x="365760" y="2697480"/>
            <a:ext cx="5303520" cy="15087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0" name="Text 8"/>
          <p:cNvSpPr/>
          <p:nvPr/>
        </p:nvSpPr>
        <p:spPr>
          <a:xfrm>
            <a:off x="502920" y="2743200"/>
            <a:ext cx="5029200" cy="292608"/>
          </a:xfrm>
          <a:prstGeom prst="rect">
            <a:avLst/>
          </a:prstGeom>
          <a:noFill/>
          <a:ln/>
        </p:spPr>
        <p:txBody>
          <a:bodyPr wrap="square" lIns="0" tIns="0" rIns="0" bIns="0" rtlCol="0" anchor="ctr"/>
          <a:lstStyle/>
          <a:p>
            <a:pPr marL="0" indent="0">
              <a:buNone/>
            </a:pPr>
            <a:r>
              <a:rPr lang="en-US" sz="1300" b="1" dirty="0">
                <a:solidFill>
                  <a:srgbClr val="1D4ED8"/>
                </a:solidFill>
              </a:rPr>
              <a:t>Key Characteristics</a:t>
            </a:r>
            <a:endParaRPr lang="en-US" sz="1300" dirty="0"/>
          </a:p>
        </p:txBody>
      </p:sp>
      <p:sp>
        <p:nvSpPr>
          <p:cNvPr id="11" name="Text 9"/>
          <p:cNvSpPr/>
          <p:nvPr/>
        </p:nvSpPr>
        <p:spPr>
          <a:xfrm>
            <a:off x="502920" y="3063240"/>
            <a:ext cx="5029200" cy="1097280"/>
          </a:xfrm>
          <a:prstGeom prst="rect">
            <a:avLst/>
          </a:prstGeom>
          <a:noFill/>
          <a:ln/>
        </p:spPr>
        <p:txBody>
          <a:bodyPr wrap="square" lIns="0" tIns="0" rIns="0" bIns="0" rtlCol="0" anchor="ctr"/>
          <a:lstStyle/>
          <a:p>
            <a:pPr marL="0" indent="0">
              <a:buNone/>
            </a:pPr>
            <a:r>
              <a:rPr lang="en-US" sz="1100" b="1" dirty="0">
                <a:solidFill>
                  <a:srgbClr val="1E293B"/>
                </a:solidFill>
              </a:rPr>
              <a:t>✔  Best for: </a:t>
            </a:r>
            <a:r>
              <a:rPr lang="en-US" sz="1100" dirty="0">
                <a:solidFill>
                  <a:srgbClr val="475569"/>
                </a:solidFill>
              </a:rPr>
              <a:t>Time-series and trend data
</a:t>
            </a:r>
            <a:r>
              <a:rPr lang="en-US" sz="1100" b="1" dirty="0">
                <a:solidFill>
                  <a:srgbClr val="1E293B"/>
                </a:solidFill>
              </a:rPr>
              <a:t>✔  X-Axis: </a:t>
            </a:r>
            <a:r>
              <a:rPr lang="en-US" sz="1100" dirty="0">
                <a:solidFill>
                  <a:srgbClr val="475569"/>
                </a:solidFill>
              </a:rPr>
              <a:t>Ordered categories (dates, time)
</a:t>
            </a:r>
            <a:r>
              <a:rPr lang="en-US" sz="1100" b="1" dirty="0">
                <a:solidFill>
                  <a:srgbClr val="1E293B"/>
                </a:solidFill>
              </a:rPr>
              <a:t>✔  Y-Axis: </a:t>
            </a:r>
            <a:r>
              <a:rPr lang="en-US" sz="1100" dirty="0">
                <a:solidFill>
                  <a:srgbClr val="475569"/>
                </a:solidFill>
              </a:rPr>
              <a:t>Numerical / continuous values
</a:t>
            </a:r>
            <a:r>
              <a:rPr lang="en-US" sz="1100" b="1" dirty="0">
                <a:solidFill>
                  <a:srgbClr val="1E293B"/>
                </a:solidFill>
              </a:rPr>
              <a:t>✔  Variants: </a:t>
            </a:r>
            <a:r>
              <a:rPr lang="en-US" sz="1100" dirty="0">
                <a:solidFill>
                  <a:srgbClr val="475569"/>
                </a:solidFill>
              </a:rPr>
              <a:t>Single line, multi-line, area chart</a:t>
            </a:r>
            <a:endParaRPr lang="en-US" sz="1100" dirty="0"/>
          </a:p>
        </p:txBody>
      </p:sp>
      <p:graphicFrame>
        <p:nvGraphicFramePr>
          <p:cNvPr id="12" name="Chart 0"/>
          <p:cNvGraphicFramePr/>
          <p:nvPr/>
        </p:nvGraphicFramePr>
        <p:xfrm>
          <a:off x="5897880" y="1143000"/>
          <a:ext cx="301752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p:nvPr/>
        </p:nvSpPr>
        <p:spPr>
          <a:xfrm>
            <a:off x="5897880" y="4251960"/>
            <a:ext cx="3017520" cy="228600"/>
          </a:xfrm>
          <a:prstGeom prst="rect">
            <a:avLst/>
          </a:prstGeom>
          <a:noFill/>
          <a:ln/>
        </p:spPr>
        <p:txBody>
          <a:bodyPr wrap="square" lIns="0" tIns="0" rIns="0" bIns="0" rtlCol="0" anchor="ctr"/>
          <a:lstStyle/>
          <a:p>
            <a:pPr marL="0" indent="0" algn="ctr">
              <a:buNone/>
            </a:pPr>
            <a:r>
              <a:rPr lang="en-US" sz="850" i="1" dirty="0">
                <a:solidFill>
                  <a:srgbClr val="64748B"/>
                </a:solidFill>
              </a:rPr>
              <a:t>Example: Monthly temperature across a year</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w="12700">
            <a:solidFill>
              <a:srgbClr val="1D4ED8"/>
            </a:solidFill>
            <a:prstDash val="solid"/>
          </a:ln>
        </p:spPr>
      </p:sp>
      <p:sp>
        <p:nvSpPr>
          <p:cNvPr id="3" name="Text 1"/>
          <p:cNvSpPr/>
          <p:nvPr/>
        </p:nvSpPr>
        <p:spPr>
          <a:xfrm>
            <a:off x="365760" y="201168"/>
            <a:ext cx="8595360" cy="50292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Line Chart</a:t>
            </a:r>
            <a:endParaRPr lang="en-US" sz="2600" dirty="0"/>
          </a:p>
        </p:txBody>
      </p:sp>
      <p:sp>
        <p:nvSpPr>
          <p:cNvPr id="4" name="Text 2"/>
          <p:cNvSpPr/>
          <p:nvPr/>
        </p:nvSpPr>
        <p:spPr>
          <a:xfrm>
            <a:off x="365760" y="713232"/>
            <a:ext cx="859536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Slide 2 of 2  •  Code &amp; Explanation</a:t>
            </a:r>
            <a:endParaRPr lang="en-US" sz="1200" dirty="0"/>
          </a:p>
        </p:txBody>
      </p:sp>
      <p:sp>
        <p:nvSpPr>
          <p:cNvPr id="5" name="Shape 3"/>
          <p:cNvSpPr/>
          <p:nvPr/>
        </p:nvSpPr>
        <p:spPr>
          <a:xfrm>
            <a:off x="365760" y="1005840"/>
            <a:ext cx="8412480" cy="0"/>
          </a:xfrm>
          <a:prstGeom prst="line">
            <a:avLst/>
          </a:prstGeom>
          <a:noFill/>
          <a:ln w="12700">
            <a:solidFill>
              <a:srgbClr val="E2E8F0"/>
            </a:solidFill>
            <a:prstDash val="solid"/>
          </a:ln>
        </p:spPr>
      </p:sp>
      <p:sp>
        <p:nvSpPr>
          <p:cNvPr id="6" name="Shape 4"/>
          <p:cNvSpPr/>
          <p:nvPr/>
        </p:nvSpPr>
        <p:spPr>
          <a:xfrm>
            <a:off x="365760" y="1143000"/>
            <a:ext cx="4937760" cy="3474720"/>
          </a:xfrm>
          <a:prstGeom prst="rect">
            <a:avLst/>
          </a:prstGeom>
          <a:solidFill>
            <a:srgbClr val="0F172A"/>
          </a:solidFill>
          <a:ln w="12700">
            <a:solidFill>
              <a:srgbClr val="334155"/>
            </a:solidFill>
            <a:prstDash val="solid"/>
          </a:ln>
          <a:effectLst>
            <a:outerShdw blurRad="101600" dist="38100" dir="8100000" algn="bl" rotWithShape="0">
              <a:srgbClr val="000000">
                <a:alpha val="10000"/>
              </a:srgbClr>
            </a:outerShdw>
          </a:effectLst>
        </p:spPr>
      </p:sp>
      <p:sp>
        <p:nvSpPr>
          <p:cNvPr id="7" name="Text 5"/>
          <p:cNvSpPr/>
          <p:nvPr/>
        </p:nvSpPr>
        <p:spPr>
          <a:xfrm>
            <a:off x="475488" y="1216152"/>
            <a:ext cx="4718304" cy="3328416"/>
          </a:xfrm>
          <a:prstGeom prst="rect">
            <a:avLst/>
          </a:prstGeom>
          <a:noFill/>
          <a:ln/>
        </p:spPr>
        <p:txBody>
          <a:bodyPr wrap="square" lIns="0" tIns="0" rIns="0" bIns="0" rtlCol="0" anchor="t"/>
          <a:lstStyle/>
          <a:p>
            <a:pPr marL="0" indent="0">
              <a:buNone/>
            </a:pPr>
            <a:r>
              <a:rPr lang="en-US" sz="900" dirty="0">
                <a:solidFill>
                  <a:srgbClr val="C084FC"/>
                </a:solidFill>
                <a:latin typeface="Consolas" pitchFamily="34" charset="0"/>
                <a:ea typeface="Consolas" pitchFamily="34" charset="-122"/>
                <a:cs typeface="Consolas" pitchFamily="34" charset="-120"/>
              </a:rPr>
              <a:t>import</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matplotlib.pyplot</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C084FC"/>
                </a:solidFill>
                <a:latin typeface="Consolas" pitchFamily="34" charset="0"/>
                <a:ea typeface="Consolas" pitchFamily="34" charset="-122"/>
                <a:cs typeface="Consolas" pitchFamily="34" charset="-120"/>
              </a:rPr>
              <a:t>as</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38BDF8"/>
                </a:solidFill>
                <a:latin typeface="Consolas" pitchFamily="34" charset="0"/>
                <a:ea typeface="Consolas" pitchFamily="34" charset="-122"/>
                <a:cs typeface="Consolas" pitchFamily="34" charset="-120"/>
              </a:rPr>
              <a:t>plt</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months = ["Jan","Feb","Mar","Apr","May","Jun",</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86EFAC"/>
                </a:solidFill>
                <a:latin typeface="Consolas" pitchFamily="34" charset="0"/>
                <a:ea typeface="Consolas" pitchFamily="34" charset="-122"/>
                <a:cs typeface="Consolas" pitchFamily="34" charset="-120"/>
              </a:rPr>
              <a:t>"Jul","Aug","Sep","Oct","Nov","Dec"]</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temp   = [8,10,14,18,23,28,31,30,25,19,13,9]</a:t>
            </a:r>
            <a:r>
              <a:rPr lang="en-US" sz="900" dirty="0">
                <a:solidFill>
                  <a:srgbClr val="000000"/>
                </a:solidFill>
                <a:latin typeface="Consolas" pitchFamily="34" charset="0"/>
                <a:ea typeface="Consolas" pitchFamily="34" charset="-122"/>
                <a:cs typeface="Consolas" pitchFamily="34" charset="-120"/>
              </a:rPr>
              <a:t>
</a:t>
            </a:r>
            <a:r>
              <a:rPr lang="en-US" sz="900" dirty="0" err="1">
                <a:solidFill>
                  <a:srgbClr val="FDE68A"/>
                </a:solidFill>
                <a:latin typeface="Consolas" pitchFamily="34" charset="0"/>
                <a:ea typeface="Consolas" pitchFamily="34" charset="-122"/>
                <a:cs typeface="Consolas" pitchFamily="34" charset="-120"/>
              </a:rPr>
              <a:t>plt.plot</a:t>
            </a:r>
            <a:r>
              <a:rPr lang="en-US" sz="900" dirty="0">
                <a:solidFill>
                  <a:srgbClr val="FDE68A"/>
                </a:solidFill>
                <a:latin typeface="Consolas" pitchFamily="34" charset="0"/>
                <a:ea typeface="Consolas" pitchFamily="34" charset="-122"/>
                <a:cs typeface="Consolas" pitchFamily="34" charset="-120"/>
              </a:rPr>
              <a:t>(months,</a:t>
            </a:r>
            <a:r>
              <a:rPr lang="en-US" sz="900" dirty="0">
                <a:solidFill>
                  <a:srgbClr val="E2E8F0"/>
                </a:solidFill>
                <a:latin typeface="Consolas" pitchFamily="34" charset="0"/>
                <a:ea typeface="Consolas" pitchFamily="34" charset="-122"/>
                <a:cs typeface="Consolas" pitchFamily="34" charset="-120"/>
              </a:rPr>
              <a:t> temp, color="</a:t>
            </a:r>
            <a:r>
              <a:rPr lang="en-US" sz="900" dirty="0" err="1">
                <a:solidFill>
                  <a:srgbClr val="E2E8F0"/>
                </a:solidFill>
                <a:latin typeface="Consolas" pitchFamily="34" charset="0"/>
                <a:ea typeface="Consolas" pitchFamily="34" charset="-122"/>
                <a:cs typeface="Consolas" pitchFamily="34" charset="-120"/>
              </a:rPr>
              <a:t>steelblue</a:t>
            </a:r>
            <a:r>
              <a:rPr lang="en-US" sz="900" dirty="0">
                <a:solidFill>
                  <a:srgbClr val="E2E8F0"/>
                </a:solidFill>
                <a:latin typeface="Consolas" pitchFamily="34" charset="0"/>
                <a:ea typeface="Consolas" pitchFamily="34" charset="-122"/>
                <a:cs typeface="Consolas" pitchFamily="34" charset="-120"/>
              </a:rPr>
              <a:t>", marker="o“)</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plt.title("Monthly</a:t>
            </a:r>
            <a:r>
              <a:rPr lang="en-US" sz="900" dirty="0">
                <a:solidFill>
                  <a:srgbClr val="E2E8F0"/>
                </a:solidFill>
                <a:latin typeface="Consolas" pitchFamily="34" charset="0"/>
                <a:ea typeface="Consolas" pitchFamily="34" charset="-122"/>
                <a:cs typeface="Consolas" pitchFamily="34" charset="-120"/>
              </a:rPr>
              <a:t> Temperature")</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plt.xlabel("Month")</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plt.ylabel("Temperature</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(°C)")</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plt.show()</a:t>
            </a:r>
            <a:endParaRPr lang="en-US" sz="900" dirty="0"/>
          </a:p>
        </p:txBody>
      </p:sp>
      <p:sp>
        <p:nvSpPr>
          <p:cNvPr id="8" name="Shape 6"/>
          <p:cNvSpPr/>
          <p:nvPr/>
        </p:nvSpPr>
        <p:spPr>
          <a:xfrm>
            <a:off x="5440680" y="1143000"/>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9" name="Shape 7"/>
          <p:cNvSpPr/>
          <p:nvPr/>
        </p:nvSpPr>
        <p:spPr>
          <a:xfrm>
            <a:off x="5440680" y="1143000"/>
            <a:ext cx="384048" cy="777240"/>
          </a:xfrm>
          <a:prstGeom prst="rect">
            <a:avLst/>
          </a:prstGeom>
          <a:solidFill>
            <a:srgbClr val="1D4ED8"/>
          </a:solidFill>
          <a:ln w="12700">
            <a:solidFill>
              <a:srgbClr val="1D4ED8"/>
            </a:solidFill>
            <a:prstDash val="solid"/>
          </a:ln>
        </p:spPr>
      </p:sp>
      <p:sp>
        <p:nvSpPr>
          <p:cNvPr id="10" name="Text 8"/>
          <p:cNvSpPr/>
          <p:nvPr/>
        </p:nvSpPr>
        <p:spPr>
          <a:xfrm>
            <a:off x="5440680" y="134416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1" name="Text 9"/>
          <p:cNvSpPr/>
          <p:nvPr/>
        </p:nvSpPr>
        <p:spPr>
          <a:xfrm>
            <a:off x="5897880" y="1216152"/>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Import Library</a:t>
            </a:r>
            <a:endParaRPr lang="en-US" sz="1100" dirty="0"/>
          </a:p>
        </p:txBody>
      </p:sp>
      <p:sp>
        <p:nvSpPr>
          <p:cNvPr id="12" name="Text 10"/>
          <p:cNvSpPr/>
          <p:nvPr/>
        </p:nvSpPr>
        <p:spPr>
          <a:xfrm>
            <a:off x="5897880" y="1490472"/>
            <a:ext cx="2834640" cy="347472"/>
          </a:xfrm>
          <a:prstGeom prst="rect">
            <a:avLst/>
          </a:prstGeom>
          <a:noFill/>
          <a:ln/>
        </p:spPr>
        <p:txBody>
          <a:bodyPr wrap="square" lIns="0" tIns="0" rIns="0" bIns="0" rtlCol="0" anchor="ctr"/>
          <a:lstStyle/>
          <a:p>
            <a:pPr marL="0" indent="0">
              <a:buNone/>
            </a:pPr>
            <a:r>
              <a:rPr lang="en-US" sz="950" dirty="0">
                <a:solidFill>
                  <a:srgbClr val="475569"/>
                </a:solidFill>
              </a:rPr>
              <a:t>matplotlib.pyplot is the main module — aliased as plt for convenience.</a:t>
            </a:r>
            <a:endParaRPr lang="en-US" sz="950" dirty="0"/>
          </a:p>
        </p:txBody>
      </p:sp>
      <p:sp>
        <p:nvSpPr>
          <p:cNvPr id="13" name="Shape 11"/>
          <p:cNvSpPr/>
          <p:nvPr/>
        </p:nvSpPr>
        <p:spPr>
          <a:xfrm>
            <a:off x="5440680" y="1993392"/>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4" name="Shape 12"/>
          <p:cNvSpPr/>
          <p:nvPr/>
        </p:nvSpPr>
        <p:spPr>
          <a:xfrm>
            <a:off x="5440680" y="1993392"/>
            <a:ext cx="384048" cy="777240"/>
          </a:xfrm>
          <a:prstGeom prst="rect">
            <a:avLst/>
          </a:prstGeom>
          <a:solidFill>
            <a:srgbClr val="1D4ED8"/>
          </a:solidFill>
          <a:ln w="12700">
            <a:solidFill>
              <a:srgbClr val="1D4ED8"/>
            </a:solidFill>
            <a:prstDash val="solid"/>
          </a:ln>
        </p:spPr>
      </p:sp>
      <p:sp>
        <p:nvSpPr>
          <p:cNvPr id="15" name="Text 13"/>
          <p:cNvSpPr/>
          <p:nvPr/>
        </p:nvSpPr>
        <p:spPr>
          <a:xfrm>
            <a:off x="5440680" y="219456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6" name="Text 14"/>
          <p:cNvSpPr/>
          <p:nvPr/>
        </p:nvSpPr>
        <p:spPr>
          <a:xfrm>
            <a:off x="5897880" y="2066544"/>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Prepare Data</a:t>
            </a:r>
            <a:endParaRPr lang="en-US" sz="1100" dirty="0"/>
          </a:p>
        </p:txBody>
      </p:sp>
      <p:sp>
        <p:nvSpPr>
          <p:cNvPr id="17" name="Text 15"/>
          <p:cNvSpPr/>
          <p:nvPr/>
        </p:nvSpPr>
        <p:spPr>
          <a:xfrm>
            <a:off x="5897880" y="2340864"/>
            <a:ext cx="2834640" cy="347472"/>
          </a:xfrm>
          <a:prstGeom prst="rect">
            <a:avLst/>
          </a:prstGeom>
          <a:noFill/>
          <a:ln/>
        </p:spPr>
        <p:txBody>
          <a:bodyPr wrap="square" lIns="0" tIns="0" rIns="0" bIns="0" rtlCol="0" anchor="ctr"/>
          <a:lstStyle/>
          <a:p>
            <a:pPr marL="0" indent="0">
              <a:buNone/>
            </a:pPr>
            <a:r>
              <a:rPr lang="en-US" sz="950" dirty="0">
                <a:solidFill>
                  <a:srgbClr val="475569"/>
                </a:solidFill>
              </a:rPr>
              <a:t>months (X-axis) and temp (Y-axis) are plain Python lists.</a:t>
            </a:r>
            <a:endParaRPr lang="en-US" sz="950" dirty="0"/>
          </a:p>
        </p:txBody>
      </p:sp>
      <p:sp>
        <p:nvSpPr>
          <p:cNvPr id="18" name="Shape 16"/>
          <p:cNvSpPr/>
          <p:nvPr/>
        </p:nvSpPr>
        <p:spPr>
          <a:xfrm>
            <a:off x="5440680" y="2843784"/>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9" name="Shape 17"/>
          <p:cNvSpPr/>
          <p:nvPr/>
        </p:nvSpPr>
        <p:spPr>
          <a:xfrm>
            <a:off x="5440680" y="2843784"/>
            <a:ext cx="384048" cy="777240"/>
          </a:xfrm>
          <a:prstGeom prst="rect">
            <a:avLst/>
          </a:prstGeom>
          <a:solidFill>
            <a:srgbClr val="1D4ED8"/>
          </a:solidFill>
          <a:ln w="12700">
            <a:solidFill>
              <a:srgbClr val="1D4ED8"/>
            </a:solidFill>
            <a:prstDash val="solid"/>
          </a:ln>
        </p:spPr>
      </p:sp>
      <p:sp>
        <p:nvSpPr>
          <p:cNvPr id="20" name="Text 18"/>
          <p:cNvSpPr/>
          <p:nvPr/>
        </p:nvSpPr>
        <p:spPr>
          <a:xfrm>
            <a:off x="5440680" y="304495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1" name="Text 19"/>
          <p:cNvSpPr/>
          <p:nvPr/>
        </p:nvSpPr>
        <p:spPr>
          <a:xfrm>
            <a:off x="5897880" y="2916936"/>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plt.plot()</a:t>
            </a:r>
            <a:endParaRPr lang="en-US" sz="1100" dirty="0"/>
          </a:p>
        </p:txBody>
      </p:sp>
      <p:sp>
        <p:nvSpPr>
          <p:cNvPr id="22" name="Text 20"/>
          <p:cNvSpPr/>
          <p:nvPr/>
        </p:nvSpPr>
        <p:spPr>
          <a:xfrm>
            <a:off x="5897880" y="3191256"/>
            <a:ext cx="2834640" cy="347472"/>
          </a:xfrm>
          <a:prstGeom prst="rect">
            <a:avLst/>
          </a:prstGeom>
          <a:noFill/>
          <a:ln/>
        </p:spPr>
        <p:txBody>
          <a:bodyPr wrap="square" lIns="0" tIns="0" rIns="0" bIns="0" rtlCol="0" anchor="ctr"/>
          <a:lstStyle/>
          <a:p>
            <a:pPr marL="0" indent="0">
              <a:buNone/>
            </a:pPr>
            <a:r>
              <a:rPr lang="en-US" sz="950" dirty="0">
                <a:solidFill>
                  <a:srgbClr val="475569"/>
                </a:solidFill>
              </a:rPr>
              <a:t>Draws the line. marker='o' adds circle markers at each data point.</a:t>
            </a:r>
            <a:endParaRPr lang="en-US" sz="950" dirty="0"/>
          </a:p>
        </p:txBody>
      </p:sp>
      <p:sp>
        <p:nvSpPr>
          <p:cNvPr id="25" name="Text 23"/>
          <p:cNvSpPr/>
          <p:nvPr/>
        </p:nvSpPr>
        <p:spPr>
          <a:xfrm>
            <a:off x="5440680" y="389534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26" name="Text 24"/>
          <p:cNvSpPr/>
          <p:nvPr/>
        </p:nvSpPr>
        <p:spPr>
          <a:xfrm>
            <a:off x="5897880" y="3767328"/>
            <a:ext cx="2834640" cy="256032"/>
          </a:xfrm>
          <a:prstGeom prst="rect">
            <a:avLst/>
          </a:prstGeom>
          <a:noFill/>
          <a:ln/>
        </p:spPr>
        <p:txBody>
          <a:bodyPr wrap="square" lIns="0" tIns="0" rIns="0" bIns="0" rtlCol="0" anchor="ctr"/>
          <a:lstStyle/>
          <a:p>
            <a:pPr marL="0" indent="0">
              <a:buNone/>
            </a:pPr>
            <a:endParaRPr lang="en-US" sz="1100" dirty="0"/>
          </a:p>
        </p:txBody>
      </p:sp>
      <p:sp>
        <p:nvSpPr>
          <p:cNvPr id="27" name="Text 25"/>
          <p:cNvSpPr/>
          <p:nvPr/>
        </p:nvSpPr>
        <p:spPr>
          <a:xfrm>
            <a:off x="5897880" y="4041648"/>
            <a:ext cx="2834640" cy="347472"/>
          </a:xfrm>
          <a:prstGeom prst="rect">
            <a:avLst/>
          </a:prstGeom>
          <a:noFill/>
          <a:ln/>
        </p:spPr>
        <p:txBody>
          <a:bodyPr wrap="square" lIns="0" tIns="0" rIns="0" bIns="0" rtlCol="0" anchor="ctr"/>
          <a:lstStyle/>
          <a:p>
            <a:pPr marL="0" indent="0">
              <a:buNone/>
            </a:pPr>
            <a:endParaRPr lang="en-US" sz="950" dirty="0"/>
          </a:p>
        </p:txBody>
      </p:sp>
      <p:sp>
        <p:nvSpPr>
          <p:cNvPr id="28" name="Text 26"/>
          <p:cNvSpPr/>
          <p:nvPr/>
        </p:nvSpPr>
        <p:spPr>
          <a:xfrm>
            <a:off x="365760" y="4754880"/>
            <a:ext cx="8412480" cy="228600"/>
          </a:xfrm>
          <a:prstGeom prst="rect">
            <a:avLst/>
          </a:prstGeom>
          <a:noFill/>
          <a:ln/>
        </p:spPr>
        <p:txBody>
          <a:bodyPr wrap="square" lIns="0" tIns="0" rIns="0" bIns="0" rtlCol="0" anchor="ctr"/>
          <a:lstStyle/>
          <a:p>
            <a:pPr marL="0" indent="0" algn="ctr">
              <a:buNone/>
            </a:pPr>
            <a:r>
              <a:rPr lang="en-US" sz="900" i="1" dirty="0">
                <a:solidFill>
                  <a:srgbClr val="64748B"/>
                </a:solidFill>
              </a:rPr>
              <a:t>plt.tight_layout() prevents label clipping  •  plt.show() renders the chart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365760" y="201168"/>
            <a:ext cx="8595360" cy="50292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Bar Chart</a:t>
            </a:r>
            <a:endParaRPr lang="en-US" sz="2600" dirty="0"/>
          </a:p>
        </p:txBody>
      </p:sp>
      <p:sp>
        <p:nvSpPr>
          <p:cNvPr id="4" name="Text 2"/>
          <p:cNvSpPr/>
          <p:nvPr/>
        </p:nvSpPr>
        <p:spPr>
          <a:xfrm>
            <a:off x="365760" y="713232"/>
            <a:ext cx="859536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Slide 1 of 2  •  Definition &amp; Overview</a:t>
            </a:r>
            <a:endParaRPr lang="en-US" sz="1200" dirty="0"/>
          </a:p>
        </p:txBody>
      </p:sp>
      <p:sp>
        <p:nvSpPr>
          <p:cNvPr id="5" name="Shape 3"/>
          <p:cNvSpPr/>
          <p:nvPr/>
        </p:nvSpPr>
        <p:spPr>
          <a:xfrm>
            <a:off x="365760" y="1005840"/>
            <a:ext cx="8412480" cy="0"/>
          </a:xfrm>
          <a:prstGeom prst="line">
            <a:avLst/>
          </a:prstGeom>
          <a:noFill/>
          <a:ln w="12700">
            <a:solidFill>
              <a:srgbClr val="E2E8F0"/>
            </a:solidFill>
            <a:prstDash val="solid"/>
          </a:ln>
        </p:spPr>
      </p:sp>
      <p:sp>
        <p:nvSpPr>
          <p:cNvPr id="6" name="Shape 4"/>
          <p:cNvSpPr/>
          <p:nvPr/>
        </p:nvSpPr>
        <p:spPr>
          <a:xfrm>
            <a:off x="365760" y="1143000"/>
            <a:ext cx="5303520" cy="14173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7" name="Text 5"/>
          <p:cNvSpPr/>
          <p:nvPr/>
        </p:nvSpPr>
        <p:spPr>
          <a:xfrm>
            <a:off x="502920" y="1188720"/>
            <a:ext cx="5029200" cy="320040"/>
          </a:xfrm>
          <a:prstGeom prst="rect">
            <a:avLst/>
          </a:prstGeom>
          <a:noFill/>
          <a:ln/>
        </p:spPr>
        <p:txBody>
          <a:bodyPr wrap="square" lIns="0" tIns="0" rIns="0" bIns="0" rtlCol="0" anchor="ctr"/>
          <a:lstStyle/>
          <a:p>
            <a:pPr marL="0" indent="0">
              <a:buNone/>
            </a:pPr>
            <a:r>
              <a:rPr lang="en-US" sz="1300" b="1" dirty="0">
                <a:solidFill>
                  <a:srgbClr val="0D9488"/>
                </a:solidFill>
              </a:rPr>
              <a:t>What is a Bar Chart?</a:t>
            </a:r>
            <a:endParaRPr lang="en-US" sz="1300" dirty="0"/>
          </a:p>
        </p:txBody>
      </p:sp>
      <p:sp>
        <p:nvSpPr>
          <p:cNvPr id="8" name="Text 6"/>
          <p:cNvSpPr/>
          <p:nvPr/>
        </p:nvSpPr>
        <p:spPr>
          <a:xfrm>
            <a:off x="502920" y="1508760"/>
            <a:ext cx="5029200" cy="914400"/>
          </a:xfrm>
          <a:prstGeom prst="rect">
            <a:avLst/>
          </a:prstGeom>
          <a:noFill/>
          <a:ln/>
        </p:spPr>
        <p:txBody>
          <a:bodyPr wrap="square" lIns="0" tIns="0" rIns="0" bIns="0" rtlCol="0" anchor="ctr"/>
          <a:lstStyle/>
          <a:p>
            <a:pPr marL="0" indent="0">
              <a:buNone/>
            </a:pPr>
            <a:r>
              <a:rPr lang="en-US" sz="1150" dirty="0"/>
              <a:t>A bar chart is a graph that uses rectangular bars of equal width to represent data values, where the height or length of each bar is proportional to the value it represents.</a:t>
            </a:r>
          </a:p>
        </p:txBody>
      </p:sp>
      <p:sp>
        <p:nvSpPr>
          <p:cNvPr id="9" name="Shape 7"/>
          <p:cNvSpPr/>
          <p:nvPr/>
        </p:nvSpPr>
        <p:spPr>
          <a:xfrm>
            <a:off x="298026" y="3063240"/>
            <a:ext cx="5303520" cy="15087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0" name="Text 8"/>
          <p:cNvSpPr/>
          <p:nvPr/>
        </p:nvSpPr>
        <p:spPr>
          <a:xfrm>
            <a:off x="502920" y="2743200"/>
            <a:ext cx="5029200" cy="292608"/>
          </a:xfrm>
          <a:prstGeom prst="rect">
            <a:avLst/>
          </a:prstGeom>
          <a:noFill/>
          <a:ln/>
        </p:spPr>
        <p:txBody>
          <a:bodyPr wrap="square" lIns="0" tIns="0" rIns="0" bIns="0" rtlCol="0" anchor="ctr"/>
          <a:lstStyle/>
          <a:p>
            <a:pPr marL="0" indent="0">
              <a:buNone/>
            </a:pPr>
            <a:endParaRPr lang="en-US" sz="1300" dirty="0"/>
          </a:p>
        </p:txBody>
      </p:sp>
      <p:sp>
        <p:nvSpPr>
          <p:cNvPr id="11" name="Text 9"/>
          <p:cNvSpPr/>
          <p:nvPr/>
        </p:nvSpPr>
        <p:spPr>
          <a:xfrm>
            <a:off x="460926" y="2697479"/>
            <a:ext cx="5208354" cy="1949028"/>
          </a:xfrm>
          <a:prstGeom prst="rect">
            <a:avLst/>
          </a:prstGeom>
          <a:noFill/>
          <a:ln/>
        </p:spPr>
        <p:txBody>
          <a:bodyPr wrap="square" lIns="0" tIns="0" rIns="0" bIns="0" rtlCol="0" anchor="ctr"/>
          <a:lstStyle/>
          <a:p>
            <a:pPr marL="0" indent="0">
              <a:buNone/>
            </a:pPr>
            <a:r>
              <a:rPr lang="en-US" sz="1100" dirty="0"/>
              <a:t>Why Do We Use Bar Charts?</a:t>
            </a:r>
          </a:p>
          <a:p>
            <a:pPr marL="0" indent="0">
              <a:buNone/>
            </a:pPr>
            <a:r>
              <a:rPr lang="en-US" sz="1100" dirty="0"/>
              <a:t>Bar charts are useful because </a:t>
            </a:r>
            <a:r>
              <a:rPr lang="en-US" sz="1100" dirty="0" err="1"/>
              <a:t>they:Compare</a:t>
            </a:r>
            <a:r>
              <a:rPr lang="en-US" sz="1100" dirty="0"/>
              <a:t> data across categories.</a:t>
            </a:r>
          </a:p>
          <a:p>
            <a:pPr marL="0" indent="0">
              <a:buNone/>
            </a:pPr>
            <a:r>
              <a:rPr lang="en-US" sz="1100" dirty="0"/>
              <a:t>Make information easy to understand.</a:t>
            </a:r>
          </a:p>
          <a:p>
            <a:pPr marL="0" indent="0">
              <a:buNone/>
            </a:pPr>
            <a:r>
              <a:rPr lang="en-US" sz="1100" dirty="0"/>
              <a:t>Highlight the highest and lowest values.</a:t>
            </a:r>
          </a:p>
          <a:p>
            <a:pPr marL="0" indent="0">
              <a:buNone/>
            </a:pPr>
            <a:r>
              <a:rPr lang="en-US" sz="1100" dirty="0"/>
              <a:t>Help in decision-making and data analysis.</a:t>
            </a:r>
          </a:p>
          <a:p>
            <a:pPr marL="0" indent="0">
              <a:buNone/>
            </a:pPr>
            <a:r>
              <a:rPr lang="en-US" sz="1100" dirty="0"/>
              <a:t>Present large amounts of information visually.</a:t>
            </a:r>
          </a:p>
          <a:p>
            <a:pPr marL="0" indent="0">
              <a:buNone/>
            </a:pPr>
            <a:r>
              <a:rPr lang="en-US" sz="1100" dirty="0"/>
              <a:t>Components of a Bar </a:t>
            </a:r>
            <a:r>
              <a:rPr lang="en-US" sz="1100" dirty="0" err="1"/>
              <a:t>ChartA</a:t>
            </a:r>
            <a:r>
              <a:rPr lang="en-US" sz="1100" dirty="0"/>
              <a:t> bar chart consists of:</a:t>
            </a:r>
          </a:p>
          <a:p>
            <a:pPr marL="0" indent="0">
              <a:buNone/>
            </a:pPr>
            <a:r>
              <a:rPr lang="en-US" sz="1100" dirty="0"/>
              <a:t>Title – Describes what the chart represents.</a:t>
            </a:r>
          </a:p>
          <a:p>
            <a:pPr marL="0" indent="0">
              <a:buNone/>
            </a:pPr>
            <a:r>
              <a:rPr lang="en-US" sz="1100" dirty="0"/>
              <a:t>X-Axis (Horizontal Axis) – Shows categories.</a:t>
            </a:r>
          </a:p>
          <a:p>
            <a:pPr marL="0" indent="0">
              <a:buNone/>
            </a:pPr>
            <a:r>
              <a:rPr lang="en-US" sz="1100" dirty="0"/>
              <a:t>Y-Axis (Vertical Axis) – Shows numerical values.</a:t>
            </a:r>
          </a:p>
          <a:p>
            <a:pPr marL="0" indent="0">
              <a:buNone/>
            </a:pPr>
            <a:r>
              <a:rPr lang="en-US" sz="1100" dirty="0"/>
              <a:t>Bars – Represent the data values.</a:t>
            </a:r>
          </a:p>
          <a:p>
            <a:pPr marL="0" indent="0">
              <a:buNone/>
            </a:pPr>
            <a:r>
              <a:rPr lang="en-US" sz="1100" dirty="0"/>
              <a:t>Labels – Provide additional information about categories and values.</a:t>
            </a:r>
          </a:p>
        </p:txBody>
      </p:sp>
      <p:graphicFrame>
        <p:nvGraphicFramePr>
          <p:cNvPr id="12" name="Chart 0"/>
          <p:cNvGraphicFramePr/>
          <p:nvPr/>
        </p:nvGraphicFramePr>
        <p:xfrm>
          <a:off x="5897880" y="1143000"/>
          <a:ext cx="301752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p:nvPr/>
        </p:nvSpPr>
        <p:spPr>
          <a:xfrm>
            <a:off x="5897880" y="4251960"/>
            <a:ext cx="3017520" cy="228600"/>
          </a:xfrm>
          <a:prstGeom prst="rect">
            <a:avLst/>
          </a:prstGeom>
          <a:noFill/>
          <a:ln/>
        </p:spPr>
        <p:txBody>
          <a:bodyPr wrap="square" lIns="0" tIns="0" rIns="0" bIns="0" rtlCol="0" anchor="ctr"/>
          <a:lstStyle/>
          <a:p>
            <a:pPr marL="0" indent="0" algn="ctr">
              <a:buNone/>
            </a:pPr>
            <a:r>
              <a:rPr lang="en-US" sz="850" i="1" dirty="0">
                <a:solidFill>
                  <a:srgbClr val="64748B"/>
                </a:solidFill>
              </a:rPr>
              <a:t>Example: Comparing fruit sales across five products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365760" y="201168"/>
            <a:ext cx="8595360" cy="50292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Bar Chart</a:t>
            </a:r>
            <a:endParaRPr lang="en-US" sz="2600" dirty="0"/>
          </a:p>
        </p:txBody>
      </p:sp>
      <p:sp>
        <p:nvSpPr>
          <p:cNvPr id="4" name="Text 2"/>
          <p:cNvSpPr/>
          <p:nvPr/>
        </p:nvSpPr>
        <p:spPr>
          <a:xfrm>
            <a:off x="365760" y="713232"/>
            <a:ext cx="859536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Slide 2 of 2  •  Code &amp; Explanation</a:t>
            </a:r>
            <a:endParaRPr lang="en-US" sz="1200" dirty="0"/>
          </a:p>
        </p:txBody>
      </p:sp>
      <p:sp>
        <p:nvSpPr>
          <p:cNvPr id="5" name="Shape 3"/>
          <p:cNvSpPr/>
          <p:nvPr/>
        </p:nvSpPr>
        <p:spPr>
          <a:xfrm>
            <a:off x="365760" y="1005840"/>
            <a:ext cx="8412480" cy="0"/>
          </a:xfrm>
          <a:prstGeom prst="line">
            <a:avLst/>
          </a:prstGeom>
          <a:noFill/>
          <a:ln w="12700">
            <a:solidFill>
              <a:srgbClr val="E2E8F0"/>
            </a:solidFill>
            <a:prstDash val="solid"/>
          </a:ln>
        </p:spPr>
      </p:sp>
      <p:sp>
        <p:nvSpPr>
          <p:cNvPr id="6" name="Shape 4"/>
          <p:cNvSpPr/>
          <p:nvPr/>
        </p:nvSpPr>
        <p:spPr>
          <a:xfrm>
            <a:off x="365760" y="1143000"/>
            <a:ext cx="4937760" cy="3566160"/>
          </a:xfrm>
          <a:prstGeom prst="rect">
            <a:avLst/>
          </a:prstGeom>
          <a:solidFill>
            <a:srgbClr val="0F172A"/>
          </a:solidFill>
          <a:ln w="12700">
            <a:solidFill>
              <a:srgbClr val="334155"/>
            </a:solidFill>
            <a:prstDash val="solid"/>
          </a:ln>
          <a:effectLst>
            <a:outerShdw blurRad="101600" dist="38100" dir="8100000" algn="bl" rotWithShape="0">
              <a:srgbClr val="000000">
                <a:alpha val="10000"/>
              </a:srgbClr>
            </a:outerShdw>
          </a:effectLst>
        </p:spPr>
      </p:sp>
      <p:sp>
        <p:nvSpPr>
          <p:cNvPr id="7" name="Text 5"/>
          <p:cNvSpPr/>
          <p:nvPr/>
        </p:nvSpPr>
        <p:spPr>
          <a:xfrm>
            <a:off x="475488" y="1216152"/>
            <a:ext cx="4718304" cy="3419856"/>
          </a:xfrm>
          <a:prstGeom prst="rect">
            <a:avLst/>
          </a:prstGeom>
          <a:noFill/>
          <a:ln/>
        </p:spPr>
        <p:txBody>
          <a:bodyPr wrap="square" lIns="0" tIns="0" rIns="0" bIns="0" rtlCol="0" anchor="t"/>
          <a:lstStyle/>
          <a:p>
            <a:pPr marL="0" indent="0">
              <a:buNone/>
            </a:pPr>
            <a:r>
              <a:rPr lang="en-US" sz="900" dirty="0">
                <a:solidFill>
                  <a:srgbClr val="C084FC"/>
                </a:solidFill>
                <a:latin typeface="Consolas" pitchFamily="34" charset="0"/>
                <a:ea typeface="Consolas" pitchFamily="34" charset="-122"/>
                <a:cs typeface="Consolas" pitchFamily="34" charset="-120"/>
              </a:rPr>
              <a:t>import</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matplotlib.pyplot</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C084FC"/>
                </a:solidFill>
                <a:latin typeface="Consolas" pitchFamily="34" charset="0"/>
                <a:ea typeface="Consolas" pitchFamily="34" charset="-122"/>
                <a:cs typeface="Consolas" pitchFamily="34" charset="-120"/>
              </a:rPr>
              <a:t>as</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38BDF8"/>
                </a:solidFill>
                <a:latin typeface="Consolas" pitchFamily="34" charset="0"/>
                <a:ea typeface="Consolas" pitchFamily="34" charset="-122"/>
                <a:cs typeface="Consolas" pitchFamily="34" charset="-120"/>
              </a:rPr>
              <a:t>plt</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fruits = ["Mango","Apple","Banana","Orange","Grapes"]</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sales  = [420, </a:t>
            </a:r>
            <a:r>
              <a:rPr lang="en-US" sz="900" dirty="0">
                <a:solidFill>
                  <a:srgbClr val="FB923C"/>
                </a:solidFill>
                <a:latin typeface="Consolas" pitchFamily="34" charset="0"/>
                <a:ea typeface="Consolas" pitchFamily="34" charset="-122"/>
                <a:cs typeface="Consolas" pitchFamily="34" charset="-120"/>
              </a:rPr>
              <a:t>380,</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B923C"/>
                </a:solidFill>
                <a:latin typeface="Consolas" pitchFamily="34" charset="0"/>
                <a:ea typeface="Consolas" pitchFamily="34" charset="-122"/>
                <a:cs typeface="Consolas" pitchFamily="34" charset="-120"/>
              </a:rPr>
              <a:t>310,</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B923C"/>
                </a:solidFill>
                <a:latin typeface="Consolas" pitchFamily="34" charset="0"/>
                <a:ea typeface="Consolas" pitchFamily="34" charset="-122"/>
                <a:cs typeface="Consolas" pitchFamily="34" charset="-120"/>
              </a:rPr>
              <a:t>275,</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B923C"/>
                </a:solidFill>
                <a:latin typeface="Consolas" pitchFamily="34" charset="0"/>
                <a:ea typeface="Consolas" pitchFamily="34" charset="-122"/>
                <a:cs typeface="Consolas" pitchFamily="34" charset="-120"/>
              </a:rPr>
              <a:t>220]</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colors = ["#0D9488","#14B8A6","#5EEAD4",</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86EFAC"/>
                </a:solidFill>
                <a:latin typeface="Consolas" pitchFamily="34" charset="0"/>
                <a:ea typeface="Consolas" pitchFamily="34" charset="-122"/>
                <a:cs typeface="Consolas" pitchFamily="34" charset="-120"/>
              </a:rPr>
              <a:t>"#99F6E4","#CCFBF1"]</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plt.figure(figsize=(8,</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B923C"/>
                </a:solidFill>
                <a:latin typeface="Consolas" pitchFamily="34" charset="0"/>
                <a:ea typeface="Consolas" pitchFamily="34" charset="-122"/>
                <a:cs typeface="Consolas" pitchFamily="34" charset="-120"/>
              </a:rPr>
              <a:t>5))</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plt.bar(fruits,</a:t>
            </a:r>
            <a:r>
              <a:rPr lang="en-US" sz="900" dirty="0">
                <a:solidFill>
                  <a:srgbClr val="E2E8F0"/>
                </a:solidFill>
                <a:latin typeface="Consolas" pitchFamily="34" charset="0"/>
                <a:ea typeface="Consolas" pitchFamily="34" charset="-122"/>
                <a:cs typeface="Consolas" pitchFamily="34" charset="-120"/>
              </a:rPr>
              <a:t> sales, color=colors,</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edgecolor="white", </a:t>
            </a:r>
            <a:r>
              <a:rPr lang="en-US" sz="900" dirty="0">
                <a:solidFill>
                  <a:srgbClr val="FDE68A"/>
                </a:solidFill>
                <a:latin typeface="Consolas" pitchFamily="34" charset="0"/>
                <a:ea typeface="Consolas" pitchFamily="34" charset="-122"/>
                <a:cs typeface="Consolas" pitchFamily="34" charset="-120"/>
              </a:rPr>
              <a:t>linewidth=0.8)</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C084FC"/>
                </a:solidFill>
                <a:latin typeface="Consolas" pitchFamily="34" charset="0"/>
                <a:ea typeface="Consolas" pitchFamily="34" charset="-122"/>
                <a:cs typeface="Consolas" pitchFamily="34" charset="-120"/>
              </a:rPr>
              <a:t>for</a:t>
            </a:r>
            <a:r>
              <a:rPr lang="en-US" sz="900" dirty="0">
                <a:solidFill>
                  <a:srgbClr val="E2E8F0"/>
                </a:solidFill>
                <a:latin typeface="Consolas" pitchFamily="34" charset="0"/>
                <a:ea typeface="Consolas" pitchFamily="34" charset="-122"/>
                <a:cs typeface="Consolas" pitchFamily="34" charset="-120"/>
              </a:rPr>
              <a:t> i, v </a:t>
            </a:r>
            <a:r>
              <a:rPr lang="en-US" sz="900" dirty="0">
                <a:solidFill>
                  <a:srgbClr val="C084FC"/>
                </a:solidFill>
                <a:latin typeface="Consolas" pitchFamily="34" charset="0"/>
                <a:ea typeface="Consolas" pitchFamily="34" charset="-122"/>
                <a:cs typeface="Consolas" pitchFamily="34" charset="-120"/>
              </a:rPr>
              <a:t>in</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enumerate(sales):</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plt.text(i,</a:t>
            </a:r>
            <a:r>
              <a:rPr lang="en-US" sz="900" dirty="0">
                <a:solidFill>
                  <a:srgbClr val="E2E8F0"/>
                </a:solidFill>
                <a:latin typeface="Consolas" pitchFamily="34" charset="0"/>
                <a:ea typeface="Consolas" pitchFamily="34" charset="-122"/>
                <a:cs typeface="Consolas" pitchFamily="34" charset="-120"/>
              </a:rPr>
              <a:t> v + </a:t>
            </a:r>
            <a:r>
              <a:rPr lang="en-US" sz="900" dirty="0">
                <a:solidFill>
                  <a:srgbClr val="FB923C"/>
                </a:solidFill>
                <a:latin typeface="Consolas" pitchFamily="34" charset="0"/>
                <a:ea typeface="Consolas" pitchFamily="34" charset="-122"/>
                <a:cs typeface="Consolas" pitchFamily="34" charset="-120"/>
              </a:rPr>
              <a:t>8,</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str(v),</a:t>
            </a:r>
            <a:r>
              <a:rPr lang="en-US" sz="900" dirty="0">
                <a:solidFill>
                  <a:srgbClr val="E2E8F0"/>
                </a:solidFill>
                <a:latin typeface="Consolas" pitchFamily="34" charset="0"/>
                <a:ea typeface="Consolas" pitchFamily="34" charset="-122"/>
                <a:cs typeface="Consolas" pitchFamily="34" charset="-120"/>
              </a:rPr>
              <a:t> ha="center",</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fontsize=10, fontweight="bold")</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plt.title("Fruit</a:t>
            </a:r>
            <a:r>
              <a:rPr lang="en-US" sz="900" dirty="0">
                <a:solidFill>
                  <a:srgbClr val="E2E8F0"/>
                </a:solidFill>
                <a:latin typeface="Consolas" pitchFamily="34" charset="0"/>
                <a:ea typeface="Consolas" pitchFamily="34" charset="-122"/>
                <a:cs typeface="Consolas" pitchFamily="34" charset="-120"/>
              </a:rPr>
              <a:t> Sales Comparison")</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plt.xlabel("Fruit")</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plt.ylabel("Units</a:t>
            </a:r>
            <a:r>
              <a:rPr lang="en-US" sz="900" dirty="0">
                <a:solidFill>
                  <a:srgbClr val="E2E8F0"/>
                </a:solidFill>
                <a:latin typeface="Consolas" pitchFamily="34" charset="0"/>
                <a:ea typeface="Consolas" pitchFamily="34" charset="-122"/>
                <a:cs typeface="Consolas" pitchFamily="34" charset="-120"/>
              </a:rPr>
              <a:t> Sold")</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plt.tight_layout()</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plt.show()</a:t>
            </a:r>
            <a:endParaRPr lang="en-US" sz="900" dirty="0"/>
          </a:p>
        </p:txBody>
      </p:sp>
      <p:sp>
        <p:nvSpPr>
          <p:cNvPr id="8" name="Shape 6"/>
          <p:cNvSpPr/>
          <p:nvPr/>
        </p:nvSpPr>
        <p:spPr>
          <a:xfrm>
            <a:off x="5440680" y="1143000"/>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9" name="Shape 7"/>
          <p:cNvSpPr/>
          <p:nvPr/>
        </p:nvSpPr>
        <p:spPr>
          <a:xfrm>
            <a:off x="5440680" y="1143000"/>
            <a:ext cx="384048" cy="777240"/>
          </a:xfrm>
          <a:prstGeom prst="rect">
            <a:avLst/>
          </a:prstGeom>
          <a:solidFill>
            <a:srgbClr val="0D9488"/>
          </a:solidFill>
          <a:ln w="12700">
            <a:solidFill>
              <a:srgbClr val="0D9488"/>
            </a:solidFill>
            <a:prstDash val="solid"/>
          </a:ln>
        </p:spPr>
      </p:sp>
      <p:sp>
        <p:nvSpPr>
          <p:cNvPr id="10" name="Text 8"/>
          <p:cNvSpPr/>
          <p:nvPr/>
        </p:nvSpPr>
        <p:spPr>
          <a:xfrm>
            <a:off x="5440680" y="134416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1" name="Text 9"/>
          <p:cNvSpPr/>
          <p:nvPr/>
        </p:nvSpPr>
        <p:spPr>
          <a:xfrm>
            <a:off x="5897880" y="1216152"/>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plt.bar()</a:t>
            </a:r>
            <a:endParaRPr lang="en-US" sz="1100" dirty="0"/>
          </a:p>
        </p:txBody>
      </p:sp>
      <p:sp>
        <p:nvSpPr>
          <p:cNvPr id="12" name="Text 10"/>
          <p:cNvSpPr/>
          <p:nvPr/>
        </p:nvSpPr>
        <p:spPr>
          <a:xfrm>
            <a:off x="5897880" y="1490472"/>
            <a:ext cx="2834640" cy="347472"/>
          </a:xfrm>
          <a:prstGeom prst="rect">
            <a:avLst/>
          </a:prstGeom>
          <a:noFill/>
          <a:ln/>
        </p:spPr>
        <p:txBody>
          <a:bodyPr wrap="square" lIns="0" tIns="0" rIns="0" bIns="0" rtlCol="0" anchor="ctr"/>
          <a:lstStyle/>
          <a:p>
            <a:pPr marL="0" indent="0">
              <a:buNone/>
            </a:pPr>
            <a:r>
              <a:rPr lang="en-US" sz="950" dirty="0">
                <a:solidFill>
                  <a:srgbClr val="475569"/>
                </a:solidFill>
              </a:rPr>
              <a:t>Main function — first arg is categories, second is values, color controls bar fill.</a:t>
            </a:r>
            <a:endParaRPr lang="en-US" sz="950" dirty="0"/>
          </a:p>
        </p:txBody>
      </p:sp>
      <p:sp>
        <p:nvSpPr>
          <p:cNvPr id="13" name="Shape 11"/>
          <p:cNvSpPr/>
          <p:nvPr/>
        </p:nvSpPr>
        <p:spPr>
          <a:xfrm>
            <a:off x="5440680" y="1993392"/>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4" name="Shape 12"/>
          <p:cNvSpPr/>
          <p:nvPr/>
        </p:nvSpPr>
        <p:spPr>
          <a:xfrm>
            <a:off x="5440680" y="1993392"/>
            <a:ext cx="384048" cy="777240"/>
          </a:xfrm>
          <a:prstGeom prst="rect">
            <a:avLst/>
          </a:prstGeom>
          <a:solidFill>
            <a:srgbClr val="0D9488"/>
          </a:solidFill>
          <a:ln w="12700">
            <a:solidFill>
              <a:srgbClr val="0D9488"/>
            </a:solidFill>
            <a:prstDash val="solid"/>
          </a:ln>
        </p:spPr>
      </p:sp>
      <p:sp>
        <p:nvSpPr>
          <p:cNvPr id="15" name="Text 13"/>
          <p:cNvSpPr/>
          <p:nvPr/>
        </p:nvSpPr>
        <p:spPr>
          <a:xfrm>
            <a:off x="5440680" y="219456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6" name="Text 14"/>
          <p:cNvSpPr/>
          <p:nvPr/>
        </p:nvSpPr>
        <p:spPr>
          <a:xfrm>
            <a:off x="5897880" y="2066544"/>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Loop + plt.text()</a:t>
            </a:r>
            <a:endParaRPr lang="en-US" sz="1100" dirty="0"/>
          </a:p>
        </p:txBody>
      </p:sp>
      <p:sp>
        <p:nvSpPr>
          <p:cNvPr id="17" name="Text 15"/>
          <p:cNvSpPr/>
          <p:nvPr/>
        </p:nvSpPr>
        <p:spPr>
          <a:xfrm>
            <a:off x="5897880" y="2340864"/>
            <a:ext cx="2834640" cy="347472"/>
          </a:xfrm>
          <a:prstGeom prst="rect">
            <a:avLst/>
          </a:prstGeom>
          <a:noFill/>
          <a:ln/>
        </p:spPr>
        <p:txBody>
          <a:bodyPr wrap="square" lIns="0" tIns="0" rIns="0" bIns="0" rtlCol="0" anchor="ctr"/>
          <a:lstStyle/>
          <a:p>
            <a:pPr marL="0" indent="0">
              <a:buNone/>
            </a:pPr>
            <a:r>
              <a:rPr lang="en-US" sz="950" dirty="0">
                <a:solidFill>
                  <a:srgbClr val="475569"/>
                </a:solidFill>
              </a:rPr>
              <a:t>Adds value labels above each bar for readability (i = position, v = value).</a:t>
            </a:r>
            <a:endParaRPr lang="en-US" sz="950" dirty="0"/>
          </a:p>
        </p:txBody>
      </p:sp>
      <p:sp>
        <p:nvSpPr>
          <p:cNvPr id="18" name="Shape 16"/>
          <p:cNvSpPr/>
          <p:nvPr/>
        </p:nvSpPr>
        <p:spPr>
          <a:xfrm>
            <a:off x="5440680" y="2843784"/>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9" name="Shape 17"/>
          <p:cNvSpPr/>
          <p:nvPr/>
        </p:nvSpPr>
        <p:spPr>
          <a:xfrm>
            <a:off x="5440680" y="2843784"/>
            <a:ext cx="384048" cy="777240"/>
          </a:xfrm>
          <a:prstGeom prst="rect">
            <a:avLst/>
          </a:prstGeom>
          <a:solidFill>
            <a:srgbClr val="0D9488"/>
          </a:solidFill>
          <a:ln w="12700">
            <a:solidFill>
              <a:srgbClr val="0D9488"/>
            </a:solidFill>
            <a:prstDash val="solid"/>
          </a:ln>
        </p:spPr>
      </p:sp>
      <p:sp>
        <p:nvSpPr>
          <p:cNvPr id="20" name="Text 18"/>
          <p:cNvSpPr/>
          <p:nvPr/>
        </p:nvSpPr>
        <p:spPr>
          <a:xfrm>
            <a:off x="5440680" y="304495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1" name="Text 19"/>
          <p:cNvSpPr/>
          <p:nvPr/>
        </p:nvSpPr>
        <p:spPr>
          <a:xfrm>
            <a:off x="5897880" y="2916936"/>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edgecolor</a:t>
            </a:r>
            <a:endParaRPr lang="en-US" sz="1100" dirty="0"/>
          </a:p>
        </p:txBody>
      </p:sp>
      <p:sp>
        <p:nvSpPr>
          <p:cNvPr id="22" name="Text 20"/>
          <p:cNvSpPr/>
          <p:nvPr/>
        </p:nvSpPr>
        <p:spPr>
          <a:xfrm>
            <a:off x="5897880" y="3191256"/>
            <a:ext cx="2834640" cy="347472"/>
          </a:xfrm>
          <a:prstGeom prst="rect">
            <a:avLst/>
          </a:prstGeom>
          <a:noFill/>
          <a:ln/>
        </p:spPr>
        <p:txBody>
          <a:bodyPr wrap="square" lIns="0" tIns="0" rIns="0" bIns="0" rtlCol="0" anchor="ctr"/>
          <a:lstStyle/>
          <a:p>
            <a:pPr marL="0" indent="0">
              <a:buNone/>
            </a:pPr>
            <a:r>
              <a:rPr lang="en-US" sz="950" dirty="0">
                <a:solidFill>
                  <a:srgbClr val="475569"/>
                </a:solidFill>
              </a:rPr>
              <a:t>White edge lines between bars improve visual separation and clarity.</a:t>
            </a:r>
            <a:endParaRPr lang="en-US" sz="950" dirty="0"/>
          </a:p>
        </p:txBody>
      </p:sp>
      <p:sp>
        <p:nvSpPr>
          <p:cNvPr id="23" name="Shape 21"/>
          <p:cNvSpPr/>
          <p:nvPr/>
        </p:nvSpPr>
        <p:spPr>
          <a:xfrm>
            <a:off x="5440680" y="3694176"/>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4" name="Shape 22"/>
          <p:cNvSpPr/>
          <p:nvPr/>
        </p:nvSpPr>
        <p:spPr>
          <a:xfrm>
            <a:off x="5440680" y="3694176"/>
            <a:ext cx="384048" cy="777240"/>
          </a:xfrm>
          <a:prstGeom prst="rect">
            <a:avLst/>
          </a:prstGeom>
          <a:solidFill>
            <a:srgbClr val="0D9488"/>
          </a:solidFill>
          <a:ln w="12700">
            <a:solidFill>
              <a:srgbClr val="0D9488"/>
            </a:solidFill>
            <a:prstDash val="solid"/>
          </a:ln>
        </p:spPr>
      </p:sp>
      <p:sp>
        <p:nvSpPr>
          <p:cNvPr id="25" name="Text 23"/>
          <p:cNvSpPr/>
          <p:nvPr/>
        </p:nvSpPr>
        <p:spPr>
          <a:xfrm>
            <a:off x="5440680" y="389534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26" name="Text 24"/>
          <p:cNvSpPr/>
          <p:nvPr/>
        </p:nvSpPr>
        <p:spPr>
          <a:xfrm>
            <a:off x="5897880" y="3767328"/>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plt.barh()</a:t>
            </a:r>
            <a:endParaRPr lang="en-US" sz="1100" dirty="0"/>
          </a:p>
        </p:txBody>
      </p:sp>
      <p:sp>
        <p:nvSpPr>
          <p:cNvPr id="27" name="Text 25"/>
          <p:cNvSpPr/>
          <p:nvPr/>
        </p:nvSpPr>
        <p:spPr>
          <a:xfrm>
            <a:off x="5897880" y="4041648"/>
            <a:ext cx="2834640" cy="347472"/>
          </a:xfrm>
          <a:prstGeom prst="rect">
            <a:avLst/>
          </a:prstGeom>
          <a:noFill/>
          <a:ln/>
        </p:spPr>
        <p:txBody>
          <a:bodyPr wrap="square" lIns="0" tIns="0" rIns="0" bIns="0" rtlCol="0" anchor="ctr"/>
          <a:lstStyle/>
          <a:p>
            <a:pPr marL="0" indent="0">
              <a:buNone/>
            </a:pPr>
            <a:r>
              <a:rPr lang="en-US" sz="950" dirty="0">
                <a:solidFill>
                  <a:srgbClr val="475569"/>
                </a:solidFill>
              </a:rPr>
              <a:t>Use barh() instead of bar() for a horizontal layout — useful for long labels.</a:t>
            </a:r>
            <a:endParaRPr lang="en-US" sz="950" dirty="0"/>
          </a:p>
        </p:txBody>
      </p:sp>
      <p:sp>
        <p:nvSpPr>
          <p:cNvPr id="28" name="Text 26"/>
          <p:cNvSpPr/>
          <p:nvPr/>
        </p:nvSpPr>
        <p:spPr>
          <a:xfrm>
            <a:off x="365760" y="4754880"/>
            <a:ext cx="8412480" cy="228600"/>
          </a:xfrm>
          <a:prstGeom prst="rect">
            <a:avLst/>
          </a:prstGeom>
          <a:noFill/>
          <a:ln/>
        </p:spPr>
        <p:txBody>
          <a:bodyPr wrap="square" lIns="0" tIns="0" rIns="0" bIns="0" rtlCol="0" anchor="ctr"/>
          <a:lstStyle/>
          <a:p>
            <a:pPr marL="0" indent="0" algn="ctr">
              <a:buNone/>
            </a:pPr>
            <a:r>
              <a:rPr lang="en-US" sz="900" i="1" dirty="0">
                <a:solidFill>
                  <a:srgbClr val="64748B"/>
                </a:solidFill>
              </a:rPr>
              <a:t>Grouped bar charts use multiple plt.bar() calls with an offset on x positions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9E0B"/>
          </a:solidFill>
          <a:ln w="12700">
            <a:solidFill>
              <a:srgbClr val="F59E0B"/>
            </a:solidFill>
            <a:prstDash val="solid"/>
          </a:ln>
        </p:spPr>
      </p:sp>
      <p:sp>
        <p:nvSpPr>
          <p:cNvPr id="3" name="Text 1"/>
          <p:cNvSpPr/>
          <p:nvPr/>
        </p:nvSpPr>
        <p:spPr>
          <a:xfrm>
            <a:off x="365760" y="201168"/>
            <a:ext cx="8595360" cy="50292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Histogram</a:t>
            </a:r>
            <a:endParaRPr lang="en-US" sz="2600" dirty="0"/>
          </a:p>
        </p:txBody>
      </p:sp>
      <p:sp>
        <p:nvSpPr>
          <p:cNvPr id="4" name="Text 2"/>
          <p:cNvSpPr/>
          <p:nvPr/>
        </p:nvSpPr>
        <p:spPr>
          <a:xfrm>
            <a:off x="365760" y="713232"/>
            <a:ext cx="859536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Slide 1 of 2  •  Definition &amp; Overview</a:t>
            </a:r>
            <a:endParaRPr lang="en-US" sz="1200" dirty="0"/>
          </a:p>
        </p:txBody>
      </p:sp>
      <p:sp>
        <p:nvSpPr>
          <p:cNvPr id="5" name="Shape 3"/>
          <p:cNvSpPr/>
          <p:nvPr/>
        </p:nvSpPr>
        <p:spPr>
          <a:xfrm>
            <a:off x="365760" y="1005840"/>
            <a:ext cx="8412480" cy="0"/>
          </a:xfrm>
          <a:prstGeom prst="line">
            <a:avLst/>
          </a:prstGeom>
          <a:noFill/>
          <a:ln w="12700">
            <a:solidFill>
              <a:srgbClr val="E2E8F0"/>
            </a:solidFill>
            <a:prstDash val="solid"/>
          </a:ln>
        </p:spPr>
      </p:sp>
      <p:sp>
        <p:nvSpPr>
          <p:cNvPr id="6" name="Shape 4"/>
          <p:cNvSpPr/>
          <p:nvPr/>
        </p:nvSpPr>
        <p:spPr>
          <a:xfrm>
            <a:off x="365760" y="1143000"/>
            <a:ext cx="5303520" cy="14173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7" name="Text 5"/>
          <p:cNvSpPr/>
          <p:nvPr/>
        </p:nvSpPr>
        <p:spPr>
          <a:xfrm>
            <a:off x="502920" y="1188720"/>
            <a:ext cx="5029200" cy="320040"/>
          </a:xfrm>
          <a:prstGeom prst="rect">
            <a:avLst/>
          </a:prstGeom>
          <a:noFill/>
          <a:ln/>
        </p:spPr>
        <p:txBody>
          <a:bodyPr wrap="square" lIns="0" tIns="0" rIns="0" bIns="0" rtlCol="0" anchor="ctr"/>
          <a:lstStyle/>
          <a:p>
            <a:pPr marL="0" indent="0">
              <a:buNone/>
            </a:pPr>
            <a:r>
              <a:rPr lang="en-US" sz="1300" b="1" dirty="0">
                <a:solidFill>
                  <a:srgbClr val="F59E0B"/>
                </a:solidFill>
              </a:rPr>
              <a:t>What is a Histogram?</a:t>
            </a:r>
            <a:endParaRPr lang="en-US" sz="1300" dirty="0"/>
          </a:p>
        </p:txBody>
      </p:sp>
      <p:sp>
        <p:nvSpPr>
          <p:cNvPr id="8" name="Text 6"/>
          <p:cNvSpPr/>
          <p:nvPr/>
        </p:nvSpPr>
        <p:spPr>
          <a:xfrm>
            <a:off x="502920" y="1508760"/>
            <a:ext cx="5029200" cy="914400"/>
          </a:xfrm>
          <a:prstGeom prst="rect">
            <a:avLst/>
          </a:prstGeom>
          <a:noFill/>
          <a:ln/>
        </p:spPr>
        <p:txBody>
          <a:bodyPr wrap="square" lIns="0" tIns="0" rIns="0" bIns="0" rtlCol="0" anchor="ctr"/>
          <a:lstStyle/>
          <a:p>
            <a:pPr marL="0" indent="0">
              <a:buNone/>
            </a:pPr>
            <a:r>
              <a:rPr lang="en-US" sz="1150" dirty="0">
                <a:solidFill>
                  <a:srgbClr val="475569"/>
                </a:solidFill>
              </a:rPr>
              <a:t>A histogram displays the distribution of a single numeric variable by grouping values into intervals (bins). Unlike bar charts, the bars touch each other — indicating continuous data with no gaps between bins.</a:t>
            </a:r>
            <a:endParaRPr lang="en-US" sz="1150" dirty="0"/>
          </a:p>
        </p:txBody>
      </p:sp>
      <p:sp>
        <p:nvSpPr>
          <p:cNvPr id="9" name="Shape 7"/>
          <p:cNvSpPr/>
          <p:nvPr/>
        </p:nvSpPr>
        <p:spPr>
          <a:xfrm>
            <a:off x="365760" y="2697480"/>
            <a:ext cx="5303520" cy="15087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0" name="Text 8"/>
          <p:cNvSpPr/>
          <p:nvPr/>
        </p:nvSpPr>
        <p:spPr>
          <a:xfrm>
            <a:off x="502920" y="2743200"/>
            <a:ext cx="5029200" cy="292608"/>
          </a:xfrm>
          <a:prstGeom prst="rect">
            <a:avLst/>
          </a:prstGeom>
          <a:noFill/>
          <a:ln/>
        </p:spPr>
        <p:txBody>
          <a:bodyPr wrap="square" lIns="0" tIns="0" rIns="0" bIns="0" rtlCol="0" anchor="ctr"/>
          <a:lstStyle/>
          <a:p>
            <a:pPr marL="0" indent="0">
              <a:buNone/>
            </a:pPr>
            <a:r>
              <a:rPr lang="en-US" sz="1300" b="1" dirty="0">
                <a:solidFill>
                  <a:srgbClr val="F59E0B"/>
                </a:solidFill>
              </a:rPr>
              <a:t>Key Characteristics</a:t>
            </a:r>
            <a:endParaRPr lang="en-US" sz="1300" dirty="0"/>
          </a:p>
        </p:txBody>
      </p:sp>
      <p:sp>
        <p:nvSpPr>
          <p:cNvPr id="11" name="Text 9"/>
          <p:cNvSpPr/>
          <p:nvPr/>
        </p:nvSpPr>
        <p:spPr>
          <a:xfrm>
            <a:off x="502920" y="3063240"/>
            <a:ext cx="5029200" cy="1097280"/>
          </a:xfrm>
          <a:prstGeom prst="rect">
            <a:avLst/>
          </a:prstGeom>
          <a:noFill/>
          <a:ln/>
        </p:spPr>
        <p:txBody>
          <a:bodyPr wrap="square" lIns="0" tIns="0" rIns="0" bIns="0" rtlCol="0" anchor="ctr"/>
          <a:lstStyle/>
          <a:p>
            <a:pPr marL="0" indent="0">
              <a:buNone/>
            </a:pPr>
            <a:r>
              <a:rPr lang="en-US" sz="1100" b="1" dirty="0">
                <a:solidFill>
                  <a:srgbClr val="1E293B"/>
                </a:solidFill>
              </a:rPr>
              <a:t>✔  Best for: </a:t>
            </a:r>
            <a:r>
              <a:rPr lang="en-US" sz="1100" dirty="0">
                <a:solidFill>
                  <a:srgbClr val="475569"/>
                </a:solidFill>
              </a:rPr>
              <a:t>Understanding frequency distributions
</a:t>
            </a:r>
            <a:r>
              <a:rPr lang="en-US" sz="1100" b="1" dirty="0">
                <a:solidFill>
                  <a:srgbClr val="1E293B"/>
                </a:solidFill>
              </a:rPr>
              <a:t>✔  Bins: </a:t>
            </a:r>
            <a:r>
              <a:rPr lang="en-US" sz="1100" dirty="0">
                <a:solidFill>
                  <a:srgbClr val="475569"/>
                </a:solidFill>
              </a:rPr>
              <a:t>Intervals that group continuous data
</a:t>
            </a:r>
            <a:r>
              <a:rPr lang="en-US" sz="1100" b="1" dirty="0">
                <a:solidFill>
                  <a:srgbClr val="1E293B"/>
                </a:solidFill>
              </a:rPr>
              <a:t>✔  Reveals: </a:t>
            </a:r>
            <a:r>
              <a:rPr lang="en-US" sz="1100" dirty="0">
                <a:solidFill>
                  <a:srgbClr val="475569"/>
                </a:solidFill>
              </a:rPr>
              <a:t>Skewness, spread, outliers, normality
</a:t>
            </a:r>
            <a:r>
              <a:rPr lang="en-US" sz="1100" b="1" dirty="0">
                <a:solidFill>
                  <a:srgbClr val="1E293B"/>
                </a:solidFill>
              </a:rPr>
              <a:t>✔  vs Bar Chart: </a:t>
            </a:r>
            <a:r>
              <a:rPr lang="en-US" sz="1100" dirty="0">
                <a:solidFill>
                  <a:srgbClr val="475569"/>
                </a:solidFill>
              </a:rPr>
              <a:t>Histograms show distribution, bars compare categories</a:t>
            </a:r>
            <a:endParaRPr lang="en-US" sz="1100" dirty="0"/>
          </a:p>
        </p:txBody>
      </p:sp>
      <p:graphicFrame>
        <p:nvGraphicFramePr>
          <p:cNvPr id="12" name="Chart 0"/>
          <p:cNvGraphicFramePr/>
          <p:nvPr/>
        </p:nvGraphicFramePr>
        <p:xfrm>
          <a:off x="5897880" y="1143000"/>
          <a:ext cx="301752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p:nvPr/>
        </p:nvSpPr>
        <p:spPr>
          <a:xfrm>
            <a:off x="5897880" y="4251960"/>
            <a:ext cx="3017520" cy="228600"/>
          </a:xfrm>
          <a:prstGeom prst="rect">
            <a:avLst/>
          </a:prstGeom>
          <a:noFill/>
          <a:ln/>
        </p:spPr>
        <p:txBody>
          <a:bodyPr wrap="square" lIns="0" tIns="0" rIns="0" bIns="0" rtlCol="0" anchor="ctr"/>
          <a:lstStyle/>
          <a:p>
            <a:pPr marL="0" indent="0" algn="ctr">
              <a:buNone/>
            </a:pPr>
            <a:r>
              <a:rPr lang="en-US" sz="850" i="1" dirty="0">
                <a:solidFill>
                  <a:srgbClr val="64748B"/>
                </a:solidFill>
              </a:rPr>
              <a:t>Example: Distribution of student exam scores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9E0B"/>
          </a:solidFill>
          <a:ln w="12700">
            <a:solidFill>
              <a:srgbClr val="F59E0B"/>
            </a:solidFill>
            <a:prstDash val="solid"/>
          </a:ln>
        </p:spPr>
      </p:sp>
      <p:sp>
        <p:nvSpPr>
          <p:cNvPr id="3" name="Text 1"/>
          <p:cNvSpPr/>
          <p:nvPr/>
        </p:nvSpPr>
        <p:spPr>
          <a:xfrm>
            <a:off x="365760" y="201168"/>
            <a:ext cx="8595360" cy="50292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Histogram</a:t>
            </a:r>
            <a:endParaRPr lang="en-US" sz="2600" dirty="0"/>
          </a:p>
        </p:txBody>
      </p:sp>
      <p:sp>
        <p:nvSpPr>
          <p:cNvPr id="4" name="Text 2"/>
          <p:cNvSpPr/>
          <p:nvPr/>
        </p:nvSpPr>
        <p:spPr>
          <a:xfrm>
            <a:off x="365760" y="713232"/>
            <a:ext cx="859536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Slide 2 of 2  •  Code &amp; Explanation</a:t>
            </a:r>
            <a:endParaRPr lang="en-US" sz="1200" dirty="0"/>
          </a:p>
        </p:txBody>
      </p:sp>
      <p:sp>
        <p:nvSpPr>
          <p:cNvPr id="5" name="Shape 3"/>
          <p:cNvSpPr/>
          <p:nvPr/>
        </p:nvSpPr>
        <p:spPr>
          <a:xfrm>
            <a:off x="365760" y="1005840"/>
            <a:ext cx="8412480" cy="0"/>
          </a:xfrm>
          <a:prstGeom prst="line">
            <a:avLst/>
          </a:prstGeom>
          <a:noFill/>
          <a:ln w="12700">
            <a:solidFill>
              <a:srgbClr val="E2E8F0"/>
            </a:solidFill>
            <a:prstDash val="solid"/>
          </a:ln>
        </p:spPr>
      </p:sp>
      <p:sp>
        <p:nvSpPr>
          <p:cNvPr id="6" name="Shape 4"/>
          <p:cNvSpPr/>
          <p:nvPr/>
        </p:nvSpPr>
        <p:spPr>
          <a:xfrm>
            <a:off x="274320" y="950976"/>
            <a:ext cx="4937760" cy="3566160"/>
          </a:xfrm>
          <a:prstGeom prst="rect">
            <a:avLst/>
          </a:prstGeom>
          <a:solidFill>
            <a:srgbClr val="0F172A"/>
          </a:solidFill>
          <a:ln w="12700">
            <a:solidFill>
              <a:srgbClr val="334155"/>
            </a:solidFill>
            <a:prstDash val="solid"/>
          </a:ln>
          <a:effectLst>
            <a:outerShdw blurRad="101600" dist="38100" dir="8100000" algn="bl" rotWithShape="0">
              <a:srgbClr val="000000">
                <a:alpha val="10000"/>
              </a:srgbClr>
            </a:outerShdw>
          </a:effectLst>
        </p:spPr>
      </p:sp>
      <p:sp>
        <p:nvSpPr>
          <p:cNvPr id="7" name="Text 5"/>
          <p:cNvSpPr/>
          <p:nvPr/>
        </p:nvSpPr>
        <p:spPr>
          <a:xfrm>
            <a:off x="365760" y="1069848"/>
            <a:ext cx="4828032" cy="3566160"/>
          </a:xfrm>
          <a:prstGeom prst="rect">
            <a:avLst/>
          </a:prstGeom>
          <a:noFill/>
          <a:ln/>
        </p:spPr>
        <p:txBody>
          <a:bodyPr wrap="square" lIns="0" tIns="0" rIns="0" bIns="0" rtlCol="0" anchor="t"/>
          <a:lstStyle/>
          <a:p>
            <a:pPr marL="0" indent="0">
              <a:buNone/>
            </a:pPr>
            <a:r>
              <a:rPr lang="en-US" sz="900" dirty="0">
                <a:solidFill>
                  <a:srgbClr val="C084FC"/>
                </a:solidFill>
                <a:latin typeface="Consolas" pitchFamily="34" charset="0"/>
                <a:ea typeface="Consolas" pitchFamily="34" charset="-122"/>
                <a:cs typeface="Consolas" pitchFamily="34" charset="-120"/>
              </a:rPr>
              <a:t>import</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matplotlib.pyplot</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C084FC"/>
                </a:solidFill>
                <a:latin typeface="Consolas" pitchFamily="34" charset="0"/>
                <a:ea typeface="Consolas" pitchFamily="34" charset="-122"/>
                <a:cs typeface="Consolas" pitchFamily="34" charset="-120"/>
              </a:rPr>
              <a:t>as</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38BDF8"/>
                </a:solidFill>
                <a:latin typeface="Consolas" pitchFamily="34" charset="0"/>
                <a:ea typeface="Consolas" pitchFamily="34" charset="-122"/>
                <a:cs typeface="Consolas" pitchFamily="34" charset="-120"/>
              </a:rPr>
              <a:t>plt</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C084FC"/>
                </a:solidFill>
                <a:latin typeface="Consolas" pitchFamily="34" charset="0"/>
                <a:ea typeface="Consolas" pitchFamily="34" charset="-122"/>
                <a:cs typeface="Consolas" pitchFamily="34" charset="-120"/>
              </a:rPr>
              <a:t>import</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38BDF8"/>
                </a:solidFill>
                <a:latin typeface="Consolas" pitchFamily="34" charset="0"/>
                <a:ea typeface="Consolas" pitchFamily="34" charset="-122"/>
                <a:cs typeface="Consolas" pitchFamily="34" charset="-120"/>
              </a:rPr>
              <a:t>numpy</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C084FC"/>
                </a:solidFill>
                <a:latin typeface="Consolas" pitchFamily="34" charset="0"/>
                <a:ea typeface="Consolas" pitchFamily="34" charset="-122"/>
                <a:cs typeface="Consolas" pitchFamily="34" charset="-120"/>
              </a:rPr>
              <a:t>as</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38BDF8"/>
                </a:solidFill>
                <a:latin typeface="Consolas" pitchFamily="34" charset="0"/>
                <a:ea typeface="Consolas" pitchFamily="34" charset="-122"/>
                <a:cs typeface="Consolas" pitchFamily="34" charset="-120"/>
              </a:rPr>
              <a:t>np</a:t>
            </a:r>
            <a:r>
              <a:rPr lang="en-US" sz="900" dirty="0">
                <a:solidFill>
                  <a:srgbClr val="000000"/>
                </a:solidFill>
                <a:latin typeface="Consolas" pitchFamily="34" charset="0"/>
                <a:ea typeface="Consolas" pitchFamily="34" charset="-122"/>
                <a:cs typeface="Consolas" pitchFamily="34" charset="-120"/>
              </a:rPr>
              <a:t>
</a:t>
            </a:r>
            <a:r>
              <a:rPr lang="en-US" sz="900" dirty="0">
                <a:solidFill>
                  <a:schemeClr val="bg1"/>
                </a:solidFill>
                <a:latin typeface="Consolas" pitchFamily="34" charset="0"/>
                <a:ea typeface="Consolas" pitchFamily="34" charset="-122"/>
                <a:cs typeface="Consolas" pitchFamily="34" charset="-120"/>
              </a:rPr>
              <a:t>
marks = [45, 50, 52, 55, 60, 62, 65, 70, 72, 75, 80, 85, 90]</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plt.figure(figsize=(8,</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B923C"/>
                </a:solidFill>
                <a:latin typeface="Consolas" pitchFamily="34" charset="0"/>
                <a:ea typeface="Consolas" pitchFamily="34" charset="-122"/>
                <a:cs typeface="Consolas" pitchFamily="34" charset="-120"/>
              </a:rPr>
              <a:t>5))</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plt.hist(scores,</a:t>
            </a:r>
            <a:r>
              <a:rPr lang="en-US" sz="900" dirty="0">
                <a:solidFill>
                  <a:srgbClr val="E2E8F0"/>
                </a:solidFill>
                <a:latin typeface="Consolas" pitchFamily="34" charset="0"/>
                <a:ea typeface="Consolas" pitchFamily="34" charset="-122"/>
                <a:cs typeface="Consolas" pitchFamily="34" charset="-120"/>
              </a:rPr>
              <a:t> bins=15,</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color=“orange", edgecolor="white",</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linewidth=0.8)</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plt.axvline(scores.mean(),</a:t>
            </a:r>
            <a:r>
              <a:rPr lang="en-US" sz="900" dirty="0">
                <a:solidFill>
                  <a:srgbClr val="E2E8F0"/>
                </a:solidFill>
                <a:latin typeface="Consolas" pitchFamily="34" charset="0"/>
                <a:ea typeface="Consolas" pitchFamily="34" charset="-122"/>
                <a:cs typeface="Consolas" pitchFamily="34" charset="-120"/>
              </a:rPr>
              <a:t> color="red",</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linestyle="--", label="Mean")</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plt.title("Student</a:t>
            </a:r>
            <a:r>
              <a:rPr lang="en-US" sz="900" dirty="0">
                <a:solidFill>
                  <a:srgbClr val="E2E8F0"/>
                </a:solidFill>
                <a:latin typeface="Consolas" pitchFamily="34" charset="0"/>
                <a:ea typeface="Consolas" pitchFamily="34" charset="-122"/>
                <a:cs typeface="Consolas" pitchFamily="34" charset="-120"/>
              </a:rPr>
              <a:t> Exam Score Distribution")</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plt.xlabel("Score")</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plt.ylabel("Frequency")</a:t>
            </a:r>
            <a:r>
              <a:rPr lang="en-US" sz="900" dirty="0">
                <a:solidFill>
                  <a:srgbClr val="000000"/>
                </a:solidFill>
                <a:latin typeface="Consolas" pitchFamily="34" charset="0"/>
                <a:ea typeface="Consolas" pitchFamily="34" charset="-122"/>
                <a:cs typeface="Consolas" pitchFamily="34" charset="-120"/>
              </a:rPr>
              <a:t>
</a:t>
            </a:r>
            <a:r>
              <a:rPr lang="en-US" sz="900" dirty="0" err="1">
                <a:solidFill>
                  <a:srgbClr val="FDE68A"/>
                </a:solidFill>
                <a:latin typeface="Consolas" pitchFamily="34" charset="0"/>
                <a:ea typeface="Consolas" pitchFamily="34" charset="-122"/>
                <a:cs typeface="Consolas" pitchFamily="34" charset="-120"/>
              </a:rPr>
              <a:t>plt.legend</a:t>
            </a:r>
            <a:r>
              <a:rPr lang="en-US" sz="900" dirty="0">
                <a:solidFill>
                  <a:srgbClr val="FDE68A"/>
                </a:solidFill>
                <a:latin typeface="Consolas" pitchFamily="34" charset="0"/>
                <a:ea typeface="Consolas" pitchFamily="34" charset="-122"/>
                <a:cs typeface="Consolas" pitchFamily="34" charset="-120"/>
              </a:rPr>
              <a:t>()</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plt.show()</a:t>
            </a:r>
            <a:endParaRPr lang="en-US" sz="900" dirty="0"/>
          </a:p>
        </p:txBody>
      </p:sp>
      <p:sp>
        <p:nvSpPr>
          <p:cNvPr id="10" name="Text 8"/>
          <p:cNvSpPr/>
          <p:nvPr/>
        </p:nvSpPr>
        <p:spPr>
          <a:xfrm>
            <a:off x="5440680" y="1344168"/>
            <a:ext cx="384048" cy="384048"/>
          </a:xfrm>
          <a:prstGeom prst="rect">
            <a:avLst/>
          </a:prstGeom>
          <a:noFill/>
          <a:ln/>
        </p:spPr>
        <p:txBody>
          <a:bodyPr wrap="square" lIns="0" tIns="0" rIns="0" bIns="0" rtlCol="0" anchor="ctr"/>
          <a:lstStyle/>
          <a:p>
            <a:pPr marL="0" indent="0" algn="ctr">
              <a:buNone/>
            </a:pPr>
            <a:endParaRPr lang="en-US" sz="1100" dirty="0"/>
          </a:p>
        </p:txBody>
      </p:sp>
      <p:sp>
        <p:nvSpPr>
          <p:cNvPr id="11" name="Text 9"/>
          <p:cNvSpPr/>
          <p:nvPr/>
        </p:nvSpPr>
        <p:spPr>
          <a:xfrm>
            <a:off x="5897880" y="1216152"/>
            <a:ext cx="2834640" cy="256032"/>
          </a:xfrm>
          <a:prstGeom prst="rect">
            <a:avLst/>
          </a:prstGeom>
          <a:noFill/>
          <a:ln/>
        </p:spPr>
        <p:txBody>
          <a:bodyPr wrap="square" lIns="0" tIns="0" rIns="0" bIns="0" rtlCol="0" anchor="ctr"/>
          <a:lstStyle/>
          <a:p>
            <a:pPr marL="0" indent="0">
              <a:buNone/>
            </a:pPr>
            <a:endParaRPr lang="en-US" sz="1100" dirty="0"/>
          </a:p>
        </p:txBody>
      </p:sp>
      <p:sp>
        <p:nvSpPr>
          <p:cNvPr id="13" name="Shape 11"/>
          <p:cNvSpPr/>
          <p:nvPr/>
        </p:nvSpPr>
        <p:spPr>
          <a:xfrm>
            <a:off x="5440680" y="1993392"/>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4" name="Shape 12"/>
          <p:cNvSpPr/>
          <p:nvPr/>
        </p:nvSpPr>
        <p:spPr>
          <a:xfrm>
            <a:off x="5440680" y="1993392"/>
            <a:ext cx="384048" cy="777240"/>
          </a:xfrm>
          <a:prstGeom prst="rect">
            <a:avLst/>
          </a:prstGeom>
          <a:solidFill>
            <a:srgbClr val="F59E0B"/>
          </a:solidFill>
          <a:ln w="12700">
            <a:solidFill>
              <a:srgbClr val="F59E0B"/>
            </a:solidFill>
            <a:prstDash val="solid"/>
          </a:ln>
        </p:spPr>
      </p:sp>
      <p:sp>
        <p:nvSpPr>
          <p:cNvPr id="15" name="Text 13"/>
          <p:cNvSpPr/>
          <p:nvPr/>
        </p:nvSpPr>
        <p:spPr>
          <a:xfrm>
            <a:off x="5440680" y="219456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6" name="Text 14"/>
          <p:cNvSpPr/>
          <p:nvPr/>
        </p:nvSpPr>
        <p:spPr>
          <a:xfrm>
            <a:off x="5897880" y="2066544"/>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plt.hist()</a:t>
            </a:r>
            <a:endParaRPr lang="en-US" sz="1100" dirty="0"/>
          </a:p>
        </p:txBody>
      </p:sp>
      <p:sp>
        <p:nvSpPr>
          <p:cNvPr id="17" name="Text 15"/>
          <p:cNvSpPr/>
          <p:nvPr/>
        </p:nvSpPr>
        <p:spPr>
          <a:xfrm>
            <a:off x="5897880" y="2340864"/>
            <a:ext cx="2834640" cy="347472"/>
          </a:xfrm>
          <a:prstGeom prst="rect">
            <a:avLst/>
          </a:prstGeom>
          <a:noFill/>
          <a:ln/>
        </p:spPr>
        <p:txBody>
          <a:bodyPr wrap="square" lIns="0" tIns="0" rIns="0" bIns="0" rtlCol="0" anchor="ctr"/>
          <a:lstStyle/>
          <a:p>
            <a:pPr marL="0" indent="0">
              <a:buNone/>
            </a:pPr>
            <a:r>
              <a:rPr lang="en-US" sz="950" dirty="0">
                <a:solidFill>
                  <a:srgbClr val="475569"/>
                </a:solidFill>
              </a:rPr>
              <a:t>bins=15 controls number of intervals. More bins = more detail, less smoothing.</a:t>
            </a:r>
            <a:endParaRPr lang="en-US" sz="950" dirty="0"/>
          </a:p>
        </p:txBody>
      </p:sp>
      <p:sp>
        <p:nvSpPr>
          <p:cNvPr id="18" name="Shape 16"/>
          <p:cNvSpPr/>
          <p:nvPr/>
        </p:nvSpPr>
        <p:spPr>
          <a:xfrm>
            <a:off x="5440680" y="2843784"/>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9" name="Shape 17"/>
          <p:cNvSpPr/>
          <p:nvPr/>
        </p:nvSpPr>
        <p:spPr>
          <a:xfrm>
            <a:off x="5440680" y="2843784"/>
            <a:ext cx="384048" cy="777240"/>
          </a:xfrm>
          <a:prstGeom prst="rect">
            <a:avLst/>
          </a:prstGeom>
          <a:solidFill>
            <a:srgbClr val="F59E0B"/>
          </a:solidFill>
          <a:ln w="12700">
            <a:solidFill>
              <a:srgbClr val="F59E0B"/>
            </a:solidFill>
            <a:prstDash val="solid"/>
          </a:ln>
        </p:spPr>
      </p:sp>
      <p:sp>
        <p:nvSpPr>
          <p:cNvPr id="20" name="Text 18"/>
          <p:cNvSpPr/>
          <p:nvPr/>
        </p:nvSpPr>
        <p:spPr>
          <a:xfrm>
            <a:off x="5440680" y="304495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21" name="Text 19"/>
          <p:cNvSpPr/>
          <p:nvPr/>
        </p:nvSpPr>
        <p:spPr>
          <a:xfrm>
            <a:off x="5897880" y="2916936"/>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plt.axvline()</a:t>
            </a:r>
            <a:endParaRPr lang="en-US" sz="1100" dirty="0"/>
          </a:p>
        </p:txBody>
      </p:sp>
      <p:sp>
        <p:nvSpPr>
          <p:cNvPr id="22" name="Text 20"/>
          <p:cNvSpPr/>
          <p:nvPr/>
        </p:nvSpPr>
        <p:spPr>
          <a:xfrm>
            <a:off x="5897880" y="3191256"/>
            <a:ext cx="2834640" cy="347472"/>
          </a:xfrm>
          <a:prstGeom prst="rect">
            <a:avLst/>
          </a:prstGeom>
          <a:noFill/>
          <a:ln/>
        </p:spPr>
        <p:txBody>
          <a:bodyPr wrap="square" lIns="0" tIns="0" rIns="0" bIns="0" rtlCol="0" anchor="ctr"/>
          <a:lstStyle/>
          <a:p>
            <a:pPr marL="0" indent="0">
              <a:buNone/>
            </a:pPr>
            <a:r>
              <a:rPr lang="en-US" sz="950" dirty="0">
                <a:solidFill>
                  <a:srgbClr val="475569"/>
                </a:solidFill>
              </a:rPr>
              <a:t>Draws a vertical reference line at the mean value for context.</a:t>
            </a:r>
            <a:endParaRPr lang="en-US" sz="950" dirty="0"/>
          </a:p>
        </p:txBody>
      </p:sp>
      <p:sp>
        <p:nvSpPr>
          <p:cNvPr id="25" name="Text 23"/>
          <p:cNvSpPr/>
          <p:nvPr/>
        </p:nvSpPr>
        <p:spPr>
          <a:xfrm>
            <a:off x="5440680" y="389534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26" name="Text 24"/>
          <p:cNvSpPr/>
          <p:nvPr/>
        </p:nvSpPr>
        <p:spPr>
          <a:xfrm>
            <a:off x="5897880" y="3767328"/>
            <a:ext cx="2834640" cy="256032"/>
          </a:xfrm>
          <a:prstGeom prst="rect">
            <a:avLst/>
          </a:prstGeom>
          <a:noFill/>
          <a:ln/>
        </p:spPr>
        <p:txBody>
          <a:bodyPr wrap="square" lIns="0" tIns="0" rIns="0" bIns="0" rtlCol="0" anchor="ctr"/>
          <a:lstStyle/>
          <a:p>
            <a:pPr marL="0" indent="0">
              <a:buNone/>
            </a:pPr>
            <a:endParaRPr lang="en-US" sz="1100" dirty="0"/>
          </a:p>
        </p:txBody>
      </p:sp>
      <p:sp>
        <p:nvSpPr>
          <p:cNvPr id="27" name="Text 25"/>
          <p:cNvSpPr/>
          <p:nvPr/>
        </p:nvSpPr>
        <p:spPr>
          <a:xfrm>
            <a:off x="5897880" y="4041648"/>
            <a:ext cx="2834640" cy="347472"/>
          </a:xfrm>
          <a:prstGeom prst="rect">
            <a:avLst/>
          </a:prstGeom>
          <a:noFill/>
          <a:ln/>
        </p:spPr>
        <p:txBody>
          <a:bodyPr wrap="square" lIns="0" tIns="0" rIns="0" bIns="0" rtlCol="0" anchor="ctr"/>
          <a:lstStyle/>
          <a:p>
            <a:pPr marL="0" indent="0">
              <a:buNone/>
            </a:pPr>
            <a:endParaRPr lang="en-US" sz="950" dirty="0"/>
          </a:p>
        </p:txBody>
      </p:sp>
      <p:sp>
        <p:nvSpPr>
          <p:cNvPr id="28" name="Text 26"/>
          <p:cNvSpPr/>
          <p:nvPr/>
        </p:nvSpPr>
        <p:spPr>
          <a:xfrm>
            <a:off x="365760" y="4754880"/>
            <a:ext cx="8412480" cy="228600"/>
          </a:xfrm>
          <a:prstGeom prst="rect">
            <a:avLst/>
          </a:prstGeom>
          <a:noFill/>
          <a:ln/>
        </p:spPr>
        <p:txBody>
          <a:bodyPr wrap="square" lIns="0" tIns="0" rIns="0" bIns="0" rtlCol="0" anchor="ctr"/>
          <a:lstStyle/>
          <a:p>
            <a:pPr marL="0" indent="0" algn="ctr">
              <a:buNone/>
            </a:pPr>
            <a:r>
              <a:rPr lang="en-US" sz="900" i="1" dirty="0">
                <a:solidFill>
                  <a:srgbClr val="64748B"/>
                </a:solidFill>
              </a:rPr>
              <a:t>Use density=True to normalize the histogram to a probability density instead of raw frequency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F4444"/>
          </a:solidFill>
          <a:ln w="12700">
            <a:solidFill>
              <a:srgbClr val="EF4444"/>
            </a:solidFill>
            <a:prstDash val="solid"/>
          </a:ln>
        </p:spPr>
      </p:sp>
      <p:sp>
        <p:nvSpPr>
          <p:cNvPr id="3" name="Text 1"/>
          <p:cNvSpPr/>
          <p:nvPr/>
        </p:nvSpPr>
        <p:spPr>
          <a:xfrm>
            <a:off x="365760" y="201168"/>
            <a:ext cx="8595360" cy="50292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Scatter Plot</a:t>
            </a:r>
            <a:endParaRPr lang="en-US" sz="2600" dirty="0"/>
          </a:p>
        </p:txBody>
      </p:sp>
      <p:sp>
        <p:nvSpPr>
          <p:cNvPr id="4" name="Text 2"/>
          <p:cNvSpPr/>
          <p:nvPr/>
        </p:nvSpPr>
        <p:spPr>
          <a:xfrm>
            <a:off x="365760" y="713232"/>
            <a:ext cx="859536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Slide 1 of 2  •  Definition &amp; Overview</a:t>
            </a:r>
            <a:endParaRPr lang="en-US" sz="1200" dirty="0"/>
          </a:p>
        </p:txBody>
      </p:sp>
      <p:sp>
        <p:nvSpPr>
          <p:cNvPr id="5" name="Shape 3"/>
          <p:cNvSpPr/>
          <p:nvPr/>
        </p:nvSpPr>
        <p:spPr>
          <a:xfrm>
            <a:off x="365760" y="1005840"/>
            <a:ext cx="8412480" cy="0"/>
          </a:xfrm>
          <a:prstGeom prst="line">
            <a:avLst/>
          </a:prstGeom>
          <a:noFill/>
          <a:ln w="12700">
            <a:solidFill>
              <a:srgbClr val="E2E8F0"/>
            </a:solidFill>
            <a:prstDash val="solid"/>
          </a:ln>
        </p:spPr>
      </p:sp>
      <p:sp>
        <p:nvSpPr>
          <p:cNvPr id="6" name="Shape 4"/>
          <p:cNvSpPr/>
          <p:nvPr/>
        </p:nvSpPr>
        <p:spPr>
          <a:xfrm>
            <a:off x="365760" y="1143000"/>
            <a:ext cx="5303520" cy="14173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7" name="Text 5"/>
          <p:cNvSpPr/>
          <p:nvPr/>
        </p:nvSpPr>
        <p:spPr>
          <a:xfrm>
            <a:off x="502920" y="1188720"/>
            <a:ext cx="5029200" cy="320040"/>
          </a:xfrm>
          <a:prstGeom prst="rect">
            <a:avLst/>
          </a:prstGeom>
          <a:noFill/>
          <a:ln/>
        </p:spPr>
        <p:txBody>
          <a:bodyPr wrap="square" lIns="0" tIns="0" rIns="0" bIns="0" rtlCol="0" anchor="ctr"/>
          <a:lstStyle/>
          <a:p>
            <a:pPr marL="0" indent="0">
              <a:buNone/>
            </a:pPr>
            <a:r>
              <a:rPr lang="en-US" sz="1300" b="1" dirty="0">
                <a:solidFill>
                  <a:srgbClr val="EF4444"/>
                </a:solidFill>
              </a:rPr>
              <a:t>What is a Scatter Plot?</a:t>
            </a:r>
            <a:endParaRPr lang="en-US" sz="1300" dirty="0"/>
          </a:p>
        </p:txBody>
      </p:sp>
      <p:sp>
        <p:nvSpPr>
          <p:cNvPr id="8" name="Text 6"/>
          <p:cNvSpPr/>
          <p:nvPr/>
        </p:nvSpPr>
        <p:spPr>
          <a:xfrm>
            <a:off x="502920" y="1508760"/>
            <a:ext cx="5029200" cy="914400"/>
          </a:xfrm>
          <a:prstGeom prst="rect">
            <a:avLst/>
          </a:prstGeom>
          <a:noFill/>
          <a:ln/>
        </p:spPr>
        <p:txBody>
          <a:bodyPr wrap="square" lIns="0" tIns="0" rIns="0" bIns="0" rtlCol="0" anchor="ctr"/>
          <a:lstStyle/>
          <a:p>
            <a:pPr marL="0" indent="0">
              <a:buNone/>
            </a:pPr>
            <a:r>
              <a:rPr lang="en-US" sz="1150" dirty="0">
                <a:solidFill>
                  <a:srgbClr val="475569"/>
                </a:solidFill>
              </a:rPr>
              <a:t>A scatter plot uses dots to represent values for two different numeric variables. The position of each dot on the horizontal and vertical axis indicates values for an individual data point, revealing relationships and correlations.</a:t>
            </a:r>
            <a:endParaRPr lang="en-US" sz="1150" dirty="0"/>
          </a:p>
        </p:txBody>
      </p:sp>
      <p:sp>
        <p:nvSpPr>
          <p:cNvPr id="9" name="Shape 7"/>
          <p:cNvSpPr/>
          <p:nvPr/>
        </p:nvSpPr>
        <p:spPr>
          <a:xfrm>
            <a:off x="365760" y="2697480"/>
            <a:ext cx="5303520" cy="15087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0" name="Text 8"/>
          <p:cNvSpPr/>
          <p:nvPr/>
        </p:nvSpPr>
        <p:spPr>
          <a:xfrm>
            <a:off x="502920" y="2743200"/>
            <a:ext cx="5029200" cy="292608"/>
          </a:xfrm>
          <a:prstGeom prst="rect">
            <a:avLst/>
          </a:prstGeom>
          <a:noFill/>
          <a:ln/>
        </p:spPr>
        <p:txBody>
          <a:bodyPr wrap="square" lIns="0" tIns="0" rIns="0" bIns="0" rtlCol="0" anchor="ctr"/>
          <a:lstStyle/>
          <a:p>
            <a:pPr marL="0" indent="0">
              <a:buNone/>
            </a:pPr>
            <a:r>
              <a:rPr lang="en-US" sz="1300" b="1" dirty="0">
                <a:solidFill>
                  <a:srgbClr val="EF4444"/>
                </a:solidFill>
              </a:rPr>
              <a:t>Key Characteristics</a:t>
            </a:r>
            <a:endParaRPr lang="en-US" sz="1300" dirty="0"/>
          </a:p>
        </p:txBody>
      </p:sp>
      <p:sp>
        <p:nvSpPr>
          <p:cNvPr id="11" name="Text 9"/>
          <p:cNvSpPr/>
          <p:nvPr/>
        </p:nvSpPr>
        <p:spPr>
          <a:xfrm>
            <a:off x="502920" y="3063240"/>
            <a:ext cx="5029200" cy="1097280"/>
          </a:xfrm>
          <a:prstGeom prst="rect">
            <a:avLst/>
          </a:prstGeom>
          <a:noFill/>
          <a:ln/>
        </p:spPr>
        <p:txBody>
          <a:bodyPr wrap="square" lIns="0" tIns="0" rIns="0" bIns="0" rtlCol="0" anchor="ctr"/>
          <a:lstStyle/>
          <a:p>
            <a:pPr marL="0" indent="0">
              <a:buNone/>
            </a:pPr>
            <a:r>
              <a:rPr lang="en-US" sz="1100" b="1" dirty="0">
                <a:solidFill>
                  <a:srgbClr val="1E293B"/>
                </a:solidFill>
              </a:rPr>
              <a:t>✔  Best for: </a:t>
            </a:r>
            <a:r>
              <a:rPr lang="en-US" sz="1100" dirty="0">
                <a:solidFill>
                  <a:srgbClr val="475569"/>
                </a:solidFill>
              </a:rPr>
              <a:t>Showing correlation between two variables
</a:t>
            </a:r>
            <a:r>
              <a:rPr lang="en-US" sz="1100" b="1" dirty="0">
                <a:solidFill>
                  <a:srgbClr val="1E293B"/>
                </a:solidFill>
              </a:rPr>
              <a:t>✔  Correlation types: </a:t>
            </a:r>
            <a:r>
              <a:rPr lang="en-US" sz="1100" dirty="0">
                <a:solidFill>
                  <a:srgbClr val="475569"/>
                </a:solidFill>
              </a:rPr>
              <a:t>Positive, Negative, or No correlation
</a:t>
            </a:r>
            <a:r>
              <a:rPr lang="en-US" sz="1100" b="1" dirty="0">
                <a:solidFill>
                  <a:srgbClr val="1E293B"/>
                </a:solidFill>
              </a:rPr>
              <a:t>✔  Extra info: </a:t>
            </a:r>
            <a:r>
              <a:rPr lang="en-US" sz="1100" dirty="0">
                <a:solidFill>
                  <a:srgbClr val="475569"/>
                </a:solidFill>
              </a:rPr>
              <a:t>Point size/color can encode a 3rd variable
</a:t>
            </a:r>
            <a:r>
              <a:rPr lang="en-US" sz="1100" b="1" dirty="0">
                <a:solidFill>
                  <a:srgbClr val="1E293B"/>
                </a:solidFill>
              </a:rPr>
              <a:t>✔  Use with: </a:t>
            </a:r>
            <a:r>
              <a:rPr lang="en-US" sz="1100" dirty="0">
                <a:solidFill>
                  <a:srgbClr val="475569"/>
                </a:solidFill>
              </a:rPr>
              <a:t>Trend lines to show overall patterns</a:t>
            </a:r>
            <a:endParaRPr lang="en-US" sz="1100" dirty="0"/>
          </a:p>
        </p:txBody>
      </p:sp>
      <p:graphicFrame>
        <p:nvGraphicFramePr>
          <p:cNvPr id="12" name="Chart 0"/>
          <p:cNvGraphicFramePr/>
          <p:nvPr/>
        </p:nvGraphicFramePr>
        <p:xfrm>
          <a:off x="5897880" y="1143000"/>
          <a:ext cx="301752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p:nvPr/>
        </p:nvSpPr>
        <p:spPr>
          <a:xfrm>
            <a:off x="5897880" y="4251960"/>
            <a:ext cx="3017520" cy="228600"/>
          </a:xfrm>
          <a:prstGeom prst="rect">
            <a:avLst/>
          </a:prstGeom>
          <a:noFill/>
          <a:ln/>
        </p:spPr>
        <p:txBody>
          <a:bodyPr wrap="square" lIns="0" tIns="0" rIns="0" bIns="0" rtlCol="0" anchor="ctr"/>
          <a:lstStyle/>
          <a:p>
            <a:pPr marL="0" indent="0" algn="ctr">
              <a:buNone/>
            </a:pPr>
            <a:r>
              <a:rPr lang="en-US" sz="850" i="1" dirty="0">
                <a:solidFill>
                  <a:srgbClr val="64748B"/>
                </a:solidFill>
              </a:rPr>
              <a:t>Example: Hours studied vs exam score — positive correlation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F4444"/>
          </a:solidFill>
          <a:ln w="12700">
            <a:solidFill>
              <a:srgbClr val="EF4444"/>
            </a:solidFill>
            <a:prstDash val="solid"/>
          </a:ln>
        </p:spPr>
      </p:sp>
      <p:sp>
        <p:nvSpPr>
          <p:cNvPr id="3" name="Text 1"/>
          <p:cNvSpPr/>
          <p:nvPr/>
        </p:nvSpPr>
        <p:spPr>
          <a:xfrm>
            <a:off x="365760" y="201168"/>
            <a:ext cx="8595360" cy="50292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Scatter Plot</a:t>
            </a:r>
            <a:endParaRPr lang="en-US" sz="2600" dirty="0"/>
          </a:p>
        </p:txBody>
      </p:sp>
      <p:sp>
        <p:nvSpPr>
          <p:cNvPr id="4" name="Text 2"/>
          <p:cNvSpPr/>
          <p:nvPr/>
        </p:nvSpPr>
        <p:spPr>
          <a:xfrm>
            <a:off x="365760" y="713232"/>
            <a:ext cx="859536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Slide 2 of 2  •  Code &amp; Explanation</a:t>
            </a:r>
            <a:endParaRPr lang="en-US" sz="1200" dirty="0"/>
          </a:p>
        </p:txBody>
      </p:sp>
      <p:sp>
        <p:nvSpPr>
          <p:cNvPr id="5" name="Shape 3"/>
          <p:cNvSpPr/>
          <p:nvPr/>
        </p:nvSpPr>
        <p:spPr>
          <a:xfrm>
            <a:off x="365760" y="1005840"/>
            <a:ext cx="8412480" cy="0"/>
          </a:xfrm>
          <a:prstGeom prst="line">
            <a:avLst/>
          </a:prstGeom>
          <a:noFill/>
          <a:ln w="12700">
            <a:solidFill>
              <a:srgbClr val="E2E8F0"/>
            </a:solidFill>
            <a:prstDash val="solid"/>
          </a:ln>
        </p:spPr>
      </p:sp>
      <p:sp>
        <p:nvSpPr>
          <p:cNvPr id="6" name="Shape 4"/>
          <p:cNvSpPr/>
          <p:nvPr/>
        </p:nvSpPr>
        <p:spPr>
          <a:xfrm>
            <a:off x="365760" y="1143000"/>
            <a:ext cx="4937760" cy="3566160"/>
          </a:xfrm>
          <a:prstGeom prst="rect">
            <a:avLst/>
          </a:prstGeom>
          <a:solidFill>
            <a:srgbClr val="0F172A"/>
          </a:solidFill>
          <a:ln w="12700">
            <a:solidFill>
              <a:srgbClr val="334155"/>
            </a:solidFill>
            <a:prstDash val="solid"/>
          </a:ln>
          <a:effectLst>
            <a:outerShdw blurRad="101600" dist="38100" dir="8100000" algn="bl" rotWithShape="0">
              <a:srgbClr val="000000">
                <a:alpha val="10000"/>
              </a:srgbClr>
            </a:outerShdw>
          </a:effectLst>
        </p:spPr>
      </p:sp>
      <p:sp>
        <p:nvSpPr>
          <p:cNvPr id="7" name="Text 5"/>
          <p:cNvSpPr/>
          <p:nvPr/>
        </p:nvSpPr>
        <p:spPr>
          <a:xfrm>
            <a:off x="475488" y="1216152"/>
            <a:ext cx="4718304" cy="3419856"/>
          </a:xfrm>
          <a:prstGeom prst="rect">
            <a:avLst/>
          </a:prstGeom>
          <a:noFill/>
          <a:ln/>
        </p:spPr>
        <p:txBody>
          <a:bodyPr wrap="square" lIns="0" tIns="0" rIns="0" bIns="0" rtlCol="0" anchor="t"/>
          <a:lstStyle/>
          <a:p>
            <a:pPr marL="0" indent="0">
              <a:buNone/>
            </a:pPr>
            <a:r>
              <a:rPr lang="en-US" sz="900" dirty="0">
                <a:solidFill>
                  <a:srgbClr val="C084FC"/>
                </a:solidFill>
                <a:latin typeface="Consolas" pitchFamily="34" charset="0"/>
                <a:ea typeface="Consolas" pitchFamily="34" charset="-122"/>
                <a:cs typeface="Consolas" pitchFamily="34" charset="-120"/>
              </a:rPr>
              <a:t>import</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matplotlib.pyplot</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C084FC"/>
                </a:solidFill>
                <a:latin typeface="Consolas" pitchFamily="34" charset="0"/>
                <a:ea typeface="Consolas" pitchFamily="34" charset="-122"/>
                <a:cs typeface="Consolas" pitchFamily="34" charset="-120"/>
              </a:rPr>
              <a:t>as</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38BDF8"/>
                </a:solidFill>
                <a:latin typeface="Consolas" pitchFamily="34" charset="0"/>
                <a:ea typeface="Consolas" pitchFamily="34" charset="-122"/>
                <a:cs typeface="Consolas" pitchFamily="34" charset="-120"/>
              </a:rPr>
              <a:t>plt</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C084FC"/>
                </a:solidFill>
                <a:latin typeface="Consolas" pitchFamily="34" charset="0"/>
                <a:ea typeface="Consolas" pitchFamily="34" charset="-122"/>
                <a:cs typeface="Consolas" pitchFamily="34" charset="-120"/>
              </a:rPr>
              <a:t>import</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38BDF8"/>
                </a:solidFill>
                <a:latin typeface="Consolas" pitchFamily="34" charset="0"/>
                <a:ea typeface="Consolas" pitchFamily="34" charset="-122"/>
                <a:cs typeface="Consolas" pitchFamily="34" charset="-120"/>
              </a:rPr>
              <a:t>numpy</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C084FC"/>
                </a:solidFill>
                <a:latin typeface="Consolas" pitchFamily="34" charset="0"/>
                <a:ea typeface="Consolas" pitchFamily="34" charset="-122"/>
                <a:cs typeface="Consolas" pitchFamily="34" charset="-120"/>
              </a:rPr>
              <a:t>as</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38BDF8"/>
                </a:solidFill>
                <a:latin typeface="Consolas" pitchFamily="34" charset="0"/>
                <a:ea typeface="Consolas" pitchFamily="34" charset="-122"/>
                <a:cs typeface="Consolas" pitchFamily="34" charset="-120"/>
              </a:rPr>
              <a:t>np</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hours = [22,25,30,35,38,42,45,48,52,55,60,</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B923C"/>
                </a:solidFill>
                <a:latin typeface="Consolas" pitchFamily="34" charset="0"/>
                <a:ea typeface="Consolas" pitchFamily="34" charset="-122"/>
                <a:cs typeface="Consolas" pitchFamily="34" charset="-120"/>
              </a:rPr>
              <a:t>62,65,70,72]</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scores= [45,52,58,63,68,75,80,85,90,93,97,</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B923C"/>
                </a:solidFill>
                <a:latin typeface="Consolas" pitchFamily="34" charset="0"/>
                <a:ea typeface="Consolas" pitchFamily="34" charset="-122"/>
                <a:cs typeface="Consolas" pitchFamily="34" charset="-120"/>
              </a:rPr>
              <a:t>100,104,110,115]</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plt.figure(figsize=(8,</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B923C"/>
                </a:solidFill>
                <a:latin typeface="Consolas" pitchFamily="34" charset="0"/>
                <a:ea typeface="Consolas" pitchFamily="34" charset="-122"/>
                <a:cs typeface="Consolas" pitchFamily="34" charset="-120"/>
              </a:rPr>
              <a:t>5))</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plt.scatter(hours,</a:t>
            </a:r>
            <a:r>
              <a:rPr lang="en-US" sz="900" dirty="0">
                <a:solidFill>
                  <a:srgbClr val="E2E8F0"/>
                </a:solidFill>
                <a:latin typeface="Consolas" pitchFamily="34" charset="0"/>
                <a:ea typeface="Consolas" pitchFamily="34" charset="-122"/>
                <a:cs typeface="Consolas" pitchFamily="34" charset="-120"/>
              </a:rPr>
              <a:t> scores, color="#EF4444",</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s=80, </a:t>
            </a:r>
            <a:r>
              <a:rPr lang="en-US" sz="900" dirty="0">
                <a:solidFill>
                  <a:srgbClr val="FDE68A"/>
                </a:solidFill>
                <a:latin typeface="Consolas" pitchFamily="34" charset="0"/>
                <a:ea typeface="Consolas" pitchFamily="34" charset="-122"/>
                <a:cs typeface="Consolas" pitchFamily="34" charset="-120"/>
              </a:rPr>
              <a:t>alpha=0.8,</a:t>
            </a:r>
            <a:r>
              <a:rPr lang="en-US" sz="900" dirty="0">
                <a:solidFill>
                  <a:srgbClr val="E2E8F0"/>
                </a:solidFill>
                <a:latin typeface="Consolas" pitchFamily="34" charset="0"/>
                <a:ea typeface="Consolas" pitchFamily="34" charset="-122"/>
                <a:cs typeface="Consolas" pitchFamily="34" charset="-120"/>
              </a:rPr>
              <a:t> edgecolors="white",</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linewidth=0.8)</a:t>
            </a:r>
            <a:r>
              <a:rPr lang="en-US" sz="900" dirty="0">
                <a:solidFill>
                  <a:srgbClr val="000000"/>
                </a:solidFill>
                <a:latin typeface="Consolas" pitchFamily="34" charset="0"/>
                <a:ea typeface="Consolas" pitchFamily="34" charset="-122"/>
                <a:cs typeface="Consolas" pitchFamily="34" charset="-120"/>
              </a:rPr>
              <a:t>
</a:t>
            </a:r>
            <a:r>
              <a:rPr lang="en-US" sz="900" i="1" dirty="0">
                <a:solidFill>
                  <a:srgbClr val="6B7280"/>
                </a:solidFill>
                <a:latin typeface="Consolas" pitchFamily="34" charset="0"/>
                <a:ea typeface="Consolas" pitchFamily="34" charset="-122"/>
                <a:cs typeface="Consolas" pitchFamily="34" charset="-120"/>
              </a:rPr>
              <a:t># Trend line (linear regression)</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m, b = </a:t>
            </a:r>
            <a:r>
              <a:rPr lang="en-US" sz="900" dirty="0">
                <a:solidFill>
                  <a:srgbClr val="FDE68A"/>
                </a:solidFill>
                <a:latin typeface="Consolas" pitchFamily="34" charset="0"/>
                <a:ea typeface="Consolas" pitchFamily="34" charset="-122"/>
                <a:cs typeface="Consolas" pitchFamily="34" charset="-120"/>
              </a:rPr>
              <a:t>np.polyfit(hours,</a:t>
            </a:r>
            <a:r>
              <a:rPr lang="en-US" sz="900" dirty="0">
                <a:solidFill>
                  <a:srgbClr val="E2E8F0"/>
                </a:solidFill>
                <a:latin typeface="Consolas" pitchFamily="34" charset="0"/>
                <a:ea typeface="Consolas" pitchFamily="34" charset="-122"/>
                <a:cs typeface="Consolas" pitchFamily="34" charset="-120"/>
              </a:rPr>
              <a:t> scores, </a:t>
            </a:r>
            <a:r>
              <a:rPr lang="en-US" sz="900" dirty="0">
                <a:solidFill>
                  <a:srgbClr val="FB923C"/>
                </a:solidFill>
                <a:latin typeface="Consolas" pitchFamily="34" charset="0"/>
                <a:ea typeface="Consolas" pitchFamily="34" charset="-122"/>
                <a:cs typeface="Consolas" pitchFamily="34" charset="-120"/>
              </a:rPr>
              <a:t>1)</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E2E8F0"/>
                </a:solidFill>
                <a:latin typeface="Consolas" pitchFamily="34" charset="0"/>
                <a:ea typeface="Consolas" pitchFamily="34" charset="-122"/>
                <a:cs typeface="Consolas" pitchFamily="34" charset="-120"/>
              </a:rPr>
              <a:t>x_fit = </a:t>
            </a:r>
            <a:r>
              <a:rPr lang="en-US" sz="900" dirty="0">
                <a:solidFill>
                  <a:srgbClr val="FDE68A"/>
                </a:solidFill>
                <a:latin typeface="Consolas" pitchFamily="34" charset="0"/>
                <a:ea typeface="Consolas" pitchFamily="34" charset="-122"/>
                <a:cs typeface="Consolas" pitchFamily="34" charset="-120"/>
              </a:rPr>
              <a:t>np.linspace(min(hours),</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max(hours),100)</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plt.plot(x_fit,</a:t>
            </a:r>
            <a:r>
              <a:rPr lang="en-US" sz="900" dirty="0">
                <a:solidFill>
                  <a:srgbClr val="E2E8F0"/>
                </a:solidFill>
                <a:latin typeface="Consolas" pitchFamily="34" charset="0"/>
                <a:ea typeface="Consolas" pitchFamily="34" charset="-122"/>
                <a:cs typeface="Consolas" pitchFamily="34" charset="-120"/>
              </a:rPr>
              <a:t> m*x_fit + b, </a:t>
            </a:r>
            <a:r>
              <a:rPr lang="en-US" sz="900" dirty="0">
                <a:solidFill>
                  <a:srgbClr val="86EFAC"/>
                </a:solidFill>
                <a:latin typeface="Consolas" pitchFamily="34" charset="0"/>
                <a:ea typeface="Consolas" pitchFamily="34" charset="-122"/>
                <a:cs typeface="Consolas" pitchFamily="34" charset="-120"/>
              </a:rPr>
              <a:t>"r--",</a:t>
            </a:r>
            <a:r>
              <a:rPr lang="en-US" sz="900" dirty="0">
                <a:solidFill>
                  <a:srgbClr val="E2E8F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alpha=0.6)</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plt.title("Study</a:t>
            </a:r>
            <a:r>
              <a:rPr lang="en-US" sz="900" dirty="0">
                <a:solidFill>
                  <a:srgbClr val="E2E8F0"/>
                </a:solidFill>
                <a:latin typeface="Consolas" pitchFamily="34" charset="0"/>
                <a:ea typeface="Consolas" pitchFamily="34" charset="-122"/>
                <a:cs typeface="Consolas" pitchFamily="34" charset="-120"/>
              </a:rPr>
              <a:t> Hours vs Exam Score")</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plt.xlabel("Hours</a:t>
            </a:r>
            <a:r>
              <a:rPr lang="en-US" sz="900" dirty="0">
                <a:solidFill>
                  <a:srgbClr val="E2E8F0"/>
                </a:solidFill>
                <a:latin typeface="Consolas" pitchFamily="34" charset="0"/>
                <a:ea typeface="Consolas" pitchFamily="34" charset="-122"/>
                <a:cs typeface="Consolas" pitchFamily="34" charset="-120"/>
              </a:rPr>
              <a:t> Studied")</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plt.ylabel("Exam</a:t>
            </a:r>
            <a:r>
              <a:rPr lang="en-US" sz="900" dirty="0">
                <a:solidFill>
                  <a:srgbClr val="E2E8F0"/>
                </a:solidFill>
                <a:latin typeface="Consolas" pitchFamily="34" charset="0"/>
                <a:ea typeface="Consolas" pitchFamily="34" charset="-122"/>
                <a:cs typeface="Consolas" pitchFamily="34" charset="-120"/>
              </a:rPr>
              <a:t> Score")</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plt.tight_layout()</a:t>
            </a:r>
            <a:r>
              <a:rPr lang="en-US" sz="900" dirty="0">
                <a:solidFill>
                  <a:srgbClr val="000000"/>
                </a:solidFill>
                <a:latin typeface="Consolas" pitchFamily="34" charset="0"/>
                <a:ea typeface="Consolas" pitchFamily="34" charset="-122"/>
                <a:cs typeface="Consolas" pitchFamily="34" charset="-120"/>
              </a:rPr>
              <a:t>
</a:t>
            </a:r>
            <a:r>
              <a:rPr lang="en-US" sz="900" dirty="0">
                <a:solidFill>
                  <a:srgbClr val="FDE68A"/>
                </a:solidFill>
                <a:latin typeface="Consolas" pitchFamily="34" charset="0"/>
                <a:ea typeface="Consolas" pitchFamily="34" charset="-122"/>
                <a:cs typeface="Consolas" pitchFamily="34" charset="-120"/>
              </a:rPr>
              <a:t>plt.show()</a:t>
            </a:r>
            <a:endParaRPr lang="en-US" sz="900" dirty="0"/>
          </a:p>
        </p:txBody>
      </p:sp>
      <p:sp>
        <p:nvSpPr>
          <p:cNvPr id="8" name="Shape 6"/>
          <p:cNvSpPr/>
          <p:nvPr/>
        </p:nvSpPr>
        <p:spPr>
          <a:xfrm>
            <a:off x="5440680" y="1143000"/>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9" name="Shape 7"/>
          <p:cNvSpPr/>
          <p:nvPr/>
        </p:nvSpPr>
        <p:spPr>
          <a:xfrm>
            <a:off x="5440680" y="1143000"/>
            <a:ext cx="384048" cy="777240"/>
          </a:xfrm>
          <a:prstGeom prst="rect">
            <a:avLst/>
          </a:prstGeom>
          <a:solidFill>
            <a:srgbClr val="EF4444"/>
          </a:solidFill>
          <a:ln w="12700">
            <a:solidFill>
              <a:srgbClr val="EF4444"/>
            </a:solidFill>
            <a:prstDash val="solid"/>
          </a:ln>
        </p:spPr>
      </p:sp>
      <p:sp>
        <p:nvSpPr>
          <p:cNvPr id="10" name="Text 8"/>
          <p:cNvSpPr/>
          <p:nvPr/>
        </p:nvSpPr>
        <p:spPr>
          <a:xfrm>
            <a:off x="5440680" y="134416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1" name="Text 9"/>
          <p:cNvSpPr/>
          <p:nvPr/>
        </p:nvSpPr>
        <p:spPr>
          <a:xfrm>
            <a:off x="5897880" y="1216152"/>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plt.scatter()</a:t>
            </a:r>
            <a:endParaRPr lang="en-US" sz="1100" dirty="0"/>
          </a:p>
        </p:txBody>
      </p:sp>
      <p:sp>
        <p:nvSpPr>
          <p:cNvPr id="12" name="Text 10"/>
          <p:cNvSpPr/>
          <p:nvPr/>
        </p:nvSpPr>
        <p:spPr>
          <a:xfrm>
            <a:off x="5897880" y="1490472"/>
            <a:ext cx="2834640" cy="347472"/>
          </a:xfrm>
          <a:prstGeom prst="rect">
            <a:avLst/>
          </a:prstGeom>
          <a:noFill/>
          <a:ln/>
        </p:spPr>
        <p:txBody>
          <a:bodyPr wrap="square" lIns="0" tIns="0" rIns="0" bIns="0" rtlCol="0" anchor="ctr"/>
          <a:lstStyle/>
          <a:p>
            <a:pPr marL="0" indent="0">
              <a:buNone/>
            </a:pPr>
            <a:r>
              <a:rPr lang="en-US" sz="950" dirty="0">
                <a:solidFill>
                  <a:srgbClr val="475569"/>
                </a:solidFill>
              </a:rPr>
              <a:t>s= controls dot size in points². edgecolors adds a thin border around each marker.</a:t>
            </a:r>
            <a:endParaRPr lang="en-US" sz="950" dirty="0"/>
          </a:p>
        </p:txBody>
      </p:sp>
      <p:sp>
        <p:nvSpPr>
          <p:cNvPr id="13" name="Shape 11"/>
          <p:cNvSpPr/>
          <p:nvPr/>
        </p:nvSpPr>
        <p:spPr>
          <a:xfrm>
            <a:off x="5440680" y="1993392"/>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4" name="Shape 12"/>
          <p:cNvSpPr/>
          <p:nvPr/>
        </p:nvSpPr>
        <p:spPr>
          <a:xfrm>
            <a:off x="5440680" y="1993392"/>
            <a:ext cx="384048" cy="777240"/>
          </a:xfrm>
          <a:prstGeom prst="rect">
            <a:avLst/>
          </a:prstGeom>
          <a:solidFill>
            <a:srgbClr val="EF4444"/>
          </a:solidFill>
          <a:ln w="12700">
            <a:solidFill>
              <a:srgbClr val="EF4444"/>
            </a:solidFill>
            <a:prstDash val="solid"/>
          </a:ln>
        </p:spPr>
      </p:sp>
      <p:sp>
        <p:nvSpPr>
          <p:cNvPr id="15" name="Text 13"/>
          <p:cNvSpPr/>
          <p:nvPr/>
        </p:nvSpPr>
        <p:spPr>
          <a:xfrm>
            <a:off x="5440680" y="219456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6" name="Text 14"/>
          <p:cNvSpPr/>
          <p:nvPr/>
        </p:nvSpPr>
        <p:spPr>
          <a:xfrm>
            <a:off x="5897880" y="2066544"/>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np.polyfit()</a:t>
            </a:r>
            <a:endParaRPr lang="en-US" sz="1100" dirty="0"/>
          </a:p>
        </p:txBody>
      </p:sp>
      <p:sp>
        <p:nvSpPr>
          <p:cNvPr id="17" name="Text 15"/>
          <p:cNvSpPr/>
          <p:nvPr/>
        </p:nvSpPr>
        <p:spPr>
          <a:xfrm>
            <a:off x="5897880" y="2340864"/>
            <a:ext cx="2834640" cy="347472"/>
          </a:xfrm>
          <a:prstGeom prst="rect">
            <a:avLst/>
          </a:prstGeom>
          <a:noFill/>
          <a:ln/>
        </p:spPr>
        <p:txBody>
          <a:bodyPr wrap="square" lIns="0" tIns="0" rIns="0" bIns="0" rtlCol="0" anchor="ctr"/>
          <a:lstStyle/>
          <a:p>
            <a:pPr marL="0" indent="0">
              <a:buNone/>
            </a:pPr>
            <a:r>
              <a:rPr lang="en-US" sz="950" dirty="0">
                <a:solidFill>
                  <a:srgbClr val="475569"/>
                </a:solidFill>
              </a:rPr>
              <a:t>Computes a best-fit polynomial (degree 1 = line). Returns slope m and intercept b.</a:t>
            </a:r>
            <a:endParaRPr lang="en-US" sz="950" dirty="0"/>
          </a:p>
        </p:txBody>
      </p:sp>
      <p:sp>
        <p:nvSpPr>
          <p:cNvPr id="18" name="Shape 16"/>
          <p:cNvSpPr/>
          <p:nvPr/>
        </p:nvSpPr>
        <p:spPr>
          <a:xfrm>
            <a:off x="5440680" y="2843784"/>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9" name="Shape 17"/>
          <p:cNvSpPr/>
          <p:nvPr/>
        </p:nvSpPr>
        <p:spPr>
          <a:xfrm>
            <a:off x="5440680" y="2843784"/>
            <a:ext cx="384048" cy="777240"/>
          </a:xfrm>
          <a:prstGeom prst="rect">
            <a:avLst/>
          </a:prstGeom>
          <a:solidFill>
            <a:srgbClr val="EF4444"/>
          </a:solidFill>
          <a:ln w="12700">
            <a:solidFill>
              <a:srgbClr val="EF4444"/>
            </a:solidFill>
            <a:prstDash val="solid"/>
          </a:ln>
        </p:spPr>
      </p:sp>
      <p:sp>
        <p:nvSpPr>
          <p:cNvPr id="20" name="Text 18"/>
          <p:cNvSpPr/>
          <p:nvPr/>
        </p:nvSpPr>
        <p:spPr>
          <a:xfrm>
            <a:off x="5440680" y="304495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1" name="Text 19"/>
          <p:cNvSpPr/>
          <p:nvPr/>
        </p:nvSpPr>
        <p:spPr>
          <a:xfrm>
            <a:off x="5897880" y="2916936"/>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np.linspace()</a:t>
            </a:r>
            <a:endParaRPr lang="en-US" sz="1100" dirty="0"/>
          </a:p>
        </p:txBody>
      </p:sp>
      <p:sp>
        <p:nvSpPr>
          <p:cNvPr id="22" name="Text 20"/>
          <p:cNvSpPr/>
          <p:nvPr/>
        </p:nvSpPr>
        <p:spPr>
          <a:xfrm>
            <a:off x="5897880" y="3191256"/>
            <a:ext cx="2834640" cy="347472"/>
          </a:xfrm>
          <a:prstGeom prst="rect">
            <a:avLst/>
          </a:prstGeom>
          <a:noFill/>
          <a:ln/>
        </p:spPr>
        <p:txBody>
          <a:bodyPr wrap="square" lIns="0" tIns="0" rIns="0" bIns="0" rtlCol="0" anchor="ctr"/>
          <a:lstStyle/>
          <a:p>
            <a:pPr marL="0" indent="0">
              <a:buNone/>
            </a:pPr>
            <a:r>
              <a:rPr lang="en-US" sz="950" dirty="0">
                <a:solidFill>
                  <a:srgbClr val="475569"/>
                </a:solidFill>
              </a:rPr>
              <a:t>Creates 100 evenly-spaced x values for a smooth trend line curve.</a:t>
            </a:r>
            <a:endParaRPr lang="en-US" sz="950" dirty="0"/>
          </a:p>
        </p:txBody>
      </p:sp>
      <p:sp>
        <p:nvSpPr>
          <p:cNvPr id="23" name="Shape 21"/>
          <p:cNvSpPr/>
          <p:nvPr/>
        </p:nvSpPr>
        <p:spPr>
          <a:xfrm>
            <a:off x="5440680" y="3694176"/>
            <a:ext cx="3429000"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4" name="Shape 22"/>
          <p:cNvSpPr/>
          <p:nvPr/>
        </p:nvSpPr>
        <p:spPr>
          <a:xfrm>
            <a:off x="5440680" y="3694176"/>
            <a:ext cx="384048" cy="777240"/>
          </a:xfrm>
          <a:prstGeom prst="rect">
            <a:avLst/>
          </a:prstGeom>
          <a:solidFill>
            <a:srgbClr val="EF4444"/>
          </a:solidFill>
          <a:ln w="12700">
            <a:solidFill>
              <a:srgbClr val="EF4444"/>
            </a:solidFill>
            <a:prstDash val="solid"/>
          </a:ln>
        </p:spPr>
      </p:sp>
      <p:sp>
        <p:nvSpPr>
          <p:cNvPr id="25" name="Text 23"/>
          <p:cNvSpPr/>
          <p:nvPr/>
        </p:nvSpPr>
        <p:spPr>
          <a:xfrm>
            <a:off x="5440680" y="389534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26" name="Text 24"/>
          <p:cNvSpPr/>
          <p:nvPr/>
        </p:nvSpPr>
        <p:spPr>
          <a:xfrm>
            <a:off x="5897880" y="3767328"/>
            <a:ext cx="2834640" cy="256032"/>
          </a:xfrm>
          <a:prstGeom prst="rect">
            <a:avLst/>
          </a:prstGeom>
          <a:noFill/>
          <a:ln/>
        </p:spPr>
        <p:txBody>
          <a:bodyPr wrap="square" lIns="0" tIns="0" rIns="0" bIns="0" rtlCol="0" anchor="ctr"/>
          <a:lstStyle/>
          <a:p>
            <a:pPr marL="0" indent="0">
              <a:buNone/>
            </a:pPr>
            <a:r>
              <a:rPr lang="en-US" sz="1100" b="1" dirty="0">
                <a:solidFill>
                  <a:srgbClr val="1E293B"/>
                </a:solidFill>
              </a:rPr>
              <a:t>c= &amp; cmap=</a:t>
            </a:r>
            <a:endParaRPr lang="en-US" sz="1100" dirty="0"/>
          </a:p>
        </p:txBody>
      </p:sp>
      <p:sp>
        <p:nvSpPr>
          <p:cNvPr id="27" name="Text 25"/>
          <p:cNvSpPr/>
          <p:nvPr/>
        </p:nvSpPr>
        <p:spPr>
          <a:xfrm>
            <a:off x="5897880" y="4041648"/>
            <a:ext cx="2834640" cy="347472"/>
          </a:xfrm>
          <a:prstGeom prst="rect">
            <a:avLst/>
          </a:prstGeom>
          <a:noFill/>
          <a:ln/>
        </p:spPr>
        <p:txBody>
          <a:bodyPr wrap="square" lIns="0" tIns="0" rIns="0" bIns="0" rtlCol="0" anchor="ctr"/>
          <a:lstStyle/>
          <a:p>
            <a:pPr marL="0" indent="0">
              <a:buNone/>
            </a:pPr>
            <a:r>
              <a:rPr lang="en-US" sz="950" dirty="0">
                <a:solidFill>
                  <a:srgbClr val="475569"/>
                </a:solidFill>
              </a:rPr>
              <a:t>Pass a third data array to c= and set cmap= for colour-coded bubble charts.</a:t>
            </a:r>
            <a:endParaRPr lang="en-US" sz="950" dirty="0"/>
          </a:p>
        </p:txBody>
      </p:sp>
      <p:sp>
        <p:nvSpPr>
          <p:cNvPr id="28" name="Text 26"/>
          <p:cNvSpPr/>
          <p:nvPr/>
        </p:nvSpPr>
        <p:spPr>
          <a:xfrm>
            <a:off x="365760" y="4754880"/>
            <a:ext cx="8412480" cy="228600"/>
          </a:xfrm>
          <a:prstGeom prst="rect">
            <a:avLst/>
          </a:prstGeom>
          <a:noFill/>
          <a:ln/>
        </p:spPr>
        <p:txBody>
          <a:bodyPr wrap="square" lIns="0" tIns="0" rIns="0" bIns="0" rtlCol="0" anchor="ctr"/>
          <a:lstStyle/>
          <a:p>
            <a:pPr marL="0" indent="0" algn="ctr">
              <a:buNone/>
            </a:pPr>
            <a:r>
              <a:rPr lang="en-US" sz="900" i="1" dirty="0">
                <a:solidFill>
                  <a:srgbClr val="64748B"/>
                </a:solidFill>
              </a:rPr>
              <a:t>plt.annotate() can label specific points of interest directly on the scatter plot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8BDF8"/>
          </a:solidFill>
          <a:ln w="12700">
            <a:solidFill>
              <a:srgbClr val="38BDF8"/>
            </a:solidFill>
            <a:prstDash val="solid"/>
          </a:ln>
        </p:spPr>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Conclusion  Matplotlib</a:t>
            </a:r>
            <a:endParaRPr lang="en-US" sz="3600" dirty="0"/>
          </a:p>
        </p:txBody>
      </p:sp>
      <p:sp>
        <p:nvSpPr>
          <p:cNvPr id="4" name="Text 2"/>
          <p:cNvSpPr/>
          <p:nvPr/>
        </p:nvSpPr>
        <p:spPr>
          <a:xfrm>
            <a:off x="457200" y="841248"/>
            <a:ext cx="8229600" cy="320040"/>
          </a:xfrm>
          <a:prstGeom prst="rect">
            <a:avLst/>
          </a:prstGeom>
          <a:noFill/>
          <a:ln/>
        </p:spPr>
        <p:txBody>
          <a:bodyPr wrap="square" lIns="0" tIns="0" rIns="0" bIns="0" rtlCol="0" anchor="ctr"/>
          <a:lstStyle/>
          <a:p>
            <a:pPr marL="0" indent="0">
              <a:buNone/>
            </a:pPr>
            <a:endParaRPr lang="en-US" sz="1400" dirty="0"/>
          </a:p>
        </p:txBody>
      </p:sp>
      <p:sp>
        <p:nvSpPr>
          <p:cNvPr id="5" name="Shape 3"/>
          <p:cNvSpPr/>
          <p:nvPr/>
        </p:nvSpPr>
        <p:spPr>
          <a:xfrm>
            <a:off x="448056" y="822960"/>
            <a:ext cx="8229600" cy="0"/>
          </a:xfrm>
          <a:prstGeom prst="line">
            <a:avLst/>
          </a:prstGeom>
          <a:noFill/>
          <a:ln w="12700">
            <a:solidFill>
              <a:srgbClr val="334155"/>
            </a:solidFill>
            <a:prstDash val="solid"/>
          </a:ln>
        </p:spPr>
      </p:sp>
      <p:sp>
        <p:nvSpPr>
          <p:cNvPr id="8" name="Text 6"/>
          <p:cNvSpPr/>
          <p:nvPr/>
        </p:nvSpPr>
        <p:spPr>
          <a:xfrm>
            <a:off x="457200" y="1417320"/>
            <a:ext cx="1828800" cy="201168"/>
          </a:xfrm>
          <a:prstGeom prst="rect">
            <a:avLst/>
          </a:prstGeom>
          <a:noFill/>
          <a:ln/>
        </p:spPr>
        <p:txBody>
          <a:bodyPr wrap="square" lIns="0" tIns="0" rIns="0" bIns="0" rtlCol="0" anchor="ctr"/>
          <a:lstStyle/>
          <a:p>
            <a:pPr marL="0" indent="0">
              <a:buNone/>
            </a:pPr>
            <a:endParaRPr lang="en-US" sz="1100" dirty="0"/>
          </a:p>
        </p:txBody>
      </p:sp>
      <p:sp>
        <p:nvSpPr>
          <p:cNvPr id="9" name="Text 7"/>
          <p:cNvSpPr/>
          <p:nvPr/>
        </p:nvSpPr>
        <p:spPr>
          <a:xfrm>
            <a:off x="457200" y="1737360"/>
            <a:ext cx="1828800" cy="2011680"/>
          </a:xfrm>
          <a:prstGeom prst="rect">
            <a:avLst/>
          </a:prstGeom>
          <a:noFill/>
          <a:ln/>
        </p:spPr>
        <p:txBody>
          <a:bodyPr wrap="square" lIns="0" tIns="0" rIns="0" bIns="0" rtlCol="0" anchor="ctr"/>
          <a:lstStyle/>
          <a:p>
            <a:pPr marL="0" indent="0">
              <a:buNone/>
            </a:pPr>
            <a:endParaRPr lang="en-US" sz="1000" dirty="0"/>
          </a:p>
        </p:txBody>
      </p:sp>
      <p:sp>
        <p:nvSpPr>
          <p:cNvPr id="12" name="Text 10"/>
          <p:cNvSpPr/>
          <p:nvPr/>
        </p:nvSpPr>
        <p:spPr>
          <a:xfrm>
            <a:off x="2587752" y="1417320"/>
            <a:ext cx="1828800" cy="201168"/>
          </a:xfrm>
          <a:prstGeom prst="rect">
            <a:avLst/>
          </a:prstGeom>
          <a:noFill/>
          <a:ln/>
        </p:spPr>
        <p:txBody>
          <a:bodyPr wrap="square" lIns="0" tIns="0" rIns="0" bIns="0" rtlCol="0" anchor="ctr"/>
          <a:lstStyle/>
          <a:p>
            <a:pPr marL="0" indent="0">
              <a:buNone/>
            </a:pPr>
            <a:endParaRPr lang="en-US" sz="1100" dirty="0"/>
          </a:p>
        </p:txBody>
      </p:sp>
      <p:sp>
        <p:nvSpPr>
          <p:cNvPr id="13" name="Text 11"/>
          <p:cNvSpPr/>
          <p:nvPr/>
        </p:nvSpPr>
        <p:spPr>
          <a:xfrm>
            <a:off x="2587752" y="1737360"/>
            <a:ext cx="1828800" cy="2011680"/>
          </a:xfrm>
          <a:prstGeom prst="rect">
            <a:avLst/>
          </a:prstGeom>
          <a:noFill/>
          <a:ln/>
        </p:spPr>
        <p:txBody>
          <a:bodyPr wrap="square" lIns="0" tIns="0" rIns="0" bIns="0" rtlCol="0" anchor="ctr"/>
          <a:lstStyle/>
          <a:p>
            <a:pPr marL="0" indent="0">
              <a:buNone/>
            </a:pPr>
            <a:endParaRPr lang="en-US" sz="1000" dirty="0"/>
          </a:p>
        </p:txBody>
      </p:sp>
      <p:sp>
        <p:nvSpPr>
          <p:cNvPr id="16" name="Text 14"/>
          <p:cNvSpPr/>
          <p:nvPr/>
        </p:nvSpPr>
        <p:spPr>
          <a:xfrm>
            <a:off x="4718304" y="1417320"/>
            <a:ext cx="1828800" cy="201168"/>
          </a:xfrm>
          <a:prstGeom prst="rect">
            <a:avLst/>
          </a:prstGeom>
          <a:noFill/>
          <a:ln/>
        </p:spPr>
        <p:txBody>
          <a:bodyPr wrap="square" lIns="0" tIns="0" rIns="0" bIns="0" rtlCol="0" anchor="ctr"/>
          <a:lstStyle/>
          <a:p>
            <a:pPr marL="0" indent="0">
              <a:buNone/>
            </a:pPr>
            <a:endParaRPr lang="en-US" sz="1100" dirty="0"/>
          </a:p>
        </p:txBody>
      </p:sp>
      <p:sp>
        <p:nvSpPr>
          <p:cNvPr id="17" name="Text 15"/>
          <p:cNvSpPr/>
          <p:nvPr/>
        </p:nvSpPr>
        <p:spPr>
          <a:xfrm>
            <a:off x="4718304" y="1737360"/>
            <a:ext cx="1828800" cy="2011680"/>
          </a:xfrm>
          <a:prstGeom prst="rect">
            <a:avLst/>
          </a:prstGeom>
          <a:noFill/>
          <a:ln/>
        </p:spPr>
        <p:txBody>
          <a:bodyPr wrap="square" lIns="0" tIns="0" rIns="0" bIns="0" rtlCol="0" anchor="ctr"/>
          <a:lstStyle/>
          <a:p>
            <a:pPr marL="0" indent="0">
              <a:buNone/>
            </a:pPr>
            <a:endParaRPr lang="en-US" sz="1000" dirty="0"/>
          </a:p>
        </p:txBody>
      </p:sp>
      <p:sp>
        <p:nvSpPr>
          <p:cNvPr id="20" name="Text 18"/>
          <p:cNvSpPr/>
          <p:nvPr/>
        </p:nvSpPr>
        <p:spPr>
          <a:xfrm>
            <a:off x="6848856" y="1417320"/>
            <a:ext cx="1828800" cy="201168"/>
          </a:xfrm>
          <a:prstGeom prst="rect">
            <a:avLst/>
          </a:prstGeom>
          <a:noFill/>
          <a:ln/>
        </p:spPr>
        <p:txBody>
          <a:bodyPr wrap="square" lIns="0" tIns="0" rIns="0" bIns="0" rtlCol="0" anchor="ctr"/>
          <a:lstStyle/>
          <a:p>
            <a:pPr marL="0" indent="0">
              <a:buNone/>
            </a:pPr>
            <a:endParaRPr lang="en-US" sz="1100" dirty="0"/>
          </a:p>
        </p:txBody>
      </p:sp>
      <p:sp>
        <p:nvSpPr>
          <p:cNvPr id="21" name="Text 19"/>
          <p:cNvSpPr/>
          <p:nvPr/>
        </p:nvSpPr>
        <p:spPr>
          <a:xfrm>
            <a:off x="6848856" y="1737360"/>
            <a:ext cx="1828800" cy="2011680"/>
          </a:xfrm>
          <a:prstGeom prst="rect">
            <a:avLst/>
          </a:prstGeom>
          <a:noFill/>
          <a:ln/>
        </p:spPr>
        <p:txBody>
          <a:bodyPr wrap="square" lIns="0" tIns="0" rIns="0" bIns="0" rtlCol="0" anchor="ctr"/>
          <a:lstStyle/>
          <a:p>
            <a:pPr marL="0" indent="0">
              <a:buNone/>
            </a:pPr>
            <a:endParaRPr lang="en-US" sz="1000" dirty="0"/>
          </a:p>
        </p:txBody>
      </p:sp>
      <p:sp>
        <p:nvSpPr>
          <p:cNvPr id="22" name="Text 20"/>
          <p:cNvSpPr/>
          <p:nvPr/>
        </p:nvSpPr>
        <p:spPr>
          <a:xfrm>
            <a:off x="155787" y="1371600"/>
            <a:ext cx="8531013" cy="1737360"/>
          </a:xfrm>
          <a:prstGeom prst="rect">
            <a:avLst/>
          </a:prstGeom>
          <a:noFill/>
          <a:ln/>
        </p:spPr>
        <p:txBody>
          <a:bodyPr wrap="square" lIns="0" tIns="0" rIns="0" bIns="0" rtlCol="0" anchor="ctr"/>
          <a:lstStyle/>
          <a:p>
            <a:pPr marL="285750" indent="-285750">
              <a:buFont typeface="Wingdings" panose="05000000000000000000" pitchFamily="2" charset="2"/>
              <a:buChar char="§"/>
            </a:pPr>
            <a:r>
              <a:rPr lang="en-US" sz="1400" dirty="0">
                <a:solidFill>
                  <a:schemeClr val="bg1"/>
                </a:solidFill>
              </a:rPr>
              <a:t>Matplotlib is a useful Python library used to create graphs and charts from data. </a:t>
            </a:r>
          </a:p>
          <a:p>
            <a:pPr marL="285750" indent="-285750">
              <a:buFont typeface="Wingdings" panose="05000000000000000000" pitchFamily="2" charset="2"/>
              <a:buChar char="§"/>
            </a:pPr>
            <a:r>
              <a:rPr lang="en-US" sz="1400" dirty="0">
                <a:solidFill>
                  <a:schemeClr val="bg1"/>
                </a:solidFill>
              </a:rPr>
              <a:t>It helps us understand data easily by showing it visually.</a:t>
            </a:r>
          </a:p>
          <a:p>
            <a:pPr marL="285750" indent="-285750">
              <a:buFont typeface="Wingdings" panose="05000000000000000000" pitchFamily="2" charset="2"/>
              <a:buChar char="§"/>
            </a:pPr>
            <a:r>
              <a:rPr lang="en-US" sz="1400" dirty="0">
                <a:solidFill>
                  <a:schemeClr val="bg1"/>
                </a:solidFill>
              </a:rPr>
              <a:t> We can create different types of plots like line graphs, bar charts, scatter plots, and histograms. </a:t>
            </a:r>
          </a:p>
          <a:p>
            <a:pPr marL="285750" indent="-285750">
              <a:buFont typeface="Wingdings" panose="05000000000000000000" pitchFamily="2" charset="2"/>
              <a:buChar char="§"/>
            </a:pPr>
            <a:r>
              <a:rPr lang="en-US" sz="1400" dirty="0">
                <a:solidFill>
                  <a:schemeClr val="bg1"/>
                </a:solidFill>
              </a:rPr>
              <a:t>Matplotlib makes data analysis and presentation more clear, attractive, and easy to understand.</a:t>
            </a:r>
            <a:endParaRPr lang="en-US" sz="1300" dirty="0">
              <a:solidFill>
                <a:schemeClr val="bg1"/>
              </a:solidFill>
            </a:endParaRPr>
          </a:p>
        </p:txBody>
      </p:sp>
      <p:sp>
        <p:nvSpPr>
          <p:cNvPr id="23" name="Text 21"/>
          <p:cNvSpPr/>
          <p:nvPr/>
        </p:nvSpPr>
        <p:spPr>
          <a:xfrm>
            <a:off x="457200" y="4297680"/>
            <a:ext cx="8412480" cy="502920"/>
          </a:xfrm>
          <a:prstGeom prst="rect">
            <a:avLst/>
          </a:prstGeom>
          <a:noFill/>
          <a:ln/>
        </p:spPr>
        <p:txBody>
          <a:bodyPr wrap="square" lIns="0" tIns="0" rIns="0" bIns="0" rtlCol="0" anchor="ctr"/>
          <a:lstStyle/>
          <a:p>
            <a:pPr marL="0" indent="0">
              <a:buNone/>
            </a:pPr>
            <a:endParaRPr lang="en-US" sz="1050" dirty="0"/>
          </a:p>
        </p:txBody>
      </p:sp>
      <p:sp>
        <p:nvSpPr>
          <p:cNvPr id="24" name="Text 22"/>
          <p:cNvSpPr/>
          <p:nvPr/>
        </p:nvSpPr>
        <p:spPr>
          <a:xfrm>
            <a:off x="457200" y="4773168"/>
            <a:ext cx="8229600" cy="228600"/>
          </a:xfrm>
          <a:prstGeom prst="rect">
            <a:avLst/>
          </a:prstGeom>
          <a:noFill/>
          <a:ln/>
        </p:spPr>
        <p:txBody>
          <a:bodyPr wrap="square" lIns="0" tIns="0" rIns="0" bIns="0" rtlCol="0" anchor="ctr"/>
          <a:lstStyle/>
          <a:p>
            <a:pPr marL="0" indent="0">
              <a:buNone/>
            </a:pPr>
            <a:r>
              <a:rPr lang="en-US" sz="1000" dirty="0">
                <a:solidFill>
                  <a:srgbClr val="475569"/>
                </a:solidFill>
              </a:rPr>
              <a:t>Thank you for listening! Q&amp;A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1652</Words>
  <Application>Microsoft Office PowerPoint</Application>
  <PresentationFormat>On-screen Show (16:9)</PresentationFormat>
  <Paragraphs>132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Matplotlib – Data Visualization in Python</dc:title>
  <dc:subject>PptxGenJS Presentation</dc:subject>
  <dc:creator>Group Presentation</dc:creator>
  <cp:lastModifiedBy>sireeshareddy065@gmail.com</cp:lastModifiedBy>
  <cp:revision>4</cp:revision>
  <dcterms:created xsi:type="dcterms:W3CDTF">2026-06-05T04:43:23Z</dcterms:created>
  <dcterms:modified xsi:type="dcterms:W3CDTF">2026-06-05T05:22:57Z</dcterms:modified>
</cp:coreProperties>
</file>