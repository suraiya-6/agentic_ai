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6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4332"/>
                </a:solidFill>
                <a:latin typeface="Arial"/>
              </a:defRPr>
            </a:pPr>
            <a:r>
              <a:rPr lang="en-IN" sz="1200" b="0" i="0" u="none" strike="noStrike">
                <a:solidFill>
                  <a:srgbClr val="1B4332"/>
                </a:solidFill>
                <a:latin typeface="Arial"/>
              </a:rPr>
              <a:t>Classification Metrics (%)</a:t>
            </a:r>
          </a:p>
        </c:rich>
      </c:tx>
      <c:overlay val="0"/>
    </c:title>
    <c:autoTitleDeleted val="0"/>
    <c:plotArea>
      <c:layout/>
      <c:barChart>
        <c:barDir val="col"/>
        <c:grouping val="clustered"/>
        <c:varyColors val="0"/>
        <c:ser>
          <c:idx val="0"/>
          <c:order val="0"/>
          <c:tx>
            <c:strRef>
              <c:f>Sheet1!$B$1</c:f>
              <c:strCache>
                <c:ptCount val="1"/>
                <c:pt idx="0">
                  <c:v>Score</c:v>
                </c:pt>
              </c:strCache>
            </c:strRef>
          </c:tx>
          <c:spPr>
            <a:solidFill>
              <a:srgbClr val="40916C"/>
            </a:solidFill>
            <a:effectLst/>
          </c:spPr>
          <c:invertIfNegative val="0"/>
          <c:dPt>
            <c:idx val="0"/>
            <c:invertIfNegative val="0"/>
            <c:bubble3D val="0"/>
            <c:extLst>
              <c:ext xmlns:c16="http://schemas.microsoft.com/office/drawing/2014/chart" uri="{C3380CC4-5D6E-409C-BE32-E72D297353CC}">
                <c16:uniqueId val="{00000001-BFEF-4348-B1BF-6E8786CCF83D}"/>
              </c:ext>
            </c:extLst>
          </c:dPt>
          <c:dPt>
            <c:idx val="1"/>
            <c:invertIfNegative val="0"/>
            <c:bubble3D val="0"/>
            <c:spPr>
              <a:solidFill>
                <a:srgbClr val="52B788"/>
              </a:solidFill>
              <a:effectLst/>
            </c:spPr>
            <c:extLst>
              <c:ext xmlns:c16="http://schemas.microsoft.com/office/drawing/2014/chart" uri="{C3380CC4-5D6E-409C-BE32-E72D297353CC}">
                <c16:uniqueId val="{00000003-BFEF-4348-B1BF-6E8786CCF83D}"/>
              </c:ext>
            </c:extLst>
          </c:dPt>
          <c:dPt>
            <c:idx val="2"/>
            <c:invertIfNegative val="0"/>
            <c:bubble3D val="0"/>
            <c:spPr>
              <a:solidFill>
                <a:srgbClr val="74C69D"/>
              </a:solidFill>
              <a:effectLst/>
            </c:spPr>
            <c:extLst>
              <c:ext xmlns:c16="http://schemas.microsoft.com/office/drawing/2014/chart" uri="{C3380CC4-5D6E-409C-BE32-E72D297353CC}">
                <c16:uniqueId val="{00000005-BFEF-4348-B1BF-6E8786CCF83D}"/>
              </c:ext>
            </c:extLst>
          </c:dPt>
          <c:dLbls>
            <c:numFmt formatCode="#,##0" sourceLinked="0"/>
            <c:spPr>
              <a:noFill/>
              <a:ln>
                <a:noFill/>
              </a:ln>
              <a:effectLst/>
            </c:spPr>
            <c:txPr>
              <a:bodyPr/>
              <a:lstStyle/>
              <a:p>
                <a:pPr>
                  <a:defRPr sz="1200" b="0" i="0" u="none" strike="noStrike">
                    <a:solidFill>
                      <a:srgbClr val="21252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Precision</c:v>
                </c:pt>
                <c:pt idx="1">
                  <c:v>Recall</c:v>
                </c:pt>
                <c:pt idx="2">
                  <c:v>F1-Score</c:v>
                </c:pt>
              </c:strCache>
            </c:strRef>
          </c:cat>
          <c:val>
            <c:numRef>
              <c:f>Sheet1!$B$2:$B$4</c:f>
              <c:numCache>
                <c:formatCode>General</c:formatCode>
                <c:ptCount val="3"/>
                <c:pt idx="0">
                  <c:v>99.3</c:v>
                </c:pt>
                <c:pt idx="1">
                  <c:v>99.3</c:v>
                </c:pt>
                <c:pt idx="2">
                  <c:v>99.3</c:v>
                </c:pt>
              </c:numCache>
            </c:numRef>
          </c:val>
          <c:extLst>
            <c:ext xmlns:c16="http://schemas.microsoft.com/office/drawing/2014/chart" uri="{C3380CC4-5D6E-409C-BE32-E72D297353CC}">
              <c16:uniqueId val="{00000006-BFEF-4348-B1BF-6E8786CCF83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C757D"/>
                </a:solidFill>
                <a:latin typeface="Arial"/>
              </a:defRPr>
            </a:pPr>
            <a:endParaRPr lang="en-US"/>
          </a:p>
        </c:txPr>
        <c:crossAx val="2094734552"/>
        <c:crosses val="autoZero"/>
        <c:auto val="1"/>
        <c:lblAlgn val="ctr"/>
        <c:lblOffset val="100"/>
        <c:noMultiLvlLbl val="1"/>
      </c:catAx>
      <c:valAx>
        <c:axId val="2094734552"/>
        <c:scaling>
          <c:orientation val="minMax"/>
          <c:max val="100"/>
          <c:min val="95"/>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C757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4332"/>
                </a:solidFill>
                <a:latin typeface="Arial"/>
              </a:defRPr>
            </a:pPr>
            <a:r>
              <a:rPr lang="en-IN" sz="1200" b="0" i="0" u="none" strike="noStrike">
                <a:solidFill>
                  <a:srgbClr val="1B4332"/>
                </a:solidFill>
                <a:latin typeface="Arial"/>
              </a:rPr>
              <a:t>Feature Importance Scores</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B4332"/>
            </a:solidFill>
            <a:effectLst/>
          </c:spPr>
          <c:invertIfNegative val="0"/>
          <c:dPt>
            <c:idx val="0"/>
            <c:invertIfNegative val="0"/>
            <c:bubble3D val="0"/>
            <c:extLst>
              <c:ext xmlns:c16="http://schemas.microsoft.com/office/drawing/2014/chart" uri="{C3380CC4-5D6E-409C-BE32-E72D297353CC}">
                <c16:uniqueId val="{00000001-6B48-4840-B9AF-9AB387D5C333}"/>
              </c:ext>
            </c:extLst>
          </c:dPt>
          <c:dPt>
            <c:idx val="1"/>
            <c:invertIfNegative val="0"/>
            <c:bubble3D val="0"/>
            <c:spPr>
              <a:solidFill>
                <a:srgbClr val="2D6A4F"/>
              </a:solidFill>
              <a:effectLst/>
            </c:spPr>
            <c:extLst>
              <c:ext xmlns:c16="http://schemas.microsoft.com/office/drawing/2014/chart" uri="{C3380CC4-5D6E-409C-BE32-E72D297353CC}">
                <c16:uniqueId val="{00000003-6B48-4840-B9AF-9AB387D5C333}"/>
              </c:ext>
            </c:extLst>
          </c:dPt>
          <c:dPt>
            <c:idx val="2"/>
            <c:invertIfNegative val="0"/>
            <c:bubble3D val="0"/>
            <c:spPr>
              <a:solidFill>
                <a:srgbClr val="40916C"/>
              </a:solidFill>
              <a:effectLst/>
            </c:spPr>
            <c:extLst>
              <c:ext xmlns:c16="http://schemas.microsoft.com/office/drawing/2014/chart" uri="{C3380CC4-5D6E-409C-BE32-E72D297353CC}">
                <c16:uniqueId val="{00000005-6B48-4840-B9AF-9AB387D5C333}"/>
              </c:ext>
            </c:extLst>
          </c:dPt>
          <c:dPt>
            <c:idx val="3"/>
            <c:invertIfNegative val="0"/>
            <c:bubble3D val="0"/>
            <c:spPr>
              <a:solidFill>
                <a:srgbClr val="52B788"/>
              </a:solidFill>
              <a:effectLst/>
            </c:spPr>
            <c:extLst>
              <c:ext xmlns:c16="http://schemas.microsoft.com/office/drawing/2014/chart" uri="{C3380CC4-5D6E-409C-BE32-E72D297353CC}">
                <c16:uniqueId val="{00000007-6B48-4840-B9AF-9AB387D5C333}"/>
              </c:ext>
            </c:extLst>
          </c:dPt>
          <c:dPt>
            <c:idx val="4"/>
            <c:invertIfNegative val="0"/>
            <c:bubble3D val="0"/>
            <c:spPr>
              <a:solidFill>
                <a:srgbClr val="74C69D"/>
              </a:solidFill>
              <a:effectLst/>
            </c:spPr>
            <c:extLst>
              <c:ext xmlns:c16="http://schemas.microsoft.com/office/drawing/2014/chart" uri="{C3380CC4-5D6E-409C-BE32-E72D297353CC}">
                <c16:uniqueId val="{00000009-6B48-4840-B9AF-9AB387D5C333}"/>
              </c:ext>
            </c:extLst>
          </c:dPt>
          <c:dPt>
            <c:idx val="5"/>
            <c:invertIfNegative val="0"/>
            <c:bubble3D val="0"/>
            <c:spPr>
              <a:solidFill>
                <a:srgbClr val="B7E4C7"/>
              </a:solidFill>
              <a:effectLst/>
            </c:spPr>
            <c:extLst>
              <c:ext xmlns:c16="http://schemas.microsoft.com/office/drawing/2014/chart" uri="{C3380CC4-5D6E-409C-BE32-E72D297353CC}">
                <c16:uniqueId val="{0000000B-6B48-4840-B9AF-9AB387D5C333}"/>
              </c:ext>
            </c:extLst>
          </c:dPt>
          <c:dPt>
            <c:idx val="6"/>
            <c:invertIfNegative val="0"/>
            <c:bubble3D val="0"/>
            <c:spPr>
              <a:solidFill>
                <a:srgbClr val="A8DADC"/>
              </a:solidFill>
              <a:effectLst/>
            </c:spPr>
            <c:extLst>
              <c:ext xmlns:c16="http://schemas.microsoft.com/office/drawing/2014/chart" uri="{C3380CC4-5D6E-409C-BE32-E72D297353CC}">
                <c16:uniqueId val="{0000000D-6B48-4840-B9AF-9AB387D5C333}"/>
              </c:ext>
            </c:extLst>
          </c:dPt>
          <c:dLbls>
            <c:numFmt formatCode="#,##0" sourceLinked="0"/>
            <c:spPr>
              <a:noFill/>
              <a:ln>
                <a:noFill/>
              </a:ln>
              <a:effectLst/>
            </c:spPr>
            <c:txPr>
              <a:bodyPr/>
              <a:lstStyle/>
              <a:p>
                <a:pPr>
                  <a:defRPr sz="1200" b="0" i="0" u="none" strike="noStrike">
                    <a:solidFill>
                      <a:srgbClr val="21252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Rainfall</c:v>
                </c:pt>
                <c:pt idx="1">
                  <c:v>Humidity</c:v>
                </c:pt>
                <c:pt idx="2">
                  <c:v>K</c:v>
                </c:pt>
                <c:pt idx="3">
                  <c:v>Temperature</c:v>
                </c:pt>
                <c:pt idx="4">
                  <c:v>P</c:v>
                </c:pt>
                <c:pt idx="5">
                  <c:v>N</c:v>
                </c:pt>
                <c:pt idx="6">
                  <c:v>pH</c:v>
                </c:pt>
              </c:strCache>
            </c:strRef>
          </c:cat>
          <c:val>
            <c:numRef>
              <c:f>Sheet1!$B$2:$B$8</c:f>
              <c:numCache>
                <c:formatCode>General</c:formatCode>
                <c:ptCount val="7"/>
                <c:pt idx="0">
                  <c:v>0.28000000000000003</c:v>
                </c:pt>
                <c:pt idx="1">
                  <c:v>0.22</c:v>
                </c:pt>
                <c:pt idx="2">
                  <c:v>0.16</c:v>
                </c:pt>
                <c:pt idx="3">
                  <c:v>0.14000000000000001</c:v>
                </c:pt>
                <c:pt idx="4">
                  <c:v>0.1</c:v>
                </c:pt>
                <c:pt idx="5">
                  <c:v>0.06</c:v>
                </c:pt>
                <c:pt idx="6">
                  <c:v>0.04</c:v>
                </c:pt>
              </c:numCache>
            </c:numRef>
          </c:val>
          <c:extLst>
            <c:ext xmlns:c16="http://schemas.microsoft.com/office/drawing/2014/chart" uri="{C3380CC4-5D6E-409C-BE32-E72D297353CC}">
              <c16:uniqueId val="{0000000E-6B48-4840-B9AF-9AB387D5C3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1252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C757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0898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40916C"/>
          </a:solidFill>
          <a:ln w="12700">
            <a:solidFill>
              <a:srgbClr val="40916C"/>
            </a:solidFill>
            <a:prstDash val="solid"/>
          </a:ln>
        </p:spPr>
      </p:sp>
      <p:sp>
        <p:nvSpPr>
          <p:cNvPr id="3" name="Shape 1"/>
          <p:cNvSpPr/>
          <p:nvPr/>
        </p:nvSpPr>
        <p:spPr>
          <a:xfrm>
            <a:off x="228600" y="0"/>
            <a:ext cx="109728" cy="5143500"/>
          </a:xfrm>
          <a:prstGeom prst="rect">
            <a:avLst/>
          </a:prstGeom>
          <a:solidFill>
            <a:srgbClr val="2D6A4F"/>
          </a:solidFill>
          <a:ln w="12700">
            <a:solidFill>
              <a:srgbClr val="2D6A4F"/>
            </a:solidFill>
            <a:prstDash val="solid"/>
          </a:ln>
        </p:spPr>
      </p:sp>
      <p:sp>
        <p:nvSpPr>
          <p:cNvPr id="4" name="Shape 2"/>
          <p:cNvSpPr/>
          <p:nvPr/>
        </p:nvSpPr>
        <p:spPr>
          <a:xfrm>
            <a:off x="0" y="4480560"/>
            <a:ext cx="9144000" cy="662940"/>
          </a:xfrm>
          <a:prstGeom prst="rect">
            <a:avLst/>
          </a:prstGeom>
          <a:solidFill>
            <a:srgbClr val="2D6A4F"/>
          </a:solidFill>
          <a:ln w="12700">
            <a:solidFill>
              <a:srgbClr val="2D6A4F"/>
            </a:solidFill>
            <a:prstDash val="solid"/>
          </a:ln>
        </p:spPr>
      </p:sp>
      <p:sp>
        <p:nvSpPr>
          <p:cNvPr id="5" name="Shape 3"/>
          <p:cNvSpPr/>
          <p:nvPr/>
        </p:nvSpPr>
        <p:spPr>
          <a:xfrm>
            <a:off x="6583680" y="640080"/>
            <a:ext cx="2011680" cy="2011680"/>
          </a:xfrm>
          <a:prstGeom prst="ellipse">
            <a:avLst/>
          </a:prstGeom>
          <a:solidFill>
            <a:srgbClr val="40916C">
              <a:alpha val="60000"/>
            </a:srgbClr>
          </a:solidFill>
          <a:ln w="25400">
            <a:solidFill>
              <a:srgbClr val="74C69D"/>
            </a:solidFill>
            <a:prstDash val="solid"/>
          </a:ln>
        </p:spPr>
      </p:sp>
      <p:sp>
        <p:nvSpPr>
          <p:cNvPr id="6" name="Shape 4"/>
          <p:cNvSpPr/>
          <p:nvPr/>
        </p:nvSpPr>
        <p:spPr>
          <a:xfrm>
            <a:off x="6903720" y="960120"/>
            <a:ext cx="1371600" cy="1371600"/>
          </a:xfrm>
          <a:prstGeom prst="ellipse">
            <a:avLst/>
          </a:prstGeom>
          <a:solidFill>
            <a:srgbClr val="52B788">
              <a:alpha val="80000"/>
            </a:srgbClr>
          </a:solidFill>
          <a:ln w="12700">
            <a:solidFill>
              <a:srgbClr val="B7E4C7"/>
            </a:solidFill>
            <a:prstDash val="solid"/>
          </a:ln>
        </p:spPr>
      </p:sp>
      <p:sp>
        <p:nvSpPr>
          <p:cNvPr id="7" name="Text 5"/>
          <p:cNvSpPr/>
          <p:nvPr/>
        </p:nvSpPr>
        <p:spPr>
          <a:xfrm>
            <a:off x="7040880" y="1143000"/>
            <a:ext cx="1097280" cy="109728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8" name="Text 6"/>
          <p:cNvSpPr/>
          <p:nvPr/>
        </p:nvSpPr>
        <p:spPr>
          <a:xfrm>
            <a:off x="548640" y="1005840"/>
            <a:ext cx="5943600" cy="91440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Crop Prediction</a:t>
            </a:r>
            <a:endParaRPr lang="en-US" sz="4400" dirty="0"/>
          </a:p>
        </p:txBody>
      </p:sp>
      <p:sp>
        <p:nvSpPr>
          <p:cNvPr id="9" name="Text 7"/>
          <p:cNvSpPr/>
          <p:nvPr/>
        </p:nvSpPr>
        <p:spPr>
          <a:xfrm>
            <a:off x="548640" y="1874520"/>
            <a:ext cx="5943600" cy="685800"/>
          </a:xfrm>
          <a:prstGeom prst="rect">
            <a:avLst/>
          </a:prstGeom>
          <a:noFill/>
          <a:ln/>
        </p:spPr>
        <p:txBody>
          <a:bodyPr wrap="square" lIns="0" tIns="0" rIns="0" bIns="0" rtlCol="0" anchor="ctr"/>
          <a:lstStyle/>
          <a:p>
            <a:pPr marL="0" indent="0" algn="l">
              <a:buNone/>
            </a:pPr>
            <a:r>
              <a:rPr lang="en-US" sz="2800" dirty="0">
                <a:solidFill>
                  <a:srgbClr val="74C69D"/>
                </a:solidFill>
                <a:latin typeface="Calibri" pitchFamily="34" charset="0"/>
                <a:ea typeface="Calibri" pitchFamily="34" charset="-122"/>
                <a:cs typeface="Calibri" pitchFamily="34" charset="-120"/>
              </a:rPr>
              <a:t>Using Machine Learning</a:t>
            </a:r>
            <a:endParaRPr lang="en-US" sz="2800" dirty="0"/>
          </a:p>
        </p:txBody>
      </p:sp>
      <p:sp>
        <p:nvSpPr>
          <p:cNvPr id="10" name="Text 8"/>
          <p:cNvSpPr/>
          <p:nvPr/>
        </p:nvSpPr>
        <p:spPr>
          <a:xfrm>
            <a:off x="548640" y="2651760"/>
            <a:ext cx="5760720" cy="914400"/>
          </a:xfrm>
          <a:prstGeom prst="rect">
            <a:avLst/>
          </a:prstGeom>
          <a:noFill/>
          <a:ln/>
        </p:spPr>
        <p:txBody>
          <a:bodyPr wrap="square" lIns="0" tIns="0" rIns="0" bIns="0" rtlCol="0" anchor="t"/>
          <a:lstStyle/>
          <a:p>
            <a:pPr marL="0" indent="0" algn="l">
              <a:buNone/>
            </a:pPr>
            <a:r>
              <a:rPr lang="en-US" sz="1400" dirty="0">
                <a:solidFill>
                  <a:schemeClr val="bg1"/>
                </a:solidFill>
              </a:rPr>
              <a:t>Developed a machine learning-based crop recommendation system using Python and Random Forest Classifier. Analyzed soil nutrients (N, P, K) and environmental factors such as temperature, humidity, pH, and rainfall to predict the most suitable crop.</a:t>
            </a:r>
          </a:p>
        </p:txBody>
      </p:sp>
      <p:sp>
        <p:nvSpPr>
          <p:cNvPr id="11" name="Text 9"/>
          <p:cNvSpPr/>
          <p:nvPr/>
        </p:nvSpPr>
        <p:spPr>
          <a:xfrm>
            <a:off x="365760" y="4572000"/>
            <a:ext cx="8412480" cy="457200"/>
          </a:xfrm>
          <a:prstGeom prst="rect">
            <a:avLst/>
          </a:prstGeom>
          <a:noFill/>
          <a:ln/>
        </p:spPr>
        <p:txBody>
          <a:bodyPr wrap="square" lIns="0" tIns="0" rIns="0" bIns="0" rtlCol="0" anchor="ctr"/>
          <a:lstStyle/>
          <a:p>
            <a:pPr marL="0" indent="0" algn="ctr">
              <a:buNone/>
            </a:pPr>
            <a:r>
              <a:rPr lang="en-US" sz="1100" dirty="0">
                <a:solidFill>
                  <a:srgbClr val="B7E4C7"/>
                </a:solidFill>
                <a:latin typeface="Calibri" pitchFamily="34" charset="0"/>
                <a:ea typeface="Calibri" pitchFamily="34" charset="-122"/>
                <a:cs typeface="Calibri" pitchFamily="34" charset="-120"/>
              </a:rPr>
              <a:t>Soil Analysis  •  Weather Data  •  ML Prediction  •  Smart Farming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4332"/>
          </a:solidFill>
          <a:ln w="12700">
            <a:solidFill>
              <a:srgbClr val="1B4332"/>
            </a:solidFill>
            <a:prstDash val="solid"/>
          </a:ln>
        </p:spPr>
      </p:sp>
      <p:sp>
        <p:nvSpPr>
          <p:cNvPr id="3" name="Text 1"/>
          <p:cNvSpPr/>
          <p:nvPr/>
        </p:nvSpPr>
        <p:spPr>
          <a:xfrm>
            <a:off x="365760" y="0"/>
            <a:ext cx="8412480" cy="100584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Project Overview</a:t>
            </a:r>
            <a:endParaRPr lang="en-US" sz="3000" dirty="0"/>
          </a:p>
        </p:txBody>
      </p:sp>
      <p:sp>
        <p:nvSpPr>
          <p:cNvPr id="4" name="Shape 2"/>
          <p:cNvSpPr/>
          <p:nvPr/>
        </p:nvSpPr>
        <p:spPr>
          <a:xfrm>
            <a:off x="365760" y="1188720"/>
            <a:ext cx="8412480" cy="1005840"/>
          </a:xfrm>
          <a:prstGeom prst="rect">
            <a:avLst/>
          </a:prstGeom>
          <a:solidFill>
            <a:srgbClr val="FFFFFF"/>
          </a:solidFill>
          <a:ln/>
          <a:effectLst>
            <a:outerShdw blurRad="101600" dist="38100" dir="8100000" algn="bl" rotWithShape="0">
              <a:srgbClr val="000000">
                <a:alpha val="12000"/>
              </a:srgbClr>
            </a:outerShdw>
          </a:effectLst>
        </p:spPr>
      </p:sp>
      <p:sp>
        <p:nvSpPr>
          <p:cNvPr id="5" name="Shape 3"/>
          <p:cNvSpPr/>
          <p:nvPr/>
        </p:nvSpPr>
        <p:spPr>
          <a:xfrm>
            <a:off x="365760" y="1188720"/>
            <a:ext cx="109728" cy="1005840"/>
          </a:xfrm>
          <a:prstGeom prst="rect">
            <a:avLst/>
          </a:prstGeom>
          <a:solidFill>
            <a:srgbClr val="40916C"/>
          </a:solidFill>
          <a:ln w="12700">
            <a:solidFill>
              <a:srgbClr val="40916C"/>
            </a:solidFill>
            <a:prstDash val="solid"/>
          </a:ln>
        </p:spPr>
      </p:sp>
      <p:sp>
        <p:nvSpPr>
          <p:cNvPr id="6" name="Text 4"/>
          <p:cNvSpPr/>
          <p:nvPr/>
        </p:nvSpPr>
        <p:spPr>
          <a:xfrm>
            <a:off x="594360" y="1188720"/>
            <a:ext cx="2286000" cy="365760"/>
          </a:xfrm>
          <a:prstGeom prst="rect">
            <a:avLst/>
          </a:prstGeom>
          <a:noFill/>
          <a:ln/>
        </p:spPr>
        <p:txBody>
          <a:bodyPr wrap="square" lIns="0" tIns="0" rIns="0" bIns="0"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Objective</a:t>
            </a:r>
            <a:endParaRPr lang="en-US" sz="1300" dirty="0"/>
          </a:p>
        </p:txBody>
      </p:sp>
      <p:sp>
        <p:nvSpPr>
          <p:cNvPr id="7" name="Text 5"/>
          <p:cNvSpPr/>
          <p:nvPr/>
        </p:nvSpPr>
        <p:spPr>
          <a:xfrm>
            <a:off x="594360" y="1508760"/>
            <a:ext cx="8046720" cy="594360"/>
          </a:xfrm>
          <a:prstGeom prst="rect">
            <a:avLst/>
          </a:prstGeom>
          <a:noFill/>
          <a:ln/>
        </p:spPr>
        <p:txBody>
          <a:bodyPr wrap="square" lIns="0" tIns="0" rIns="0" bIns="0" rtlCol="0" anchor="ctr"/>
          <a:lstStyle/>
          <a:p>
            <a:pPr marL="0" indent="0">
              <a:buNone/>
            </a:pPr>
            <a:r>
              <a:rPr lang="en-US" sz="1200" dirty="0">
                <a:solidFill>
                  <a:srgbClr val="212529"/>
                </a:solidFill>
                <a:latin typeface="Calibri" pitchFamily="34" charset="0"/>
                <a:ea typeface="Calibri" pitchFamily="34" charset="-122"/>
                <a:cs typeface="Calibri" pitchFamily="34" charset="-120"/>
              </a:rPr>
              <a:t>Predict the best crop to grow based on soil nutrients and weather conditions using a supervised machine learning model trained on agricultural data.</a:t>
            </a:r>
            <a:endParaRPr lang="en-US" sz="1200" dirty="0"/>
          </a:p>
        </p:txBody>
      </p:sp>
      <p:sp>
        <p:nvSpPr>
          <p:cNvPr id="8" name="Shape 6"/>
          <p:cNvSpPr/>
          <p:nvPr/>
        </p:nvSpPr>
        <p:spPr>
          <a:xfrm>
            <a:off x="365760" y="2423160"/>
            <a:ext cx="2651760" cy="228600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1325880" y="2514600"/>
            <a:ext cx="731520" cy="731520"/>
          </a:xfrm>
          <a:prstGeom prst="ellipse">
            <a:avLst/>
          </a:prstGeom>
          <a:solidFill>
            <a:srgbClr val="40916C"/>
          </a:solidFill>
          <a:ln w="12700">
            <a:solidFill>
              <a:srgbClr val="40916C"/>
            </a:solidFill>
            <a:prstDash val="solid"/>
          </a:ln>
        </p:spPr>
      </p:sp>
      <p:sp>
        <p:nvSpPr>
          <p:cNvPr id="10" name="Text 8"/>
          <p:cNvSpPr/>
          <p:nvPr/>
        </p:nvSpPr>
        <p:spPr>
          <a:xfrm>
            <a:off x="1325880" y="2487168"/>
            <a:ext cx="731520" cy="7772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365760" y="3337560"/>
            <a:ext cx="2651760" cy="365760"/>
          </a:xfrm>
          <a:prstGeom prst="rect">
            <a:avLst/>
          </a:prstGeom>
          <a:noFill/>
          <a:ln/>
        </p:spPr>
        <p:txBody>
          <a:bodyPr wrap="square" lIns="0" tIns="0" rIns="0" bIns="0" rtlCol="0" anchor="ctr"/>
          <a:lstStyle/>
          <a:p>
            <a:pPr marL="0" indent="0" algn="ctr">
              <a:buNone/>
            </a:pPr>
            <a:r>
              <a:rPr lang="en-US" sz="1300" b="1" dirty="0">
                <a:solidFill>
                  <a:srgbClr val="1B4332"/>
                </a:solidFill>
                <a:latin typeface="Calibri" pitchFamily="34" charset="0"/>
                <a:ea typeface="Calibri" pitchFamily="34" charset="-122"/>
                <a:cs typeface="Calibri" pitchFamily="34" charset="-120"/>
              </a:rPr>
              <a:t>Input Features</a:t>
            </a:r>
            <a:endParaRPr lang="en-US" sz="1300" dirty="0"/>
          </a:p>
        </p:txBody>
      </p:sp>
      <p:sp>
        <p:nvSpPr>
          <p:cNvPr id="12" name="Text 10"/>
          <p:cNvSpPr/>
          <p:nvPr/>
        </p:nvSpPr>
        <p:spPr>
          <a:xfrm>
            <a:off x="365760" y="3657600"/>
            <a:ext cx="2651760" cy="960120"/>
          </a:xfrm>
          <a:prstGeom prst="rect">
            <a:avLst/>
          </a:prstGeom>
          <a:noFill/>
          <a:ln/>
        </p:spPr>
        <p:txBody>
          <a:bodyPr wrap="square" lIns="0" tIns="0" rIns="0" bIns="0" rtlCol="0" anchor="t"/>
          <a:lstStyle/>
          <a:p>
            <a:pPr marL="0" indent="0" algn="ctr">
              <a:buNone/>
            </a:pPr>
            <a:r>
              <a:rPr lang="en-US" sz="1100" dirty="0">
                <a:solidFill>
                  <a:srgbClr val="6C757D"/>
                </a:solidFill>
                <a:latin typeface="Calibri" pitchFamily="34" charset="0"/>
                <a:ea typeface="Calibri" pitchFamily="34" charset="-122"/>
                <a:cs typeface="Calibri" pitchFamily="34" charset="-120"/>
              </a:rPr>
              <a:t>N, P, K levels</a:t>
            </a:r>
            <a:endParaRPr lang="en-US" sz="1100" dirty="0"/>
          </a:p>
          <a:p>
            <a:pPr marL="0" indent="0" algn="ctr">
              <a:buNone/>
            </a:pPr>
            <a:r>
              <a:rPr lang="en-US" sz="1100" dirty="0">
                <a:solidFill>
                  <a:srgbClr val="6C757D"/>
                </a:solidFill>
                <a:latin typeface="Calibri" pitchFamily="34" charset="0"/>
                <a:ea typeface="Calibri" pitchFamily="34" charset="-122"/>
                <a:cs typeface="Calibri" pitchFamily="34" charset="-120"/>
              </a:rPr>
              <a:t>Temperature, Humidity</a:t>
            </a:r>
            <a:endParaRPr lang="en-US" sz="1100" dirty="0"/>
          </a:p>
          <a:p>
            <a:pPr marL="0" indent="0" algn="ctr">
              <a:buNone/>
            </a:pPr>
            <a:r>
              <a:rPr lang="en-US" sz="1100" dirty="0">
                <a:solidFill>
                  <a:srgbClr val="6C757D"/>
                </a:solidFill>
                <a:latin typeface="Calibri" pitchFamily="34" charset="0"/>
                <a:ea typeface="Calibri" pitchFamily="34" charset="-122"/>
                <a:cs typeface="Calibri" pitchFamily="34" charset="-120"/>
              </a:rPr>
              <a:t>pH value, Rainfall</a:t>
            </a:r>
            <a:endParaRPr lang="en-US" sz="1100" dirty="0"/>
          </a:p>
        </p:txBody>
      </p:sp>
      <p:sp>
        <p:nvSpPr>
          <p:cNvPr id="13" name="Shape 11"/>
          <p:cNvSpPr/>
          <p:nvPr/>
        </p:nvSpPr>
        <p:spPr>
          <a:xfrm>
            <a:off x="3200400" y="2423160"/>
            <a:ext cx="2651760" cy="2286000"/>
          </a:xfrm>
          <a:prstGeom prst="rect">
            <a:avLst/>
          </a:prstGeom>
          <a:solidFill>
            <a:srgbClr val="FFFFFF"/>
          </a:solidFill>
          <a:ln/>
          <a:effectLst>
            <a:outerShdw blurRad="101600" dist="38100" dir="8100000" algn="bl" rotWithShape="0">
              <a:srgbClr val="000000">
                <a:alpha val="12000"/>
              </a:srgbClr>
            </a:outerShdw>
          </a:effectLst>
        </p:spPr>
      </p:sp>
      <p:sp>
        <p:nvSpPr>
          <p:cNvPr id="14" name="Shape 12"/>
          <p:cNvSpPr/>
          <p:nvPr/>
        </p:nvSpPr>
        <p:spPr>
          <a:xfrm>
            <a:off x="4160520" y="2514600"/>
            <a:ext cx="731520" cy="731520"/>
          </a:xfrm>
          <a:prstGeom prst="ellipse">
            <a:avLst/>
          </a:prstGeom>
          <a:solidFill>
            <a:srgbClr val="40916C"/>
          </a:solidFill>
          <a:ln w="12700">
            <a:solidFill>
              <a:srgbClr val="40916C"/>
            </a:solidFill>
            <a:prstDash val="solid"/>
          </a:ln>
        </p:spPr>
      </p:sp>
      <p:sp>
        <p:nvSpPr>
          <p:cNvPr id="15" name="Text 13"/>
          <p:cNvSpPr/>
          <p:nvPr/>
        </p:nvSpPr>
        <p:spPr>
          <a:xfrm>
            <a:off x="4160520" y="2487168"/>
            <a:ext cx="731520" cy="7772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3200400" y="3337560"/>
            <a:ext cx="2651760" cy="365760"/>
          </a:xfrm>
          <a:prstGeom prst="rect">
            <a:avLst/>
          </a:prstGeom>
          <a:noFill/>
          <a:ln/>
        </p:spPr>
        <p:txBody>
          <a:bodyPr wrap="square" lIns="0" tIns="0" rIns="0" bIns="0" rtlCol="0" anchor="ctr"/>
          <a:lstStyle/>
          <a:p>
            <a:pPr marL="0" indent="0" algn="ctr">
              <a:buNone/>
            </a:pPr>
            <a:r>
              <a:rPr lang="en-US" sz="1300" b="1" dirty="0">
                <a:solidFill>
                  <a:srgbClr val="1B4332"/>
                </a:solidFill>
                <a:latin typeface="Calibri" pitchFamily="34" charset="0"/>
                <a:ea typeface="Calibri" pitchFamily="34" charset="-122"/>
                <a:cs typeface="Calibri" pitchFamily="34" charset="-120"/>
              </a:rPr>
              <a:t>Algorithm</a:t>
            </a:r>
            <a:endParaRPr lang="en-US" sz="1300" dirty="0"/>
          </a:p>
        </p:txBody>
      </p:sp>
      <p:sp>
        <p:nvSpPr>
          <p:cNvPr id="17" name="Text 15"/>
          <p:cNvSpPr/>
          <p:nvPr/>
        </p:nvSpPr>
        <p:spPr>
          <a:xfrm>
            <a:off x="3200400" y="3657600"/>
            <a:ext cx="2651760" cy="960120"/>
          </a:xfrm>
          <a:prstGeom prst="rect">
            <a:avLst/>
          </a:prstGeom>
          <a:noFill/>
          <a:ln/>
        </p:spPr>
        <p:txBody>
          <a:bodyPr wrap="square" lIns="0" tIns="0" rIns="0" bIns="0" rtlCol="0" anchor="t"/>
          <a:lstStyle/>
          <a:p>
            <a:pPr marL="0" indent="0" algn="ctr">
              <a:buNone/>
            </a:pPr>
            <a:r>
              <a:rPr lang="en-US" sz="1100" dirty="0">
                <a:solidFill>
                  <a:srgbClr val="6C757D"/>
                </a:solidFill>
                <a:latin typeface="Calibri" pitchFamily="34" charset="0"/>
                <a:ea typeface="Calibri" pitchFamily="34" charset="-122"/>
                <a:cs typeface="Calibri" pitchFamily="34" charset="-120"/>
              </a:rPr>
              <a:t>Random Forest</a:t>
            </a:r>
            <a:endParaRPr lang="en-US" sz="1100" dirty="0"/>
          </a:p>
          <a:p>
            <a:pPr marL="0" indent="0" algn="ctr">
              <a:buNone/>
            </a:pPr>
            <a:r>
              <a:rPr lang="en-US" sz="1100" dirty="0">
                <a:solidFill>
                  <a:srgbClr val="6C757D"/>
                </a:solidFill>
                <a:latin typeface="Calibri" pitchFamily="34" charset="0"/>
                <a:ea typeface="Calibri" pitchFamily="34" charset="-122"/>
                <a:cs typeface="Calibri" pitchFamily="34" charset="-120"/>
              </a:rPr>
              <a:t>Classifier</a:t>
            </a:r>
            <a:endParaRPr lang="en-US" sz="1100" dirty="0"/>
          </a:p>
          <a:p>
            <a:pPr marL="0" indent="0" algn="ctr">
              <a:buNone/>
            </a:pPr>
            <a:r>
              <a:rPr lang="en-US" sz="1100" dirty="0">
                <a:solidFill>
                  <a:srgbClr val="6C757D"/>
                </a:solidFill>
                <a:latin typeface="Calibri" pitchFamily="34" charset="0"/>
                <a:ea typeface="Calibri" pitchFamily="34" charset="-122"/>
                <a:cs typeface="Calibri" pitchFamily="34" charset="-120"/>
              </a:rPr>
              <a:t>100 Decision Trees</a:t>
            </a:r>
            <a:endParaRPr lang="en-US" sz="1100" dirty="0"/>
          </a:p>
        </p:txBody>
      </p:sp>
      <p:sp>
        <p:nvSpPr>
          <p:cNvPr id="18" name="Shape 16"/>
          <p:cNvSpPr/>
          <p:nvPr/>
        </p:nvSpPr>
        <p:spPr>
          <a:xfrm>
            <a:off x="6035040" y="2423160"/>
            <a:ext cx="2651760" cy="2286000"/>
          </a:xfrm>
          <a:prstGeom prst="rect">
            <a:avLst/>
          </a:prstGeom>
          <a:solidFill>
            <a:srgbClr val="FFFFFF"/>
          </a:solidFill>
          <a:ln/>
          <a:effectLst>
            <a:outerShdw blurRad="101600" dist="38100" dir="8100000" algn="bl" rotWithShape="0">
              <a:srgbClr val="000000">
                <a:alpha val="12000"/>
              </a:srgbClr>
            </a:outerShdw>
          </a:effectLst>
        </p:spPr>
      </p:sp>
      <p:sp>
        <p:nvSpPr>
          <p:cNvPr id="19" name="Shape 17"/>
          <p:cNvSpPr/>
          <p:nvPr/>
        </p:nvSpPr>
        <p:spPr>
          <a:xfrm>
            <a:off x="6995160" y="2514600"/>
            <a:ext cx="731520" cy="731520"/>
          </a:xfrm>
          <a:prstGeom prst="ellipse">
            <a:avLst/>
          </a:prstGeom>
          <a:solidFill>
            <a:srgbClr val="40916C"/>
          </a:solidFill>
          <a:ln w="12700">
            <a:solidFill>
              <a:srgbClr val="40916C"/>
            </a:solidFill>
            <a:prstDash val="solid"/>
          </a:ln>
        </p:spPr>
      </p:sp>
      <p:sp>
        <p:nvSpPr>
          <p:cNvPr id="20" name="Text 18"/>
          <p:cNvSpPr/>
          <p:nvPr/>
        </p:nvSpPr>
        <p:spPr>
          <a:xfrm>
            <a:off x="6995160" y="2487168"/>
            <a:ext cx="731520" cy="7772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6035040" y="3337560"/>
            <a:ext cx="2651760" cy="365760"/>
          </a:xfrm>
          <a:prstGeom prst="rect">
            <a:avLst/>
          </a:prstGeom>
          <a:noFill/>
          <a:ln/>
        </p:spPr>
        <p:txBody>
          <a:bodyPr wrap="square" lIns="0" tIns="0" rIns="0" bIns="0" rtlCol="0" anchor="ctr"/>
          <a:lstStyle/>
          <a:p>
            <a:pPr marL="0" indent="0" algn="ctr">
              <a:buNone/>
            </a:pPr>
            <a:r>
              <a:rPr lang="en-US" sz="1300" b="1" dirty="0">
                <a:solidFill>
                  <a:srgbClr val="1B4332"/>
                </a:solidFill>
                <a:latin typeface="Calibri" pitchFamily="34" charset="0"/>
                <a:ea typeface="Calibri" pitchFamily="34" charset="-122"/>
                <a:cs typeface="Calibri" pitchFamily="34" charset="-120"/>
              </a:rPr>
              <a:t>Output</a:t>
            </a:r>
            <a:endParaRPr lang="en-US" sz="1300" dirty="0"/>
          </a:p>
        </p:txBody>
      </p:sp>
      <p:sp>
        <p:nvSpPr>
          <p:cNvPr id="22" name="Text 20"/>
          <p:cNvSpPr/>
          <p:nvPr/>
        </p:nvSpPr>
        <p:spPr>
          <a:xfrm>
            <a:off x="6035040" y="3657600"/>
            <a:ext cx="2651760" cy="960120"/>
          </a:xfrm>
          <a:prstGeom prst="rect">
            <a:avLst/>
          </a:prstGeom>
          <a:noFill/>
          <a:ln/>
        </p:spPr>
        <p:txBody>
          <a:bodyPr wrap="square" lIns="0" tIns="0" rIns="0" bIns="0" rtlCol="0" anchor="t"/>
          <a:lstStyle/>
          <a:p>
            <a:pPr marL="0" indent="0" algn="ctr">
              <a:buNone/>
            </a:pPr>
            <a:r>
              <a:rPr lang="en-US" sz="1100" dirty="0">
                <a:solidFill>
                  <a:srgbClr val="6C757D"/>
                </a:solidFill>
                <a:latin typeface="Calibri" pitchFamily="34" charset="0"/>
                <a:ea typeface="Calibri" pitchFamily="34" charset="-122"/>
                <a:cs typeface="Calibri" pitchFamily="34" charset="-120"/>
              </a:rPr>
              <a:t>Best crop name</a:t>
            </a:r>
            <a:endParaRPr lang="en-US" sz="1100" dirty="0"/>
          </a:p>
          <a:p>
            <a:pPr marL="0" indent="0" algn="ctr">
              <a:buNone/>
            </a:pPr>
            <a:r>
              <a:rPr lang="en-US" sz="1100" dirty="0">
                <a:solidFill>
                  <a:srgbClr val="6C757D"/>
                </a:solidFill>
                <a:latin typeface="Calibri" pitchFamily="34" charset="0"/>
                <a:ea typeface="Calibri" pitchFamily="34" charset="-122"/>
                <a:cs typeface="Calibri" pitchFamily="34" charset="-120"/>
              </a:rPr>
              <a:t>recommendation for</a:t>
            </a:r>
            <a:endParaRPr lang="en-US" sz="1100" dirty="0"/>
          </a:p>
          <a:p>
            <a:pPr marL="0" indent="0" algn="ctr">
              <a:buNone/>
            </a:pPr>
            <a:r>
              <a:rPr lang="en-US" sz="1100" dirty="0">
                <a:solidFill>
                  <a:srgbClr val="6C757D"/>
                </a:solidFill>
                <a:latin typeface="Calibri" pitchFamily="34" charset="0"/>
                <a:ea typeface="Calibri" pitchFamily="34" charset="-122"/>
                <a:cs typeface="Calibri" pitchFamily="34" charset="-120"/>
              </a:rPr>
              <a:t>your conditions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6A4F"/>
          </a:solidFill>
          <a:ln w="12700">
            <a:solidFill>
              <a:srgbClr val="2D6A4F"/>
            </a:solidFill>
            <a:prstDash val="solid"/>
          </a:ln>
        </p:spPr>
      </p:sp>
      <p:sp>
        <p:nvSpPr>
          <p:cNvPr id="3" name="Text 1"/>
          <p:cNvSpPr/>
          <p:nvPr/>
        </p:nvSpPr>
        <p:spPr>
          <a:xfrm>
            <a:off x="365760" y="0"/>
            <a:ext cx="8412480" cy="100584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Dataset &amp; Exploratory Data Analysis</a:t>
            </a:r>
            <a:endParaRPr lang="en-US" sz="2800" dirty="0"/>
          </a:p>
        </p:txBody>
      </p:sp>
      <p:sp>
        <p:nvSpPr>
          <p:cNvPr id="4" name="Shape 2"/>
          <p:cNvSpPr/>
          <p:nvPr/>
        </p:nvSpPr>
        <p:spPr>
          <a:xfrm>
            <a:off x="0" y="1193293"/>
            <a:ext cx="4114800" cy="356616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02920" y="1234440"/>
            <a:ext cx="3840480" cy="411480"/>
          </a:xfrm>
          <a:prstGeom prst="rect">
            <a:avLst/>
          </a:prstGeom>
          <a:noFill/>
          <a:ln/>
        </p:spPr>
        <p:txBody>
          <a:bodyPr wrap="square" lIns="0" tIns="0" rIns="0" bIns="0"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Dataset Summary</a:t>
            </a:r>
            <a:endParaRPr lang="en-US" sz="1400" dirty="0"/>
          </a:p>
        </p:txBody>
      </p:sp>
      <p:sp>
        <p:nvSpPr>
          <p:cNvPr id="6" name="Shape 4"/>
          <p:cNvSpPr/>
          <p:nvPr/>
        </p:nvSpPr>
        <p:spPr>
          <a:xfrm>
            <a:off x="502920" y="1737360"/>
            <a:ext cx="3749040" cy="429768"/>
          </a:xfrm>
          <a:prstGeom prst="rect">
            <a:avLst/>
          </a:prstGeom>
          <a:solidFill>
            <a:srgbClr val="F0FAF4"/>
          </a:solidFill>
          <a:ln w="6350">
            <a:solidFill>
              <a:srgbClr val="E8F5E9"/>
            </a:solidFill>
            <a:prstDash val="solid"/>
          </a:ln>
        </p:spPr>
      </p:sp>
      <p:sp>
        <p:nvSpPr>
          <p:cNvPr id="7" name="Text 5"/>
          <p:cNvSpPr/>
          <p:nvPr/>
        </p:nvSpPr>
        <p:spPr>
          <a:xfrm>
            <a:off x="640080" y="1737360"/>
            <a:ext cx="1737360" cy="429768"/>
          </a:xfrm>
          <a:prstGeom prst="rect">
            <a:avLst/>
          </a:prstGeom>
          <a:noFill/>
          <a:ln/>
        </p:spPr>
        <p:txBody>
          <a:bodyPr wrap="square" lIns="0" tIns="0" rIns="0" bIns="0" rtlCol="0" anchor="ctr"/>
          <a:lstStyle/>
          <a:p>
            <a:pPr marL="0" indent="0">
              <a:buNone/>
            </a:pPr>
            <a:r>
              <a:rPr lang="en-US" sz="1100" b="1" dirty="0">
                <a:solidFill>
                  <a:srgbClr val="212529"/>
                </a:solidFill>
                <a:latin typeface="Calibri" pitchFamily="34" charset="0"/>
                <a:ea typeface="Calibri" pitchFamily="34" charset="-122"/>
                <a:cs typeface="Calibri" pitchFamily="34" charset="-120"/>
              </a:rPr>
              <a:t>Records:</a:t>
            </a:r>
            <a:endParaRPr lang="en-US" sz="1100" dirty="0"/>
          </a:p>
        </p:txBody>
      </p:sp>
      <p:sp>
        <p:nvSpPr>
          <p:cNvPr id="8" name="Text 6"/>
          <p:cNvSpPr/>
          <p:nvPr/>
        </p:nvSpPr>
        <p:spPr>
          <a:xfrm>
            <a:off x="2377440" y="1737360"/>
            <a:ext cx="1737360" cy="429768"/>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2,200+</a:t>
            </a:r>
            <a:endParaRPr lang="en-US" sz="1100" dirty="0"/>
          </a:p>
        </p:txBody>
      </p:sp>
      <p:sp>
        <p:nvSpPr>
          <p:cNvPr id="9" name="Shape 7"/>
          <p:cNvSpPr/>
          <p:nvPr/>
        </p:nvSpPr>
        <p:spPr>
          <a:xfrm>
            <a:off x="502920" y="2240280"/>
            <a:ext cx="3749040" cy="429768"/>
          </a:xfrm>
          <a:prstGeom prst="rect">
            <a:avLst/>
          </a:prstGeom>
          <a:solidFill>
            <a:srgbClr val="FFFFFF"/>
          </a:solidFill>
          <a:ln w="6350">
            <a:solidFill>
              <a:srgbClr val="E8F5E9"/>
            </a:solidFill>
            <a:prstDash val="solid"/>
          </a:ln>
        </p:spPr>
      </p:sp>
      <p:sp>
        <p:nvSpPr>
          <p:cNvPr id="10" name="Text 8"/>
          <p:cNvSpPr/>
          <p:nvPr/>
        </p:nvSpPr>
        <p:spPr>
          <a:xfrm>
            <a:off x="640080" y="2240280"/>
            <a:ext cx="1737360" cy="429768"/>
          </a:xfrm>
          <a:prstGeom prst="rect">
            <a:avLst/>
          </a:prstGeom>
          <a:noFill/>
          <a:ln/>
        </p:spPr>
        <p:txBody>
          <a:bodyPr wrap="square" lIns="0" tIns="0" rIns="0" bIns="0" rtlCol="0" anchor="ctr"/>
          <a:lstStyle/>
          <a:p>
            <a:pPr marL="0" indent="0">
              <a:buNone/>
            </a:pPr>
            <a:r>
              <a:rPr lang="en-US" sz="1100" b="1" dirty="0">
                <a:solidFill>
                  <a:srgbClr val="212529"/>
                </a:solidFill>
                <a:latin typeface="Calibri" pitchFamily="34" charset="0"/>
                <a:ea typeface="Calibri" pitchFamily="34" charset="-122"/>
                <a:cs typeface="Calibri" pitchFamily="34" charset="-120"/>
              </a:rPr>
              <a:t>Features:</a:t>
            </a:r>
            <a:endParaRPr lang="en-US" sz="1100" dirty="0"/>
          </a:p>
        </p:txBody>
      </p:sp>
      <p:sp>
        <p:nvSpPr>
          <p:cNvPr id="11" name="Text 9"/>
          <p:cNvSpPr/>
          <p:nvPr/>
        </p:nvSpPr>
        <p:spPr>
          <a:xfrm>
            <a:off x="2377440" y="2240280"/>
            <a:ext cx="1737360" cy="429768"/>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7 input + 1 label</a:t>
            </a:r>
            <a:endParaRPr lang="en-US" sz="1100" dirty="0"/>
          </a:p>
        </p:txBody>
      </p:sp>
      <p:sp>
        <p:nvSpPr>
          <p:cNvPr id="12" name="Shape 10"/>
          <p:cNvSpPr/>
          <p:nvPr/>
        </p:nvSpPr>
        <p:spPr>
          <a:xfrm>
            <a:off x="502920" y="2743200"/>
            <a:ext cx="3749040" cy="429768"/>
          </a:xfrm>
          <a:prstGeom prst="rect">
            <a:avLst/>
          </a:prstGeom>
          <a:solidFill>
            <a:srgbClr val="F0FAF4"/>
          </a:solidFill>
          <a:ln w="6350">
            <a:solidFill>
              <a:srgbClr val="E8F5E9"/>
            </a:solidFill>
            <a:prstDash val="solid"/>
          </a:ln>
        </p:spPr>
      </p:sp>
      <p:sp>
        <p:nvSpPr>
          <p:cNvPr id="13" name="Text 11"/>
          <p:cNvSpPr/>
          <p:nvPr/>
        </p:nvSpPr>
        <p:spPr>
          <a:xfrm>
            <a:off x="640080" y="2743200"/>
            <a:ext cx="1737360" cy="429768"/>
          </a:xfrm>
          <a:prstGeom prst="rect">
            <a:avLst/>
          </a:prstGeom>
          <a:noFill/>
          <a:ln/>
        </p:spPr>
        <p:txBody>
          <a:bodyPr wrap="square" lIns="0" tIns="0" rIns="0" bIns="0" rtlCol="0" anchor="ctr"/>
          <a:lstStyle/>
          <a:p>
            <a:pPr marL="0" indent="0">
              <a:buNone/>
            </a:pPr>
            <a:r>
              <a:rPr lang="en-US" sz="1100" b="1" dirty="0">
                <a:solidFill>
                  <a:srgbClr val="212529"/>
                </a:solidFill>
                <a:latin typeface="Calibri" pitchFamily="34" charset="0"/>
                <a:ea typeface="Calibri" pitchFamily="34" charset="-122"/>
                <a:cs typeface="Calibri" pitchFamily="34" charset="-120"/>
              </a:rPr>
              <a:t>Target Variable:</a:t>
            </a:r>
            <a:endParaRPr lang="en-US" sz="1100" dirty="0"/>
          </a:p>
        </p:txBody>
      </p:sp>
      <p:sp>
        <p:nvSpPr>
          <p:cNvPr id="14" name="Text 12"/>
          <p:cNvSpPr/>
          <p:nvPr/>
        </p:nvSpPr>
        <p:spPr>
          <a:xfrm>
            <a:off x="2377440" y="2743200"/>
            <a:ext cx="1737360" cy="429768"/>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Crop label</a:t>
            </a:r>
            <a:endParaRPr lang="en-US" sz="1100" dirty="0"/>
          </a:p>
        </p:txBody>
      </p:sp>
      <p:sp>
        <p:nvSpPr>
          <p:cNvPr id="15" name="Shape 13"/>
          <p:cNvSpPr/>
          <p:nvPr/>
        </p:nvSpPr>
        <p:spPr>
          <a:xfrm>
            <a:off x="502920" y="3246120"/>
            <a:ext cx="3749040" cy="429768"/>
          </a:xfrm>
          <a:prstGeom prst="rect">
            <a:avLst/>
          </a:prstGeom>
          <a:solidFill>
            <a:srgbClr val="FFFFFF"/>
          </a:solidFill>
          <a:ln w="6350">
            <a:solidFill>
              <a:srgbClr val="E8F5E9"/>
            </a:solidFill>
            <a:prstDash val="solid"/>
          </a:ln>
        </p:spPr>
      </p:sp>
      <p:sp>
        <p:nvSpPr>
          <p:cNvPr id="16" name="Text 14"/>
          <p:cNvSpPr/>
          <p:nvPr/>
        </p:nvSpPr>
        <p:spPr>
          <a:xfrm>
            <a:off x="640080" y="3246120"/>
            <a:ext cx="1737360" cy="429768"/>
          </a:xfrm>
          <a:prstGeom prst="rect">
            <a:avLst/>
          </a:prstGeom>
          <a:noFill/>
          <a:ln/>
        </p:spPr>
        <p:txBody>
          <a:bodyPr wrap="square" lIns="0" tIns="0" rIns="0" bIns="0" rtlCol="0" anchor="ctr"/>
          <a:lstStyle/>
          <a:p>
            <a:pPr marL="0" indent="0">
              <a:buNone/>
            </a:pPr>
            <a:r>
              <a:rPr lang="en-US" sz="1100" b="1" dirty="0">
                <a:solidFill>
                  <a:srgbClr val="212529"/>
                </a:solidFill>
                <a:latin typeface="Calibri" pitchFamily="34" charset="0"/>
                <a:ea typeface="Calibri" pitchFamily="34" charset="-122"/>
                <a:cs typeface="Calibri" pitchFamily="34" charset="-120"/>
              </a:rPr>
              <a:t>Missing Values:</a:t>
            </a:r>
            <a:endParaRPr lang="en-US" sz="1100" dirty="0"/>
          </a:p>
        </p:txBody>
      </p:sp>
      <p:sp>
        <p:nvSpPr>
          <p:cNvPr id="17" name="Text 15"/>
          <p:cNvSpPr/>
          <p:nvPr/>
        </p:nvSpPr>
        <p:spPr>
          <a:xfrm>
            <a:off x="2377440" y="3246120"/>
            <a:ext cx="1737360" cy="429768"/>
          </a:xfrm>
          <a:prstGeom prst="rect">
            <a:avLst/>
          </a:prstGeom>
          <a:noFill/>
          <a:ln/>
        </p:spPr>
        <p:txBody>
          <a:bodyPr wrap="square" lIns="0" tIns="0" rIns="0" bIns="0" rtlCol="0" anchor="ctr"/>
          <a:lstStyle/>
          <a:p>
            <a:pPr marL="0" indent="0">
              <a:buNone/>
            </a:pPr>
            <a:r>
              <a:rPr lang="en-US" sz="1100" b="1" dirty="0">
                <a:solidFill>
                  <a:srgbClr val="52B788"/>
                </a:solidFill>
                <a:latin typeface="Calibri" pitchFamily="34" charset="0"/>
                <a:ea typeface="Calibri" pitchFamily="34" charset="-122"/>
                <a:cs typeface="Calibri" pitchFamily="34" charset="-120"/>
              </a:rPr>
              <a:t>None</a:t>
            </a:r>
            <a:endParaRPr lang="en-US" sz="1100" dirty="0"/>
          </a:p>
        </p:txBody>
      </p:sp>
      <p:sp>
        <p:nvSpPr>
          <p:cNvPr id="18" name="Shape 16"/>
          <p:cNvSpPr/>
          <p:nvPr/>
        </p:nvSpPr>
        <p:spPr>
          <a:xfrm>
            <a:off x="502920" y="3749040"/>
            <a:ext cx="3749040" cy="429768"/>
          </a:xfrm>
          <a:prstGeom prst="rect">
            <a:avLst/>
          </a:prstGeom>
          <a:solidFill>
            <a:srgbClr val="F0FAF4"/>
          </a:solidFill>
          <a:ln w="6350">
            <a:solidFill>
              <a:srgbClr val="E8F5E9"/>
            </a:solidFill>
            <a:prstDash val="solid"/>
          </a:ln>
        </p:spPr>
      </p:sp>
      <p:sp>
        <p:nvSpPr>
          <p:cNvPr id="19" name="Text 17"/>
          <p:cNvSpPr/>
          <p:nvPr/>
        </p:nvSpPr>
        <p:spPr>
          <a:xfrm>
            <a:off x="640080" y="3749040"/>
            <a:ext cx="1737360" cy="429768"/>
          </a:xfrm>
          <a:prstGeom prst="rect">
            <a:avLst/>
          </a:prstGeom>
          <a:noFill/>
          <a:ln/>
        </p:spPr>
        <p:txBody>
          <a:bodyPr wrap="square" lIns="0" tIns="0" rIns="0" bIns="0" rtlCol="0" anchor="ctr"/>
          <a:lstStyle/>
          <a:p>
            <a:pPr marL="0" indent="0">
              <a:buNone/>
            </a:pPr>
            <a:r>
              <a:rPr lang="en-US" sz="1100" b="1" dirty="0">
                <a:solidFill>
                  <a:srgbClr val="212529"/>
                </a:solidFill>
                <a:latin typeface="Calibri" pitchFamily="34" charset="0"/>
                <a:ea typeface="Calibri" pitchFamily="34" charset="-122"/>
                <a:cs typeface="Calibri" pitchFamily="34" charset="-120"/>
              </a:rPr>
              <a:t>Data Type:</a:t>
            </a:r>
            <a:endParaRPr lang="en-US" sz="1100" dirty="0"/>
          </a:p>
        </p:txBody>
      </p:sp>
      <p:sp>
        <p:nvSpPr>
          <p:cNvPr id="20" name="Text 18"/>
          <p:cNvSpPr/>
          <p:nvPr/>
        </p:nvSpPr>
        <p:spPr>
          <a:xfrm>
            <a:off x="2377440" y="3749040"/>
            <a:ext cx="1737360" cy="429768"/>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Numerical + Categorical</a:t>
            </a:r>
            <a:endParaRPr lang="en-US" sz="1100" dirty="0"/>
          </a:p>
        </p:txBody>
      </p:sp>
      <p:sp>
        <p:nvSpPr>
          <p:cNvPr id="21" name="Shape 19"/>
          <p:cNvSpPr/>
          <p:nvPr/>
        </p:nvSpPr>
        <p:spPr>
          <a:xfrm>
            <a:off x="4663440" y="1143000"/>
            <a:ext cx="4114800" cy="3566160"/>
          </a:xfrm>
          <a:prstGeom prst="rect">
            <a:avLst/>
          </a:prstGeom>
          <a:solidFill>
            <a:srgbClr val="FFFFFF"/>
          </a:solidFill>
          <a:ln/>
          <a:effectLst>
            <a:outerShdw blurRad="101600" dist="38100" dir="8100000" algn="bl" rotWithShape="0">
              <a:srgbClr val="000000">
                <a:alpha val="10000"/>
              </a:srgbClr>
            </a:outerShdw>
          </a:effectLst>
        </p:spPr>
      </p:sp>
      <p:sp>
        <p:nvSpPr>
          <p:cNvPr id="22" name="Text 20"/>
          <p:cNvSpPr/>
          <p:nvPr/>
        </p:nvSpPr>
        <p:spPr>
          <a:xfrm>
            <a:off x="4800600" y="1234440"/>
            <a:ext cx="3840480" cy="411480"/>
          </a:xfrm>
          <a:prstGeom prst="rect">
            <a:avLst/>
          </a:prstGeom>
          <a:noFill/>
          <a:ln/>
        </p:spPr>
        <p:txBody>
          <a:bodyPr wrap="square" lIns="0" tIns="0" rIns="0" bIns="0"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Input Features</a:t>
            </a:r>
            <a:endParaRPr lang="en-US" sz="1400" dirty="0"/>
          </a:p>
        </p:txBody>
      </p:sp>
      <p:sp>
        <p:nvSpPr>
          <p:cNvPr id="23" name="Shape 21"/>
          <p:cNvSpPr/>
          <p:nvPr/>
        </p:nvSpPr>
        <p:spPr>
          <a:xfrm>
            <a:off x="4800600" y="1792224"/>
            <a:ext cx="347472" cy="347472"/>
          </a:xfrm>
          <a:prstGeom prst="ellipse">
            <a:avLst/>
          </a:prstGeom>
          <a:solidFill>
            <a:srgbClr val="40916C"/>
          </a:solidFill>
          <a:ln w="12700">
            <a:solidFill>
              <a:srgbClr val="40916C"/>
            </a:solidFill>
            <a:prstDash val="solid"/>
          </a:ln>
        </p:spPr>
      </p:sp>
      <p:sp>
        <p:nvSpPr>
          <p:cNvPr id="24" name="Text 22"/>
          <p:cNvSpPr/>
          <p:nvPr/>
        </p:nvSpPr>
        <p:spPr>
          <a:xfrm>
            <a:off x="4800600" y="1792224"/>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25" name="Text 23"/>
          <p:cNvSpPr/>
          <p:nvPr/>
        </p:nvSpPr>
        <p:spPr>
          <a:xfrm>
            <a:off x="5230368" y="1737360"/>
            <a:ext cx="3429000" cy="44805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Nitrogen content in soil (kg/ha)</a:t>
            </a:r>
            <a:endParaRPr lang="en-US" sz="1100" dirty="0"/>
          </a:p>
        </p:txBody>
      </p:sp>
      <p:sp>
        <p:nvSpPr>
          <p:cNvPr id="26" name="Shape 24"/>
          <p:cNvSpPr/>
          <p:nvPr/>
        </p:nvSpPr>
        <p:spPr>
          <a:xfrm>
            <a:off x="4800600" y="2240280"/>
            <a:ext cx="347472" cy="347472"/>
          </a:xfrm>
          <a:prstGeom prst="ellipse">
            <a:avLst/>
          </a:prstGeom>
          <a:solidFill>
            <a:srgbClr val="40916C"/>
          </a:solidFill>
          <a:ln w="12700">
            <a:solidFill>
              <a:srgbClr val="40916C"/>
            </a:solidFill>
            <a:prstDash val="solid"/>
          </a:ln>
        </p:spPr>
      </p:sp>
      <p:sp>
        <p:nvSpPr>
          <p:cNvPr id="27" name="Text 25"/>
          <p:cNvSpPr/>
          <p:nvPr/>
        </p:nvSpPr>
        <p:spPr>
          <a:xfrm>
            <a:off x="4800600" y="224028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t>
            </a:r>
            <a:endParaRPr lang="en-US" sz="900" dirty="0"/>
          </a:p>
        </p:txBody>
      </p:sp>
      <p:sp>
        <p:nvSpPr>
          <p:cNvPr id="28" name="Text 26"/>
          <p:cNvSpPr/>
          <p:nvPr/>
        </p:nvSpPr>
        <p:spPr>
          <a:xfrm>
            <a:off x="5230368" y="2185416"/>
            <a:ext cx="3429000" cy="44805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Phosphorus content in soil (kg/ha)</a:t>
            </a:r>
            <a:endParaRPr lang="en-US" sz="1100" dirty="0"/>
          </a:p>
        </p:txBody>
      </p:sp>
      <p:sp>
        <p:nvSpPr>
          <p:cNvPr id="29" name="Shape 27"/>
          <p:cNvSpPr/>
          <p:nvPr/>
        </p:nvSpPr>
        <p:spPr>
          <a:xfrm>
            <a:off x="4800600" y="2688336"/>
            <a:ext cx="347472" cy="347472"/>
          </a:xfrm>
          <a:prstGeom prst="ellipse">
            <a:avLst/>
          </a:prstGeom>
          <a:solidFill>
            <a:srgbClr val="40916C"/>
          </a:solidFill>
          <a:ln w="12700">
            <a:solidFill>
              <a:srgbClr val="40916C"/>
            </a:solidFill>
            <a:prstDash val="solid"/>
          </a:ln>
        </p:spPr>
      </p:sp>
      <p:sp>
        <p:nvSpPr>
          <p:cNvPr id="30" name="Text 28"/>
          <p:cNvSpPr/>
          <p:nvPr/>
        </p:nvSpPr>
        <p:spPr>
          <a:xfrm>
            <a:off x="4800600" y="2688336"/>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K</a:t>
            </a:r>
            <a:endParaRPr lang="en-US" sz="900" dirty="0"/>
          </a:p>
        </p:txBody>
      </p:sp>
      <p:sp>
        <p:nvSpPr>
          <p:cNvPr id="31" name="Text 29"/>
          <p:cNvSpPr/>
          <p:nvPr/>
        </p:nvSpPr>
        <p:spPr>
          <a:xfrm>
            <a:off x="5230368" y="2633472"/>
            <a:ext cx="3429000" cy="44805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Potassium content in soil (kg/ha)</a:t>
            </a:r>
            <a:endParaRPr lang="en-US" sz="1100" dirty="0"/>
          </a:p>
        </p:txBody>
      </p:sp>
      <p:sp>
        <p:nvSpPr>
          <p:cNvPr id="32" name="Shape 30"/>
          <p:cNvSpPr/>
          <p:nvPr/>
        </p:nvSpPr>
        <p:spPr>
          <a:xfrm>
            <a:off x="4800600" y="3136392"/>
            <a:ext cx="347472" cy="347472"/>
          </a:xfrm>
          <a:prstGeom prst="ellipse">
            <a:avLst/>
          </a:prstGeom>
          <a:solidFill>
            <a:srgbClr val="40916C"/>
          </a:solidFill>
          <a:ln w="12700">
            <a:solidFill>
              <a:srgbClr val="40916C"/>
            </a:solidFill>
            <a:prstDash val="solid"/>
          </a:ln>
        </p:spPr>
      </p:sp>
      <p:sp>
        <p:nvSpPr>
          <p:cNvPr id="33" name="Text 31"/>
          <p:cNvSpPr/>
          <p:nvPr/>
        </p:nvSpPr>
        <p:spPr>
          <a:xfrm>
            <a:off x="4800600" y="3136392"/>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Temp</a:t>
            </a:r>
            <a:endParaRPr lang="en-US" sz="900" dirty="0"/>
          </a:p>
        </p:txBody>
      </p:sp>
      <p:sp>
        <p:nvSpPr>
          <p:cNvPr id="34" name="Text 32"/>
          <p:cNvSpPr/>
          <p:nvPr/>
        </p:nvSpPr>
        <p:spPr>
          <a:xfrm>
            <a:off x="5230368" y="3081528"/>
            <a:ext cx="3429000" cy="44805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Temperature (°C)</a:t>
            </a:r>
            <a:endParaRPr lang="en-US" sz="1100" dirty="0"/>
          </a:p>
        </p:txBody>
      </p:sp>
      <p:sp>
        <p:nvSpPr>
          <p:cNvPr id="35" name="Shape 33"/>
          <p:cNvSpPr/>
          <p:nvPr/>
        </p:nvSpPr>
        <p:spPr>
          <a:xfrm>
            <a:off x="4800600" y="3584448"/>
            <a:ext cx="347472" cy="347472"/>
          </a:xfrm>
          <a:prstGeom prst="ellipse">
            <a:avLst/>
          </a:prstGeom>
          <a:solidFill>
            <a:srgbClr val="40916C"/>
          </a:solidFill>
          <a:ln w="12700">
            <a:solidFill>
              <a:srgbClr val="40916C"/>
            </a:solidFill>
            <a:prstDash val="solid"/>
          </a:ln>
        </p:spPr>
      </p:sp>
      <p:sp>
        <p:nvSpPr>
          <p:cNvPr id="36" name="Text 34"/>
          <p:cNvSpPr/>
          <p:nvPr/>
        </p:nvSpPr>
        <p:spPr>
          <a:xfrm>
            <a:off x="4800600" y="3584448"/>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Humidity</a:t>
            </a:r>
            <a:endParaRPr lang="en-US" sz="900" dirty="0"/>
          </a:p>
        </p:txBody>
      </p:sp>
      <p:sp>
        <p:nvSpPr>
          <p:cNvPr id="37" name="Text 35"/>
          <p:cNvSpPr/>
          <p:nvPr/>
        </p:nvSpPr>
        <p:spPr>
          <a:xfrm>
            <a:off x="5230368" y="3529584"/>
            <a:ext cx="3429000" cy="44805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Relative humidity (%)</a:t>
            </a:r>
            <a:endParaRPr lang="en-US" sz="1100" dirty="0"/>
          </a:p>
        </p:txBody>
      </p:sp>
      <p:sp>
        <p:nvSpPr>
          <p:cNvPr id="38" name="Shape 36"/>
          <p:cNvSpPr/>
          <p:nvPr/>
        </p:nvSpPr>
        <p:spPr>
          <a:xfrm>
            <a:off x="4800600" y="4032504"/>
            <a:ext cx="347472" cy="347472"/>
          </a:xfrm>
          <a:prstGeom prst="ellipse">
            <a:avLst/>
          </a:prstGeom>
          <a:solidFill>
            <a:srgbClr val="40916C"/>
          </a:solidFill>
          <a:ln w="12700">
            <a:solidFill>
              <a:srgbClr val="40916C"/>
            </a:solidFill>
            <a:prstDash val="solid"/>
          </a:ln>
        </p:spPr>
      </p:sp>
      <p:sp>
        <p:nvSpPr>
          <p:cNvPr id="39" name="Text 37"/>
          <p:cNvSpPr/>
          <p:nvPr/>
        </p:nvSpPr>
        <p:spPr>
          <a:xfrm>
            <a:off x="4800600" y="4032504"/>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pH</a:t>
            </a:r>
            <a:endParaRPr lang="en-US" sz="900" dirty="0"/>
          </a:p>
        </p:txBody>
      </p:sp>
      <p:sp>
        <p:nvSpPr>
          <p:cNvPr id="40" name="Text 38"/>
          <p:cNvSpPr/>
          <p:nvPr/>
        </p:nvSpPr>
        <p:spPr>
          <a:xfrm>
            <a:off x="5230368" y="3977640"/>
            <a:ext cx="3429000" cy="44805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Soil pH value</a:t>
            </a:r>
            <a:endParaRPr lang="en-US" sz="1100" dirty="0"/>
          </a:p>
        </p:txBody>
      </p:sp>
      <p:sp>
        <p:nvSpPr>
          <p:cNvPr id="41" name="Shape 39"/>
          <p:cNvSpPr/>
          <p:nvPr/>
        </p:nvSpPr>
        <p:spPr>
          <a:xfrm>
            <a:off x="4800600" y="4480560"/>
            <a:ext cx="347472" cy="347472"/>
          </a:xfrm>
          <a:prstGeom prst="ellipse">
            <a:avLst/>
          </a:prstGeom>
          <a:solidFill>
            <a:srgbClr val="40916C"/>
          </a:solidFill>
          <a:ln w="12700">
            <a:solidFill>
              <a:srgbClr val="40916C"/>
            </a:solidFill>
            <a:prstDash val="solid"/>
          </a:ln>
        </p:spPr>
      </p:sp>
      <p:sp>
        <p:nvSpPr>
          <p:cNvPr id="42" name="Text 40"/>
          <p:cNvSpPr/>
          <p:nvPr/>
        </p:nvSpPr>
        <p:spPr>
          <a:xfrm>
            <a:off x="4800600" y="448056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Rainfall</a:t>
            </a:r>
            <a:endParaRPr lang="en-US" sz="900" dirty="0"/>
          </a:p>
        </p:txBody>
      </p:sp>
      <p:sp>
        <p:nvSpPr>
          <p:cNvPr id="43" name="Text 41"/>
          <p:cNvSpPr/>
          <p:nvPr/>
        </p:nvSpPr>
        <p:spPr>
          <a:xfrm>
            <a:off x="5230368" y="4425696"/>
            <a:ext cx="3429000" cy="448056"/>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Annual rainfall (mm)</a:t>
            </a:r>
            <a:endParaRPr lang="en-US" sz="1100" dirty="0"/>
          </a:p>
        </p:txBody>
      </p:sp>
      <p:sp>
        <p:nvSpPr>
          <p:cNvPr id="44" name="Shape 42"/>
          <p:cNvSpPr/>
          <p:nvPr/>
        </p:nvSpPr>
        <p:spPr>
          <a:xfrm>
            <a:off x="365760" y="4709160"/>
            <a:ext cx="8412480" cy="274320"/>
          </a:xfrm>
          <a:prstGeom prst="rect">
            <a:avLst/>
          </a:prstGeom>
          <a:solidFill>
            <a:srgbClr val="EDF7EE"/>
          </a:solidFill>
          <a:ln w="6350">
            <a:solidFill>
              <a:srgbClr val="74C69D"/>
            </a:solidFill>
            <a:prstDash val="solid"/>
          </a:ln>
        </p:spPr>
      </p:sp>
      <p:sp>
        <p:nvSpPr>
          <p:cNvPr id="45" name="Text 43"/>
          <p:cNvSpPr/>
          <p:nvPr/>
        </p:nvSpPr>
        <p:spPr>
          <a:xfrm>
            <a:off x="457200" y="4709160"/>
            <a:ext cx="8321040" cy="274320"/>
          </a:xfrm>
          <a:prstGeom prst="rect">
            <a:avLst/>
          </a:prstGeom>
          <a:noFill/>
          <a:ln/>
        </p:spPr>
        <p:txBody>
          <a:bodyPr wrap="square" lIns="0" tIns="0" rIns="0" bIns="0" rtlCol="0" anchor="ctr"/>
          <a:lstStyle/>
          <a:p>
            <a:pPr marL="0" indent="0">
              <a:buNone/>
            </a:pPr>
            <a:r>
              <a:rPr lang="en-US" sz="1000" i="1" dirty="0">
                <a:solidFill>
                  <a:srgbClr val="6C757D"/>
                </a:solidFill>
                <a:latin typeface="Consolas" pitchFamily="34" charset="0"/>
                <a:ea typeface="Consolas" pitchFamily="34" charset="-122"/>
                <a:cs typeface="Consolas" pitchFamily="34" charset="-120"/>
              </a:rPr>
              <a:t>Correlation heatmap generated to identify relationships between soil and climate variables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4332"/>
          </a:solidFill>
          <a:ln w="12700">
            <a:solidFill>
              <a:srgbClr val="1B4332"/>
            </a:solidFill>
            <a:prstDash val="solid"/>
          </a:ln>
        </p:spPr>
      </p:sp>
      <p:sp>
        <p:nvSpPr>
          <p:cNvPr id="3" name="Text 1"/>
          <p:cNvSpPr/>
          <p:nvPr/>
        </p:nvSpPr>
        <p:spPr>
          <a:xfrm>
            <a:off x="365760" y="0"/>
            <a:ext cx="8412480" cy="100584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Model Architecture &amp; Training</a:t>
            </a:r>
            <a:endParaRPr lang="en-US" sz="2800" dirty="0"/>
          </a:p>
        </p:txBody>
      </p:sp>
      <p:sp>
        <p:nvSpPr>
          <p:cNvPr id="4" name="Shape 2"/>
          <p:cNvSpPr/>
          <p:nvPr/>
        </p:nvSpPr>
        <p:spPr>
          <a:xfrm>
            <a:off x="457200" y="1234440"/>
            <a:ext cx="1828800" cy="1280160"/>
          </a:xfrm>
          <a:prstGeom prst="rect">
            <a:avLst/>
          </a:prstGeom>
          <a:solidFill>
            <a:srgbClr val="40916C"/>
          </a:solidFill>
          <a:ln/>
          <a:effectLst>
            <a:outerShdw blurRad="76200" dist="38100" dir="8100000" algn="bl" rotWithShape="0">
              <a:srgbClr val="000000">
                <a:alpha val="18000"/>
              </a:srgbClr>
            </a:outerShdw>
          </a:effectLst>
        </p:spPr>
      </p:sp>
      <p:sp>
        <p:nvSpPr>
          <p:cNvPr id="5" name="Text 3"/>
          <p:cNvSpPr/>
          <p:nvPr/>
        </p:nvSpPr>
        <p:spPr>
          <a:xfrm>
            <a:off x="457200" y="123444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6" name="Text 4"/>
          <p:cNvSpPr/>
          <p:nvPr/>
        </p:nvSpPr>
        <p:spPr>
          <a:xfrm>
            <a:off x="457200" y="1783080"/>
            <a:ext cx="1828800" cy="685800"/>
          </a:xfrm>
          <a:prstGeom prst="rect">
            <a:avLst/>
          </a:prstGeom>
          <a:noFill/>
          <a:ln/>
        </p:spPr>
        <p:txBody>
          <a:bodyPr wrap="square" lIns="0" tIns="0" rIns="0" bIns="0" rtlCol="0" anchor="t"/>
          <a:lstStyle/>
          <a:p>
            <a:pPr marL="0" indent="0" algn="ctr">
              <a:buNone/>
            </a:pPr>
            <a:r>
              <a:rPr lang="en-US" sz="1000" dirty="0">
                <a:solidFill>
                  <a:srgbClr val="B7E4C7"/>
                </a:solidFill>
                <a:latin typeface="Calibri" pitchFamily="34" charset="0"/>
                <a:ea typeface="Calibri" pitchFamily="34" charset="-122"/>
                <a:cs typeface="Calibri" pitchFamily="34" charset="-120"/>
              </a:rPr>
              <a:t>Raw CSV data</a:t>
            </a:r>
            <a:endParaRPr lang="en-US" sz="1000" dirty="0"/>
          </a:p>
          <a:p>
            <a:pPr marL="0" indent="0" algn="ctr">
              <a:buNone/>
            </a:pPr>
            <a:r>
              <a:rPr lang="en-US" sz="1000" dirty="0">
                <a:solidFill>
                  <a:srgbClr val="B7E4C7"/>
                </a:solidFill>
                <a:latin typeface="Calibri" pitchFamily="34" charset="0"/>
                <a:ea typeface="Calibri" pitchFamily="34" charset="-122"/>
                <a:cs typeface="Calibri" pitchFamily="34" charset="-120"/>
              </a:rPr>
              <a:t>2,200+ rows</a:t>
            </a:r>
            <a:endParaRPr lang="en-US" sz="1000" dirty="0"/>
          </a:p>
        </p:txBody>
      </p:sp>
      <p:sp>
        <p:nvSpPr>
          <p:cNvPr id="7" name="Shape 5"/>
          <p:cNvSpPr/>
          <p:nvPr/>
        </p:nvSpPr>
        <p:spPr>
          <a:xfrm>
            <a:off x="2313432" y="1764792"/>
            <a:ext cx="246888" cy="73152"/>
          </a:xfrm>
          <a:prstGeom prst="rect">
            <a:avLst/>
          </a:prstGeom>
          <a:solidFill>
            <a:srgbClr val="6C757D"/>
          </a:solidFill>
          <a:ln w="12700">
            <a:solidFill>
              <a:srgbClr val="6C757D"/>
            </a:solidFill>
            <a:prstDash val="solid"/>
          </a:ln>
        </p:spPr>
      </p:sp>
      <p:sp>
        <p:nvSpPr>
          <p:cNvPr id="8" name="Text 6"/>
          <p:cNvSpPr/>
          <p:nvPr/>
        </p:nvSpPr>
        <p:spPr>
          <a:xfrm>
            <a:off x="2514600" y="1700784"/>
            <a:ext cx="137160" cy="228600"/>
          </a:xfrm>
          <a:prstGeom prst="rect">
            <a:avLst/>
          </a:prstGeom>
          <a:noFill/>
          <a:ln/>
        </p:spPr>
        <p:txBody>
          <a:bodyPr wrap="square" lIns="0" tIns="0" rIns="0" bIns="0" rtlCol="0" anchor="ctr"/>
          <a:lstStyle/>
          <a:p>
            <a:pPr marL="0" indent="0" algn="ctr">
              <a:buNone/>
            </a:pPr>
            <a:r>
              <a:rPr lang="en-US" sz="1000" dirty="0">
                <a:solidFill>
                  <a:srgbClr val="6C757D"/>
                </a:solidFill>
              </a:rPr>
              <a:t>▶</a:t>
            </a:r>
            <a:endParaRPr lang="en-US" sz="1000" dirty="0"/>
          </a:p>
        </p:txBody>
      </p:sp>
      <p:sp>
        <p:nvSpPr>
          <p:cNvPr id="9" name="Shape 7"/>
          <p:cNvSpPr/>
          <p:nvPr/>
        </p:nvSpPr>
        <p:spPr>
          <a:xfrm>
            <a:off x="2606040" y="1234440"/>
            <a:ext cx="1828800" cy="1280160"/>
          </a:xfrm>
          <a:prstGeom prst="rect">
            <a:avLst/>
          </a:prstGeom>
          <a:solidFill>
            <a:srgbClr val="2D6A4F"/>
          </a:solidFill>
          <a:ln/>
          <a:effectLst>
            <a:outerShdw blurRad="76200" dist="38100" dir="8100000" algn="bl" rotWithShape="0">
              <a:srgbClr val="000000">
                <a:alpha val="18000"/>
              </a:srgbClr>
            </a:outerShdw>
          </a:effectLst>
        </p:spPr>
      </p:sp>
      <p:sp>
        <p:nvSpPr>
          <p:cNvPr id="10" name="Text 8"/>
          <p:cNvSpPr/>
          <p:nvPr/>
        </p:nvSpPr>
        <p:spPr>
          <a:xfrm>
            <a:off x="2606040" y="123444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Train/Test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Split</a:t>
            </a:r>
            <a:endParaRPr lang="en-US" sz="1300" dirty="0"/>
          </a:p>
        </p:txBody>
      </p:sp>
      <p:sp>
        <p:nvSpPr>
          <p:cNvPr id="11" name="Text 9"/>
          <p:cNvSpPr/>
          <p:nvPr/>
        </p:nvSpPr>
        <p:spPr>
          <a:xfrm>
            <a:off x="2606040" y="1783080"/>
            <a:ext cx="1828800" cy="685800"/>
          </a:xfrm>
          <a:prstGeom prst="rect">
            <a:avLst/>
          </a:prstGeom>
          <a:noFill/>
          <a:ln/>
        </p:spPr>
        <p:txBody>
          <a:bodyPr wrap="square" lIns="0" tIns="0" rIns="0" bIns="0" rtlCol="0" anchor="t"/>
          <a:lstStyle/>
          <a:p>
            <a:pPr marL="0" indent="0" algn="ctr">
              <a:buNone/>
            </a:pPr>
            <a:r>
              <a:rPr lang="en-US" sz="1000" dirty="0">
                <a:solidFill>
                  <a:srgbClr val="B7E4C7"/>
                </a:solidFill>
                <a:latin typeface="Calibri" pitchFamily="34" charset="0"/>
                <a:ea typeface="Calibri" pitchFamily="34" charset="-122"/>
                <a:cs typeface="Calibri" pitchFamily="34" charset="-120"/>
              </a:rPr>
              <a:t>80% Training</a:t>
            </a:r>
            <a:endParaRPr lang="en-US" sz="1000" dirty="0"/>
          </a:p>
          <a:p>
            <a:pPr marL="0" indent="0" algn="ctr">
              <a:buNone/>
            </a:pPr>
            <a:r>
              <a:rPr lang="en-US" sz="1000" dirty="0">
                <a:solidFill>
                  <a:srgbClr val="B7E4C7"/>
                </a:solidFill>
                <a:latin typeface="Calibri" pitchFamily="34" charset="0"/>
                <a:ea typeface="Calibri" pitchFamily="34" charset="-122"/>
                <a:cs typeface="Calibri" pitchFamily="34" charset="-120"/>
              </a:rPr>
              <a:t>20% Testing</a:t>
            </a:r>
            <a:endParaRPr lang="en-US" sz="1000" dirty="0"/>
          </a:p>
        </p:txBody>
      </p:sp>
      <p:sp>
        <p:nvSpPr>
          <p:cNvPr id="12" name="Shape 10"/>
          <p:cNvSpPr/>
          <p:nvPr/>
        </p:nvSpPr>
        <p:spPr>
          <a:xfrm>
            <a:off x="4462272" y="1764792"/>
            <a:ext cx="246888" cy="73152"/>
          </a:xfrm>
          <a:prstGeom prst="rect">
            <a:avLst/>
          </a:prstGeom>
          <a:solidFill>
            <a:srgbClr val="6C757D"/>
          </a:solidFill>
          <a:ln w="12700">
            <a:solidFill>
              <a:srgbClr val="6C757D"/>
            </a:solidFill>
            <a:prstDash val="solid"/>
          </a:ln>
        </p:spPr>
      </p:sp>
      <p:sp>
        <p:nvSpPr>
          <p:cNvPr id="13" name="Text 11"/>
          <p:cNvSpPr/>
          <p:nvPr/>
        </p:nvSpPr>
        <p:spPr>
          <a:xfrm>
            <a:off x="4663440" y="1700784"/>
            <a:ext cx="137160" cy="228600"/>
          </a:xfrm>
          <a:prstGeom prst="rect">
            <a:avLst/>
          </a:prstGeom>
          <a:noFill/>
          <a:ln/>
        </p:spPr>
        <p:txBody>
          <a:bodyPr wrap="square" lIns="0" tIns="0" rIns="0" bIns="0" rtlCol="0" anchor="ctr"/>
          <a:lstStyle/>
          <a:p>
            <a:pPr marL="0" indent="0" algn="ctr">
              <a:buNone/>
            </a:pPr>
            <a:r>
              <a:rPr lang="en-US" sz="1000" dirty="0">
                <a:solidFill>
                  <a:srgbClr val="6C757D"/>
                </a:solidFill>
              </a:rPr>
              <a:t>▶</a:t>
            </a:r>
            <a:endParaRPr lang="en-US" sz="1000" dirty="0"/>
          </a:p>
        </p:txBody>
      </p:sp>
      <p:sp>
        <p:nvSpPr>
          <p:cNvPr id="14" name="Shape 12"/>
          <p:cNvSpPr/>
          <p:nvPr/>
        </p:nvSpPr>
        <p:spPr>
          <a:xfrm>
            <a:off x="4754880" y="1234440"/>
            <a:ext cx="1828800" cy="1280160"/>
          </a:xfrm>
          <a:prstGeom prst="rect">
            <a:avLst/>
          </a:prstGeom>
          <a:solidFill>
            <a:srgbClr val="1B4332"/>
          </a:solidFill>
          <a:ln/>
          <a:effectLst>
            <a:outerShdw blurRad="76200" dist="38100" dir="8100000" algn="bl" rotWithShape="0">
              <a:srgbClr val="000000">
                <a:alpha val="18000"/>
              </a:srgbClr>
            </a:outerShdw>
          </a:effectLst>
        </p:spPr>
      </p:sp>
      <p:sp>
        <p:nvSpPr>
          <p:cNvPr id="15" name="Text 13"/>
          <p:cNvSpPr/>
          <p:nvPr/>
        </p:nvSpPr>
        <p:spPr>
          <a:xfrm>
            <a:off x="4754880" y="123444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Random Forest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Trainer</a:t>
            </a:r>
            <a:endParaRPr lang="en-US" sz="1300" dirty="0"/>
          </a:p>
        </p:txBody>
      </p:sp>
      <p:sp>
        <p:nvSpPr>
          <p:cNvPr id="16" name="Text 14"/>
          <p:cNvSpPr/>
          <p:nvPr/>
        </p:nvSpPr>
        <p:spPr>
          <a:xfrm>
            <a:off x="4754880" y="1783080"/>
            <a:ext cx="1828800" cy="685800"/>
          </a:xfrm>
          <a:prstGeom prst="rect">
            <a:avLst/>
          </a:prstGeom>
          <a:noFill/>
          <a:ln/>
        </p:spPr>
        <p:txBody>
          <a:bodyPr wrap="square" lIns="0" tIns="0" rIns="0" bIns="0" rtlCol="0" anchor="t"/>
          <a:lstStyle/>
          <a:p>
            <a:pPr marL="0" indent="0" algn="ctr">
              <a:buNone/>
            </a:pPr>
            <a:r>
              <a:rPr lang="en-US" sz="1000" dirty="0">
                <a:solidFill>
                  <a:srgbClr val="B7E4C7"/>
                </a:solidFill>
                <a:latin typeface="Calibri" pitchFamily="34" charset="0"/>
                <a:ea typeface="Calibri" pitchFamily="34" charset="-122"/>
                <a:cs typeface="Calibri" pitchFamily="34" charset="-120"/>
              </a:rPr>
              <a:t>100 estimators</a:t>
            </a:r>
            <a:endParaRPr lang="en-US" sz="1000" dirty="0"/>
          </a:p>
          <a:p>
            <a:pPr marL="0" indent="0" algn="ctr">
              <a:buNone/>
            </a:pPr>
            <a:r>
              <a:rPr lang="en-US" sz="1000" dirty="0">
                <a:solidFill>
                  <a:srgbClr val="B7E4C7"/>
                </a:solidFill>
                <a:latin typeface="Calibri" pitchFamily="34" charset="0"/>
                <a:ea typeface="Calibri" pitchFamily="34" charset="-122"/>
                <a:cs typeface="Calibri" pitchFamily="34" charset="-120"/>
              </a:rPr>
              <a:t>random_state=42</a:t>
            </a:r>
            <a:endParaRPr lang="en-US" sz="1000" dirty="0"/>
          </a:p>
        </p:txBody>
      </p:sp>
      <p:sp>
        <p:nvSpPr>
          <p:cNvPr id="17" name="Shape 15"/>
          <p:cNvSpPr/>
          <p:nvPr/>
        </p:nvSpPr>
        <p:spPr>
          <a:xfrm>
            <a:off x="6611112" y="1764792"/>
            <a:ext cx="246888" cy="73152"/>
          </a:xfrm>
          <a:prstGeom prst="rect">
            <a:avLst/>
          </a:prstGeom>
          <a:solidFill>
            <a:srgbClr val="6C757D"/>
          </a:solidFill>
          <a:ln w="12700">
            <a:solidFill>
              <a:srgbClr val="6C757D"/>
            </a:solidFill>
            <a:prstDash val="solid"/>
          </a:ln>
        </p:spPr>
      </p:sp>
      <p:sp>
        <p:nvSpPr>
          <p:cNvPr id="18" name="Text 16"/>
          <p:cNvSpPr/>
          <p:nvPr/>
        </p:nvSpPr>
        <p:spPr>
          <a:xfrm>
            <a:off x="6812280" y="1700784"/>
            <a:ext cx="137160" cy="228600"/>
          </a:xfrm>
          <a:prstGeom prst="rect">
            <a:avLst/>
          </a:prstGeom>
          <a:noFill/>
          <a:ln/>
        </p:spPr>
        <p:txBody>
          <a:bodyPr wrap="square" lIns="0" tIns="0" rIns="0" bIns="0" rtlCol="0" anchor="ctr"/>
          <a:lstStyle/>
          <a:p>
            <a:pPr marL="0" indent="0" algn="ctr">
              <a:buNone/>
            </a:pPr>
            <a:r>
              <a:rPr lang="en-US" sz="1000" dirty="0">
                <a:solidFill>
                  <a:srgbClr val="6C757D"/>
                </a:solidFill>
              </a:rPr>
              <a:t>▶</a:t>
            </a:r>
            <a:endParaRPr lang="en-US" sz="1000" dirty="0"/>
          </a:p>
        </p:txBody>
      </p:sp>
      <p:sp>
        <p:nvSpPr>
          <p:cNvPr id="19" name="Shape 17"/>
          <p:cNvSpPr/>
          <p:nvPr/>
        </p:nvSpPr>
        <p:spPr>
          <a:xfrm>
            <a:off x="6903720" y="1234440"/>
            <a:ext cx="1828800" cy="1280160"/>
          </a:xfrm>
          <a:prstGeom prst="rect">
            <a:avLst/>
          </a:prstGeom>
          <a:solidFill>
            <a:srgbClr val="52B788"/>
          </a:solidFill>
          <a:ln/>
          <a:effectLst>
            <a:outerShdw blurRad="76200" dist="38100" dir="8100000" algn="bl" rotWithShape="0">
              <a:srgbClr val="000000">
                <a:alpha val="18000"/>
              </a:srgbClr>
            </a:outerShdw>
          </a:effectLst>
        </p:spPr>
      </p:sp>
      <p:sp>
        <p:nvSpPr>
          <p:cNvPr id="20" name="Text 18"/>
          <p:cNvSpPr/>
          <p:nvPr/>
        </p:nvSpPr>
        <p:spPr>
          <a:xfrm>
            <a:off x="6903720" y="123444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Predictions</a:t>
            </a:r>
            <a:endParaRPr lang="en-US" sz="1300" dirty="0"/>
          </a:p>
        </p:txBody>
      </p:sp>
      <p:sp>
        <p:nvSpPr>
          <p:cNvPr id="21" name="Text 19"/>
          <p:cNvSpPr/>
          <p:nvPr/>
        </p:nvSpPr>
        <p:spPr>
          <a:xfrm>
            <a:off x="6903720" y="1783080"/>
            <a:ext cx="1828800" cy="685800"/>
          </a:xfrm>
          <a:prstGeom prst="rect">
            <a:avLst/>
          </a:prstGeom>
          <a:noFill/>
          <a:ln/>
        </p:spPr>
        <p:txBody>
          <a:bodyPr wrap="square" lIns="0" tIns="0" rIns="0" bIns="0" rtlCol="0" anchor="t"/>
          <a:lstStyle/>
          <a:p>
            <a:pPr marL="0" indent="0" algn="ctr">
              <a:buNone/>
            </a:pPr>
            <a:r>
              <a:rPr lang="en-US" sz="1000" dirty="0">
                <a:solidFill>
                  <a:srgbClr val="B7E4C7"/>
                </a:solidFill>
                <a:latin typeface="Calibri" pitchFamily="34" charset="0"/>
                <a:ea typeface="Calibri" pitchFamily="34" charset="-122"/>
                <a:cs typeface="Calibri" pitchFamily="34" charset="-120"/>
              </a:rPr>
              <a:t>Crop</a:t>
            </a:r>
            <a:endParaRPr lang="en-US" sz="1000" dirty="0"/>
          </a:p>
          <a:p>
            <a:pPr marL="0" indent="0" algn="ctr">
              <a:buNone/>
            </a:pPr>
            <a:r>
              <a:rPr lang="en-US" sz="1000" dirty="0">
                <a:solidFill>
                  <a:srgbClr val="B7E4C7"/>
                </a:solidFill>
                <a:latin typeface="Calibri" pitchFamily="34" charset="0"/>
                <a:ea typeface="Calibri" pitchFamily="34" charset="-122"/>
                <a:cs typeface="Calibri" pitchFamily="34" charset="-120"/>
              </a:rPr>
              <a:t>Recommendation</a:t>
            </a:r>
            <a:endParaRPr lang="en-US" sz="1000" dirty="0"/>
          </a:p>
        </p:txBody>
      </p:sp>
      <p:sp>
        <p:nvSpPr>
          <p:cNvPr id="22" name="Shape 20"/>
          <p:cNvSpPr/>
          <p:nvPr/>
        </p:nvSpPr>
        <p:spPr>
          <a:xfrm>
            <a:off x="365760" y="2743200"/>
            <a:ext cx="5029200" cy="2194560"/>
          </a:xfrm>
          <a:prstGeom prst="rect">
            <a:avLst/>
          </a:prstGeom>
          <a:solidFill>
            <a:srgbClr val="FFFFFF"/>
          </a:solidFill>
          <a:ln/>
          <a:effectLst>
            <a:outerShdw blurRad="101600" dist="38100" dir="8100000" algn="bl" rotWithShape="0">
              <a:srgbClr val="000000">
                <a:alpha val="10000"/>
              </a:srgbClr>
            </a:outerShdw>
          </a:effectLst>
        </p:spPr>
      </p:sp>
      <p:sp>
        <p:nvSpPr>
          <p:cNvPr id="23" name="Shape 21"/>
          <p:cNvSpPr/>
          <p:nvPr/>
        </p:nvSpPr>
        <p:spPr>
          <a:xfrm>
            <a:off x="365760" y="2743200"/>
            <a:ext cx="109728" cy="2194560"/>
          </a:xfrm>
          <a:prstGeom prst="rect">
            <a:avLst/>
          </a:prstGeom>
          <a:solidFill>
            <a:srgbClr val="40916C"/>
          </a:solidFill>
          <a:ln w="12700">
            <a:solidFill>
              <a:srgbClr val="40916C"/>
            </a:solidFill>
            <a:prstDash val="solid"/>
          </a:ln>
        </p:spPr>
      </p:sp>
      <p:sp>
        <p:nvSpPr>
          <p:cNvPr id="24" name="Text 22"/>
          <p:cNvSpPr/>
          <p:nvPr/>
        </p:nvSpPr>
        <p:spPr>
          <a:xfrm>
            <a:off x="594360" y="2834640"/>
            <a:ext cx="4663440" cy="365760"/>
          </a:xfrm>
          <a:prstGeom prst="rect">
            <a:avLst/>
          </a:prstGeom>
          <a:noFill/>
          <a:ln/>
        </p:spPr>
        <p:txBody>
          <a:bodyPr wrap="square" lIns="0" tIns="0" rIns="0" bIns="0"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Random Forest Classifier</a:t>
            </a:r>
            <a:endParaRPr lang="en-US" sz="1400" dirty="0"/>
          </a:p>
        </p:txBody>
      </p:sp>
      <p:sp>
        <p:nvSpPr>
          <p:cNvPr id="25" name="Text 23"/>
          <p:cNvSpPr/>
          <p:nvPr/>
        </p:nvSpPr>
        <p:spPr>
          <a:xfrm>
            <a:off x="594360" y="3291840"/>
            <a:ext cx="4663440" cy="320040"/>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  </a:t>
            </a:r>
            <a:r>
              <a:rPr lang="en-US" sz="1100" dirty="0">
                <a:solidFill>
                  <a:srgbClr val="212529"/>
                </a:solidFill>
                <a:latin typeface="Calibri" pitchFamily="34" charset="0"/>
                <a:ea typeface="Calibri" pitchFamily="34" charset="-122"/>
                <a:cs typeface="Calibri" pitchFamily="34" charset="-120"/>
              </a:rPr>
              <a:t>Ensemble of 100 decision trees</a:t>
            </a:r>
            <a:endParaRPr lang="en-US" sz="1100" dirty="0"/>
          </a:p>
        </p:txBody>
      </p:sp>
      <p:sp>
        <p:nvSpPr>
          <p:cNvPr id="26" name="Text 24"/>
          <p:cNvSpPr/>
          <p:nvPr/>
        </p:nvSpPr>
        <p:spPr>
          <a:xfrm>
            <a:off x="594360" y="3611880"/>
            <a:ext cx="4663440" cy="320040"/>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  </a:t>
            </a:r>
            <a:r>
              <a:rPr lang="en-US" sz="1100" dirty="0">
                <a:solidFill>
                  <a:srgbClr val="212529"/>
                </a:solidFill>
                <a:latin typeface="Calibri" pitchFamily="34" charset="0"/>
                <a:ea typeface="Calibri" pitchFamily="34" charset="-122"/>
                <a:cs typeface="Calibri" pitchFamily="34" charset="-120"/>
              </a:rPr>
              <a:t>Each tree trained on a random data subset</a:t>
            </a:r>
            <a:endParaRPr lang="en-US" sz="1100" dirty="0"/>
          </a:p>
        </p:txBody>
      </p:sp>
      <p:sp>
        <p:nvSpPr>
          <p:cNvPr id="27" name="Text 25"/>
          <p:cNvSpPr/>
          <p:nvPr/>
        </p:nvSpPr>
        <p:spPr>
          <a:xfrm>
            <a:off x="594360" y="3931920"/>
            <a:ext cx="4663440" cy="320040"/>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  </a:t>
            </a:r>
            <a:r>
              <a:rPr lang="en-US" sz="1100" dirty="0">
                <a:solidFill>
                  <a:srgbClr val="212529"/>
                </a:solidFill>
                <a:latin typeface="Calibri" pitchFamily="34" charset="0"/>
                <a:ea typeface="Calibri" pitchFamily="34" charset="-122"/>
                <a:cs typeface="Calibri" pitchFamily="34" charset="-120"/>
              </a:rPr>
              <a:t>Final prediction by majority vote</a:t>
            </a:r>
            <a:endParaRPr lang="en-US" sz="1100" dirty="0"/>
          </a:p>
        </p:txBody>
      </p:sp>
      <p:sp>
        <p:nvSpPr>
          <p:cNvPr id="28" name="Text 26"/>
          <p:cNvSpPr/>
          <p:nvPr/>
        </p:nvSpPr>
        <p:spPr>
          <a:xfrm>
            <a:off x="594360" y="4251960"/>
            <a:ext cx="4663440" cy="320040"/>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  </a:t>
            </a:r>
            <a:r>
              <a:rPr lang="en-US" sz="1100" dirty="0">
                <a:solidFill>
                  <a:srgbClr val="212529"/>
                </a:solidFill>
                <a:latin typeface="Calibri" pitchFamily="34" charset="0"/>
                <a:ea typeface="Calibri" pitchFamily="34" charset="-122"/>
                <a:cs typeface="Calibri" pitchFamily="34" charset="-120"/>
              </a:rPr>
              <a:t>Robust to overfitting &amp; handles non-linearity</a:t>
            </a:r>
            <a:endParaRPr lang="en-US" sz="1100" dirty="0"/>
          </a:p>
        </p:txBody>
      </p:sp>
      <p:sp>
        <p:nvSpPr>
          <p:cNvPr id="29" name="Text 27"/>
          <p:cNvSpPr/>
          <p:nvPr/>
        </p:nvSpPr>
        <p:spPr>
          <a:xfrm>
            <a:off x="594360" y="4572000"/>
            <a:ext cx="4663440" cy="320040"/>
          </a:xfrm>
          <a:prstGeom prst="rect">
            <a:avLst/>
          </a:prstGeom>
          <a:noFill/>
          <a:ln/>
        </p:spPr>
        <p:txBody>
          <a:bodyPr wrap="square" lIns="0" tIns="0" rIns="0" bIns="0" rtlCol="0" anchor="ctr"/>
          <a:lstStyle/>
          <a:p>
            <a:pPr marL="0" indent="0">
              <a:buNone/>
            </a:pPr>
            <a:r>
              <a:rPr lang="en-US" sz="1100" b="1" dirty="0">
                <a:solidFill>
                  <a:srgbClr val="40916C"/>
                </a:solidFill>
                <a:latin typeface="Calibri" pitchFamily="34" charset="0"/>
                <a:ea typeface="Calibri" pitchFamily="34" charset="-122"/>
                <a:cs typeface="Calibri" pitchFamily="34" charset="-120"/>
              </a:rPr>
              <a:t>✓  </a:t>
            </a:r>
            <a:r>
              <a:rPr lang="en-US" sz="1100" dirty="0">
                <a:solidFill>
                  <a:srgbClr val="212529"/>
                </a:solidFill>
                <a:latin typeface="Calibri" pitchFamily="34" charset="0"/>
                <a:ea typeface="Calibri" pitchFamily="34" charset="-122"/>
                <a:cs typeface="Calibri" pitchFamily="34" charset="-120"/>
              </a:rPr>
              <a:t>Provides feature importance scores</a:t>
            </a:r>
            <a:endParaRPr lang="en-US" sz="1100" dirty="0"/>
          </a:p>
        </p:txBody>
      </p:sp>
      <p:sp>
        <p:nvSpPr>
          <p:cNvPr id="30" name="Shape 28"/>
          <p:cNvSpPr/>
          <p:nvPr/>
        </p:nvSpPr>
        <p:spPr>
          <a:xfrm>
            <a:off x="5577840" y="2743200"/>
            <a:ext cx="3200400" cy="2194560"/>
          </a:xfrm>
          <a:prstGeom prst="rect">
            <a:avLst/>
          </a:prstGeom>
          <a:solidFill>
            <a:srgbClr val="1B4332"/>
          </a:solidFill>
          <a:ln/>
          <a:effectLst>
            <a:outerShdw blurRad="101600" dist="38100" dir="8100000" algn="bl" rotWithShape="0">
              <a:srgbClr val="000000">
                <a:alpha val="15000"/>
              </a:srgbClr>
            </a:outerShdw>
          </a:effectLst>
        </p:spPr>
      </p:sp>
      <p:sp>
        <p:nvSpPr>
          <p:cNvPr id="31" name="Text 29"/>
          <p:cNvSpPr/>
          <p:nvPr/>
        </p:nvSpPr>
        <p:spPr>
          <a:xfrm>
            <a:off x="5715000" y="2834640"/>
            <a:ext cx="2926080" cy="365760"/>
          </a:xfrm>
          <a:prstGeom prst="rect">
            <a:avLst/>
          </a:prstGeom>
          <a:noFill/>
          <a:ln/>
        </p:spPr>
        <p:txBody>
          <a:bodyPr wrap="square" lIns="0" tIns="0" rIns="0" bIns="0" rtlCol="0" anchor="ctr"/>
          <a:lstStyle/>
          <a:p>
            <a:pPr marL="0" indent="0">
              <a:buNone/>
            </a:pPr>
            <a:r>
              <a:rPr lang="en-US" sz="1400" b="1" dirty="0">
                <a:solidFill>
                  <a:srgbClr val="E9C46A"/>
                </a:solidFill>
                <a:latin typeface="Calibri" pitchFamily="34" charset="0"/>
                <a:ea typeface="Calibri" pitchFamily="34" charset="-122"/>
                <a:cs typeface="Calibri" pitchFamily="34" charset="-120"/>
              </a:rPr>
              <a:t>Hyperparameters</a:t>
            </a:r>
            <a:endParaRPr lang="en-US" sz="1400" dirty="0"/>
          </a:p>
        </p:txBody>
      </p:sp>
      <p:sp>
        <p:nvSpPr>
          <p:cNvPr id="32" name="Text 30"/>
          <p:cNvSpPr/>
          <p:nvPr/>
        </p:nvSpPr>
        <p:spPr>
          <a:xfrm>
            <a:off x="5715000" y="3291840"/>
            <a:ext cx="1737360" cy="365760"/>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n_estimators:</a:t>
            </a:r>
            <a:endParaRPr lang="en-US" sz="1100" dirty="0"/>
          </a:p>
        </p:txBody>
      </p:sp>
      <p:sp>
        <p:nvSpPr>
          <p:cNvPr id="33" name="Text 31"/>
          <p:cNvSpPr/>
          <p:nvPr/>
        </p:nvSpPr>
        <p:spPr>
          <a:xfrm>
            <a:off x="7406640" y="3291840"/>
            <a:ext cx="1188720" cy="36576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100</a:t>
            </a:r>
            <a:endParaRPr lang="en-US" sz="1100" dirty="0"/>
          </a:p>
        </p:txBody>
      </p:sp>
      <p:sp>
        <p:nvSpPr>
          <p:cNvPr id="34" name="Text 32"/>
          <p:cNvSpPr/>
          <p:nvPr/>
        </p:nvSpPr>
        <p:spPr>
          <a:xfrm>
            <a:off x="5715000" y="3675888"/>
            <a:ext cx="1737360" cy="365760"/>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random_state:</a:t>
            </a:r>
            <a:endParaRPr lang="en-US" sz="1100" dirty="0"/>
          </a:p>
        </p:txBody>
      </p:sp>
      <p:sp>
        <p:nvSpPr>
          <p:cNvPr id="35" name="Text 33"/>
          <p:cNvSpPr/>
          <p:nvPr/>
        </p:nvSpPr>
        <p:spPr>
          <a:xfrm>
            <a:off x="7406640" y="3675888"/>
            <a:ext cx="1188720" cy="36576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42</a:t>
            </a:r>
            <a:endParaRPr lang="en-US" sz="1100" dirty="0"/>
          </a:p>
        </p:txBody>
      </p:sp>
      <p:sp>
        <p:nvSpPr>
          <p:cNvPr id="36" name="Text 34"/>
          <p:cNvSpPr/>
          <p:nvPr/>
        </p:nvSpPr>
        <p:spPr>
          <a:xfrm>
            <a:off x="5715000" y="4059936"/>
            <a:ext cx="1737360" cy="365760"/>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test_size:</a:t>
            </a:r>
            <a:endParaRPr lang="en-US" sz="1100" dirty="0"/>
          </a:p>
        </p:txBody>
      </p:sp>
      <p:sp>
        <p:nvSpPr>
          <p:cNvPr id="37" name="Text 35"/>
          <p:cNvSpPr/>
          <p:nvPr/>
        </p:nvSpPr>
        <p:spPr>
          <a:xfrm>
            <a:off x="7406640" y="4059936"/>
            <a:ext cx="1188720" cy="36576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0.2 (20%)</a:t>
            </a:r>
            <a:endParaRPr lang="en-US" sz="1100" dirty="0"/>
          </a:p>
        </p:txBody>
      </p:sp>
      <p:sp>
        <p:nvSpPr>
          <p:cNvPr id="38" name="Text 36"/>
          <p:cNvSpPr/>
          <p:nvPr/>
        </p:nvSpPr>
        <p:spPr>
          <a:xfrm>
            <a:off x="5715000" y="4443984"/>
            <a:ext cx="1737360" cy="365760"/>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train_size:</a:t>
            </a:r>
            <a:endParaRPr lang="en-US" sz="1100" dirty="0"/>
          </a:p>
        </p:txBody>
      </p:sp>
      <p:sp>
        <p:nvSpPr>
          <p:cNvPr id="39" name="Text 37"/>
          <p:cNvSpPr/>
          <p:nvPr/>
        </p:nvSpPr>
        <p:spPr>
          <a:xfrm>
            <a:off x="7406640" y="4443984"/>
            <a:ext cx="1188720" cy="36576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0.8 (80%)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6A4F"/>
          </a:solidFill>
          <a:ln w="12700">
            <a:solidFill>
              <a:srgbClr val="2D6A4F"/>
            </a:solidFill>
            <a:prstDash val="solid"/>
          </a:ln>
        </p:spPr>
      </p:sp>
      <p:sp>
        <p:nvSpPr>
          <p:cNvPr id="3" name="Text 1"/>
          <p:cNvSpPr/>
          <p:nvPr/>
        </p:nvSpPr>
        <p:spPr>
          <a:xfrm>
            <a:off x="365760" y="0"/>
            <a:ext cx="8412480" cy="100584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Model Results &amp; Evaluation</a:t>
            </a:r>
            <a:endParaRPr lang="en-US" sz="2800" dirty="0"/>
          </a:p>
        </p:txBody>
      </p:sp>
      <p:sp>
        <p:nvSpPr>
          <p:cNvPr id="4" name="Shape 2"/>
          <p:cNvSpPr/>
          <p:nvPr/>
        </p:nvSpPr>
        <p:spPr>
          <a:xfrm>
            <a:off x="365760" y="1143000"/>
            <a:ext cx="2560320" cy="2011680"/>
          </a:xfrm>
          <a:prstGeom prst="rect">
            <a:avLst/>
          </a:prstGeom>
          <a:solidFill>
            <a:srgbClr val="1B4332"/>
          </a:solidFill>
          <a:ln/>
          <a:effectLst>
            <a:outerShdw blurRad="127000" dist="50800" dir="8100000" algn="bl" rotWithShape="0">
              <a:srgbClr val="000000">
                <a:alpha val="20000"/>
              </a:srgbClr>
            </a:outerShdw>
          </a:effectLst>
        </p:spPr>
      </p:sp>
      <p:sp>
        <p:nvSpPr>
          <p:cNvPr id="5" name="Text 3"/>
          <p:cNvSpPr/>
          <p:nvPr/>
        </p:nvSpPr>
        <p:spPr>
          <a:xfrm>
            <a:off x="365760" y="1234440"/>
            <a:ext cx="2560320" cy="731520"/>
          </a:xfrm>
          <a:prstGeom prst="rect">
            <a:avLst/>
          </a:prstGeom>
          <a:noFill/>
          <a:ln/>
        </p:spPr>
        <p:txBody>
          <a:bodyPr wrap="square" lIns="0" tIns="0" rIns="0" bIns="0" rtlCol="0" anchor="ctr"/>
          <a:lstStyle/>
          <a:p>
            <a:pPr marL="0" indent="0" algn="ctr">
              <a:buNone/>
            </a:pPr>
            <a:r>
              <a:rPr lang="en-US" sz="1300" dirty="0">
                <a:solidFill>
                  <a:srgbClr val="B7E4C7"/>
                </a:solidFill>
                <a:latin typeface="Calibri" pitchFamily="34" charset="0"/>
                <a:ea typeface="Calibri" pitchFamily="34" charset="-122"/>
                <a:cs typeface="Calibri" pitchFamily="34" charset="-120"/>
              </a:rPr>
              <a:t>Model</a:t>
            </a:r>
            <a:endParaRPr lang="en-US" sz="1300" dirty="0"/>
          </a:p>
          <a:p>
            <a:pPr marL="0" indent="0" algn="ctr">
              <a:buNone/>
            </a:pPr>
            <a:r>
              <a:rPr lang="en-US" sz="1300" dirty="0">
                <a:solidFill>
                  <a:srgbClr val="B7E4C7"/>
                </a:solidFill>
                <a:latin typeface="Calibri" pitchFamily="34" charset="0"/>
                <a:ea typeface="Calibri" pitchFamily="34" charset="-122"/>
                <a:cs typeface="Calibri" pitchFamily="34" charset="-120"/>
              </a:rPr>
              <a:t>Accuracy</a:t>
            </a:r>
            <a:endParaRPr lang="en-US" sz="1300" dirty="0"/>
          </a:p>
        </p:txBody>
      </p:sp>
      <p:sp>
        <p:nvSpPr>
          <p:cNvPr id="6" name="Text 4"/>
          <p:cNvSpPr/>
          <p:nvPr/>
        </p:nvSpPr>
        <p:spPr>
          <a:xfrm>
            <a:off x="365760" y="1874520"/>
            <a:ext cx="2560320" cy="822960"/>
          </a:xfrm>
          <a:prstGeom prst="rect">
            <a:avLst/>
          </a:prstGeom>
          <a:noFill/>
          <a:ln/>
        </p:spPr>
        <p:txBody>
          <a:bodyPr wrap="square" lIns="0" tIns="0" rIns="0" bIns="0" rtlCol="0" anchor="ctr"/>
          <a:lstStyle/>
          <a:p>
            <a:pPr marL="0" indent="0" algn="ctr">
              <a:buNone/>
            </a:pPr>
            <a:r>
              <a:rPr lang="en-US" sz="3600" b="1" dirty="0">
                <a:solidFill>
                  <a:srgbClr val="E9C46A"/>
                </a:solidFill>
                <a:latin typeface="Calibri" pitchFamily="34" charset="0"/>
                <a:ea typeface="Calibri" pitchFamily="34" charset="-122"/>
                <a:cs typeface="Calibri" pitchFamily="34" charset="-120"/>
              </a:rPr>
              <a:t>99.32%</a:t>
            </a:r>
            <a:endParaRPr lang="en-US" sz="3600" dirty="0"/>
          </a:p>
        </p:txBody>
      </p:sp>
      <p:sp>
        <p:nvSpPr>
          <p:cNvPr id="7" name="Text 5"/>
          <p:cNvSpPr/>
          <p:nvPr/>
        </p:nvSpPr>
        <p:spPr>
          <a:xfrm>
            <a:off x="365760" y="2651760"/>
            <a:ext cx="2560320" cy="365760"/>
          </a:xfrm>
          <a:prstGeom prst="rect">
            <a:avLst/>
          </a:prstGeom>
          <a:noFill/>
          <a:ln/>
        </p:spPr>
        <p:txBody>
          <a:bodyPr wrap="square" lIns="0" tIns="0" rIns="0" bIns="0" rtlCol="0" anchor="ctr"/>
          <a:lstStyle/>
          <a:p>
            <a:pPr marL="0" indent="0" algn="ctr">
              <a:buNone/>
            </a:pPr>
            <a:r>
              <a:rPr lang="en-US" sz="1100" dirty="0">
                <a:solidFill>
                  <a:srgbClr val="74C69D"/>
                </a:solidFill>
                <a:latin typeface="Calibri" pitchFamily="34" charset="0"/>
                <a:ea typeface="Calibri" pitchFamily="34" charset="-122"/>
                <a:cs typeface="Calibri" pitchFamily="34" charset="-120"/>
              </a:rPr>
              <a:t>on test set</a:t>
            </a:r>
            <a:endParaRPr lang="en-US" sz="1100" dirty="0"/>
          </a:p>
        </p:txBody>
      </p:sp>
      <p:graphicFrame>
        <p:nvGraphicFramePr>
          <p:cNvPr id="8" name="Chart 0"/>
          <p:cNvGraphicFramePr/>
          <p:nvPr/>
        </p:nvGraphicFramePr>
        <p:xfrm>
          <a:off x="3108960" y="1143000"/>
          <a:ext cx="566928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594360" y="3383280"/>
            <a:ext cx="2743200" cy="320040"/>
          </a:xfrm>
          <a:prstGeom prst="rect">
            <a:avLst/>
          </a:prstGeom>
          <a:noFill/>
          <a:ln/>
        </p:spPr>
        <p:txBody>
          <a:bodyPr wrap="square" lIns="0" tIns="0" rIns="0" bIns="0" rtlCol="0" anchor="ctr"/>
          <a:lstStyle/>
          <a:p>
            <a:pPr marL="0" indent="0">
              <a:buNone/>
            </a:pPr>
            <a:endParaRPr lang="en-US" sz="1200" dirty="0"/>
          </a:p>
        </p:txBody>
      </p:sp>
      <p:sp>
        <p:nvSpPr>
          <p:cNvPr id="12" name="Text 9"/>
          <p:cNvSpPr/>
          <p:nvPr/>
        </p:nvSpPr>
        <p:spPr>
          <a:xfrm>
            <a:off x="594360" y="3657600"/>
            <a:ext cx="8092440" cy="365760"/>
          </a:xfrm>
          <a:prstGeom prst="rect">
            <a:avLst/>
          </a:prstGeom>
          <a:noFill/>
          <a:ln/>
        </p:spPr>
        <p:txBody>
          <a:bodyPr wrap="square" lIns="0" tIns="0" rIns="0" bIns="0" rtlCol="0" anchor="ctr"/>
          <a:lstStyle/>
          <a:p>
            <a:pPr marL="0" indent="0">
              <a:buNone/>
            </a:pPr>
            <a:endParaRPr lang="en-US" sz="1100" dirty="0"/>
          </a:p>
        </p:txBody>
      </p:sp>
      <p:sp>
        <p:nvSpPr>
          <p:cNvPr id="13" name="Shape 10"/>
          <p:cNvSpPr/>
          <p:nvPr/>
        </p:nvSpPr>
        <p:spPr>
          <a:xfrm>
            <a:off x="365760" y="4251960"/>
            <a:ext cx="8412480" cy="685800"/>
          </a:xfrm>
          <a:prstGeom prst="rect">
            <a:avLst/>
          </a:prstGeom>
          <a:solidFill>
            <a:srgbClr val="1B2B1E"/>
          </a:solidFill>
          <a:ln w="12700">
            <a:solidFill>
              <a:srgbClr val="1B2B1E"/>
            </a:solidFill>
            <a:prstDash val="solid"/>
          </a:ln>
        </p:spPr>
      </p:sp>
      <p:sp>
        <p:nvSpPr>
          <p:cNvPr id="14" name="Text 11"/>
          <p:cNvSpPr/>
          <p:nvPr/>
        </p:nvSpPr>
        <p:spPr>
          <a:xfrm>
            <a:off x="548640" y="4251960"/>
            <a:ext cx="8229600" cy="685800"/>
          </a:xfrm>
          <a:prstGeom prst="rect">
            <a:avLst/>
          </a:prstGeom>
          <a:noFill/>
          <a:ln/>
        </p:spPr>
        <p:txBody>
          <a:bodyPr wrap="square" lIns="0" tIns="0" rIns="0" bIns="0" rtlCol="0" anchor="ctr"/>
          <a:lstStyle/>
          <a:p>
            <a:pPr marL="0" indent="0">
              <a:buNone/>
            </a:pPr>
            <a:r>
              <a:rPr lang="en-US" sz="1200" dirty="0">
                <a:solidFill>
                  <a:srgbClr val="74C69D"/>
                </a:solidFill>
                <a:latin typeface="Consolas" pitchFamily="34" charset="0"/>
                <a:ea typeface="Consolas" pitchFamily="34" charset="-122"/>
                <a:cs typeface="Consolas" pitchFamily="34" charset="-120"/>
              </a:rPr>
              <a:t>accuracy = accuracy_score(y_test, predictions)  →  99.32%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4332"/>
          </a:solidFill>
          <a:ln w="12700">
            <a:solidFill>
              <a:srgbClr val="1B4332"/>
            </a:solidFill>
            <a:prstDash val="solid"/>
          </a:ln>
        </p:spPr>
      </p:sp>
      <p:sp>
        <p:nvSpPr>
          <p:cNvPr id="3" name="Text 1"/>
          <p:cNvSpPr/>
          <p:nvPr/>
        </p:nvSpPr>
        <p:spPr>
          <a:xfrm>
            <a:off x="365760" y="0"/>
            <a:ext cx="8412480" cy="100584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Feature Importance Analysis</a:t>
            </a:r>
            <a:endParaRPr lang="en-US" sz="2800" dirty="0"/>
          </a:p>
        </p:txBody>
      </p:sp>
      <p:graphicFrame>
        <p:nvGraphicFramePr>
          <p:cNvPr id="4" name="Chart 0"/>
          <p:cNvGraphicFramePr/>
          <p:nvPr/>
        </p:nvGraphicFramePr>
        <p:xfrm>
          <a:off x="365760" y="1143000"/>
          <a:ext cx="530352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852160" y="1143000"/>
            <a:ext cx="2926080" cy="777240"/>
          </a:xfrm>
          <a:prstGeom prst="rect">
            <a:avLst/>
          </a:prstGeom>
          <a:solidFill>
            <a:srgbClr val="FFFFFF"/>
          </a:solidFill>
          <a:ln/>
          <a:effectLst>
            <a:outerShdw blurRad="63500" dist="25400" dir="8100000" algn="bl" rotWithShape="0">
              <a:srgbClr val="000000">
                <a:alpha val="9000"/>
              </a:srgbClr>
            </a:outerShdw>
          </a:effectLst>
        </p:spPr>
      </p:sp>
      <p:sp>
        <p:nvSpPr>
          <p:cNvPr id="6" name="Text 3"/>
          <p:cNvSpPr/>
          <p:nvPr/>
        </p:nvSpPr>
        <p:spPr>
          <a:xfrm>
            <a:off x="5897880" y="1143000"/>
            <a:ext cx="457200" cy="7772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7" name="Text 4"/>
          <p:cNvSpPr/>
          <p:nvPr/>
        </p:nvSpPr>
        <p:spPr>
          <a:xfrm>
            <a:off x="6382512" y="1197864"/>
            <a:ext cx="2331720" cy="320040"/>
          </a:xfrm>
          <a:prstGeom prst="rect">
            <a:avLst/>
          </a:prstGeom>
          <a:noFill/>
          <a:ln/>
        </p:spPr>
        <p:txBody>
          <a:bodyPr wrap="square" lIns="0" tIns="0" rIns="0" bIns="0"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Rainfall — 28%</a:t>
            </a:r>
            <a:endParaRPr lang="en-US" sz="1200" dirty="0"/>
          </a:p>
        </p:txBody>
      </p:sp>
      <p:sp>
        <p:nvSpPr>
          <p:cNvPr id="8" name="Text 5"/>
          <p:cNvSpPr/>
          <p:nvPr/>
        </p:nvSpPr>
        <p:spPr>
          <a:xfrm>
            <a:off x="6382512" y="1508760"/>
            <a:ext cx="2331720" cy="347472"/>
          </a:xfrm>
          <a:prstGeom prst="rect">
            <a:avLst/>
          </a:prstGeom>
          <a:noFill/>
          <a:ln/>
        </p:spPr>
        <p:txBody>
          <a:bodyPr wrap="square" lIns="0" tIns="0" rIns="0" bIns="0" rtlCol="0" anchor="ctr"/>
          <a:lstStyle/>
          <a:p>
            <a:pPr marL="0" indent="0">
              <a:buNone/>
            </a:pPr>
            <a:r>
              <a:rPr lang="en-US" sz="1000" dirty="0">
                <a:solidFill>
                  <a:srgbClr val="6C757D"/>
                </a:solidFill>
                <a:latin typeface="Calibri" pitchFamily="34" charset="0"/>
                <a:ea typeface="Calibri" pitchFamily="34" charset="-122"/>
                <a:cs typeface="Calibri" pitchFamily="34" charset="-120"/>
              </a:rPr>
              <a:t>Most influential — water availability drives crop selection</a:t>
            </a:r>
            <a:endParaRPr lang="en-US" sz="1000" dirty="0"/>
          </a:p>
        </p:txBody>
      </p:sp>
      <p:sp>
        <p:nvSpPr>
          <p:cNvPr id="9" name="Shape 6"/>
          <p:cNvSpPr/>
          <p:nvPr/>
        </p:nvSpPr>
        <p:spPr>
          <a:xfrm>
            <a:off x="5852160" y="2002536"/>
            <a:ext cx="2926080" cy="777240"/>
          </a:xfrm>
          <a:prstGeom prst="rect">
            <a:avLst/>
          </a:prstGeom>
          <a:solidFill>
            <a:srgbClr val="FFFFFF"/>
          </a:solidFill>
          <a:ln/>
          <a:effectLst>
            <a:outerShdw blurRad="63500" dist="25400" dir="8100000" algn="bl" rotWithShape="0">
              <a:srgbClr val="000000">
                <a:alpha val="9000"/>
              </a:srgbClr>
            </a:outerShdw>
          </a:effectLst>
        </p:spPr>
      </p:sp>
      <p:sp>
        <p:nvSpPr>
          <p:cNvPr id="10" name="Text 7"/>
          <p:cNvSpPr/>
          <p:nvPr/>
        </p:nvSpPr>
        <p:spPr>
          <a:xfrm>
            <a:off x="5897880" y="2002536"/>
            <a:ext cx="457200" cy="7772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1" name="Text 8"/>
          <p:cNvSpPr/>
          <p:nvPr/>
        </p:nvSpPr>
        <p:spPr>
          <a:xfrm>
            <a:off x="6382512" y="2057400"/>
            <a:ext cx="2331720" cy="320040"/>
          </a:xfrm>
          <a:prstGeom prst="rect">
            <a:avLst/>
          </a:prstGeom>
          <a:noFill/>
          <a:ln/>
        </p:spPr>
        <p:txBody>
          <a:bodyPr wrap="square" lIns="0" tIns="0" rIns="0" bIns="0"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Humidity — 22%</a:t>
            </a:r>
            <a:endParaRPr lang="en-US" sz="1200" dirty="0"/>
          </a:p>
        </p:txBody>
      </p:sp>
      <p:sp>
        <p:nvSpPr>
          <p:cNvPr id="12" name="Text 9"/>
          <p:cNvSpPr/>
          <p:nvPr/>
        </p:nvSpPr>
        <p:spPr>
          <a:xfrm>
            <a:off x="6382512" y="2368296"/>
            <a:ext cx="2331720" cy="347472"/>
          </a:xfrm>
          <a:prstGeom prst="rect">
            <a:avLst/>
          </a:prstGeom>
          <a:noFill/>
          <a:ln/>
        </p:spPr>
        <p:txBody>
          <a:bodyPr wrap="square" lIns="0" tIns="0" rIns="0" bIns="0"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Climate moisture levels significantly impact yield</a:t>
            </a:r>
            <a:endParaRPr lang="en-US" sz="1000" dirty="0"/>
          </a:p>
        </p:txBody>
      </p:sp>
      <p:sp>
        <p:nvSpPr>
          <p:cNvPr id="13" name="Shape 10"/>
          <p:cNvSpPr/>
          <p:nvPr/>
        </p:nvSpPr>
        <p:spPr>
          <a:xfrm>
            <a:off x="5852160" y="2862072"/>
            <a:ext cx="2926080" cy="777240"/>
          </a:xfrm>
          <a:prstGeom prst="rect">
            <a:avLst/>
          </a:prstGeom>
          <a:solidFill>
            <a:srgbClr val="FFFFFF"/>
          </a:solidFill>
          <a:ln/>
          <a:effectLst>
            <a:outerShdw blurRad="63500" dist="25400" dir="8100000" algn="bl" rotWithShape="0">
              <a:srgbClr val="000000">
                <a:alpha val="9000"/>
              </a:srgbClr>
            </a:outerShdw>
          </a:effectLst>
        </p:spPr>
      </p:sp>
      <p:sp>
        <p:nvSpPr>
          <p:cNvPr id="14" name="Text 11"/>
          <p:cNvSpPr/>
          <p:nvPr/>
        </p:nvSpPr>
        <p:spPr>
          <a:xfrm>
            <a:off x="5897880" y="2862072"/>
            <a:ext cx="457200" cy="7772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2"/>
          <p:cNvSpPr/>
          <p:nvPr/>
        </p:nvSpPr>
        <p:spPr>
          <a:xfrm>
            <a:off x="6382512" y="2916936"/>
            <a:ext cx="2331720" cy="320040"/>
          </a:xfrm>
          <a:prstGeom prst="rect">
            <a:avLst/>
          </a:prstGeom>
          <a:noFill/>
          <a:ln/>
        </p:spPr>
        <p:txBody>
          <a:bodyPr wrap="square" lIns="0" tIns="0" rIns="0" bIns="0"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Potassium (K) — 16%</a:t>
            </a:r>
            <a:endParaRPr lang="en-US" sz="1200" dirty="0"/>
          </a:p>
        </p:txBody>
      </p:sp>
      <p:sp>
        <p:nvSpPr>
          <p:cNvPr id="16" name="Text 13"/>
          <p:cNvSpPr/>
          <p:nvPr/>
        </p:nvSpPr>
        <p:spPr>
          <a:xfrm>
            <a:off x="6382512" y="3227832"/>
            <a:ext cx="2331720" cy="347472"/>
          </a:xfrm>
          <a:prstGeom prst="rect">
            <a:avLst/>
          </a:prstGeom>
          <a:noFill/>
          <a:ln/>
        </p:spPr>
        <p:txBody>
          <a:bodyPr wrap="square" lIns="0" tIns="0" rIns="0" bIns="0" rtlCol="0" anchor="ctr"/>
          <a:lstStyle/>
          <a:p>
            <a:pPr marL="0" indent="0">
              <a:buNone/>
            </a:pPr>
            <a:r>
              <a:rPr lang="en-US" sz="1000" dirty="0">
                <a:solidFill>
                  <a:srgbClr val="6C757D"/>
                </a:solidFill>
                <a:latin typeface="Calibri" pitchFamily="34" charset="0"/>
                <a:ea typeface="Calibri" pitchFamily="34" charset="-122"/>
                <a:cs typeface="Calibri" pitchFamily="34" charset="-120"/>
              </a:rPr>
              <a:t>Soil nutrient essential for crop growth patterns</a:t>
            </a:r>
            <a:endParaRPr lang="en-US" sz="1000" dirty="0"/>
          </a:p>
        </p:txBody>
      </p:sp>
      <p:sp>
        <p:nvSpPr>
          <p:cNvPr id="17" name="Shape 14"/>
          <p:cNvSpPr/>
          <p:nvPr/>
        </p:nvSpPr>
        <p:spPr>
          <a:xfrm>
            <a:off x="5852160" y="3721608"/>
            <a:ext cx="2926080" cy="777240"/>
          </a:xfrm>
          <a:prstGeom prst="rect">
            <a:avLst/>
          </a:prstGeom>
          <a:solidFill>
            <a:srgbClr val="FFFFFF"/>
          </a:solidFill>
          <a:ln/>
          <a:effectLst>
            <a:outerShdw blurRad="63500" dist="25400" dir="8100000" algn="bl" rotWithShape="0">
              <a:srgbClr val="000000">
                <a:alpha val="9000"/>
              </a:srgbClr>
            </a:outerShdw>
          </a:effectLst>
        </p:spPr>
      </p:sp>
      <p:sp>
        <p:nvSpPr>
          <p:cNvPr id="18" name="Text 15"/>
          <p:cNvSpPr/>
          <p:nvPr/>
        </p:nvSpPr>
        <p:spPr>
          <a:xfrm>
            <a:off x="5897880" y="3721608"/>
            <a:ext cx="457200" cy="7772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Text 16"/>
          <p:cNvSpPr/>
          <p:nvPr/>
        </p:nvSpPr>
        <p:spPr>
          <a:xfrm>
            <a:off x="6382512" y="3776472"/>
            <a:ext cx="2331720" cy="320040"/>
          </a:xfrm>
          <a:prstGeom prst="rect">
            <a:avLst/>
          </a:prstGeom>
          <a:noFill/>
          <a:ln/>
        </p:spPr>
        <p:txBody>
          <a:bodyPr wrap="square" lIns="0" tIns="0" rIns="0" bIns="0"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Temperature — 14%</a:t>
            </a:r>
            <a:endParaRPr lang="en-US" sz="1200" dirty="0"/>
          </a:p>
        </p:txBody>
      </p:sp>
      <p:sp>
        <p:nvSpPr>
          <p:cNvPr id="20" name="Text 17"/>
          <p:cNvSpPr/>
          <p:nvPr/>
        </p:nvSpPr>
        <p:spPr>
          <a:xfrm>
            <a:off x="6382512" y="4087368"/>
            <a:ext cx="2331720" cy="347472"/>
          </a:xfrm>
          <a:prstGeom prst="rect">
            <a:avLst/>
          </a:prstGeom>
          <a:noFill/>
          <a:ln/>
        </p:spPr>
        <p:txBody>
          <a:bodyPr wrap="square" lIns="0" tIns="0" rIns="0" bIns="0" rtlCol="0" anchor="ctr"/>
          <a:lstStyle/>
          <a:p>
            <a:pPr marL="0" indent="0">
              <a:buNone/>
            </a:pPr>
            <a:r>
              <a:rPr lang="en-US" sz="1000" dirty="0">
                <a:solidFill>
                  <a:srgbClr val="6C757D"/>
                </a:solidFill>
                <a:latin typeface="Calibri" pitchFamily="34" charset="0"/>
                <a:ea typeface="Calibri" pitchFamily="34" charset="-122"/>
                <a:cs typeface="Calibri" pitchFamily="34" charset="-120"/>
              </a:rPr>
              <a:t>Heat range determines suitable crop varieties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6A4F"/>
          </a:solidFill>
          <a:ln w="12700">
            <a:solidFill>
              <a:srgbClr val="2D6A4F"/>
            </a:solidFill>
            <a:prstDash val="solid"/>
          </a:ln>
        </p:spPr>
      </p:sp>
      <p:sp>
        <p:nvSpPr>
          <p:cNvPr id="3" name="Text 1"/>
          <p:cNvSpPr/>
          <p:nvPr/>
        </p:nvSpPr>
        <p:spPr>
          <a:xfrm>
            <a:off x="365760" y="0"/>
            <a:ext cx="8412480" cy="100584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Crop Prediction Interface</a:t>
            </a:r>
            <a:endParaRPr lang="en-US" sz="2800" dirty="0"/>
          </a:p>
        </p:txBody>
      </p:sp>
      <p:sp>
        <p:nvSpPr>
          <p:cNvPr id="4" name="Shape 2"/>
          <p:cNvSpPr/>
          <p:nvPr/>
        </p:nvSpPr>
        <p:spPr>
          <a:xfrm>
            <a:off x="365760" y="1143000"/>
            <a:ext cx="5029200" cy="3474720"/>
          </a:xfrm>
          <a:prstGeom prst="rect">
            <a:avLst/>
          </a:prstGeom>
          <a:solidFill>
            <a:srgbClr val="1A2A1E"/>
          </a:solidFill>
          <a:ln w="12700">
            <a:solidFill>
              <a:srgbClr val="1A2A1E"/>
            </a:solidFill>
            <a:prstDash val="solid"/>
          </a:ln>
        </p:spPr>
      </p:sp>
      <p:sp>
        <p:nvSpPr>
          <p:cNvPr id="5" name="Shape 3"/>
          <p:cNvSpPr/>
          <p:nvPr/>
        </p:nvSpPr>
        <p:spPr>
          <a:xfrm>
            <a:off x="365760" y="1143000"/>
            <a:ext cx="5029200" cy="320040"/>
          </a:xfrm>
          <a:prstGeom prst="rect">
            <a:avLst/>
          </a:prstGeom>
          <a:solidFill>
            <a:srgbClr val="0D1F11"/>
          </a:solidFill>
          <a:ln w="12700">
            <a:solidFill>
              <a:srgbClr val="0D1F11"/>
            </a:solidFill>
            <a:prstDash val="solid"/>
          </a:ln>
        </p:spPr>
      </p:sp>
      <p:sp>
        <p:nvSpPr>
          <p:cNvPr id="6" name="Text 4"/>
          <p:cNvSpPr/>
          <p:nvPr/>
        </p:nvSpPr>
        <p:spPr>
          <a:xfrm>
            <a:off x="457200" y="1161288"/>
            <a:ext cx="4846320" cy="274320"/>
          </a:xfrm>
          <a:prstGeom prst="rect">
            <a:avLst/>
          </a:prstGeom>
          <a:noFill/>
          <a:ln/>
        </p:spPr>
        <p:txBody>
          <a:bodyPr wrap="square" lIns="0" tIns="0" rIns="0" bIns="0" rtlCol="0" anchor="ctr"/>
          <a:lstStyle/>
          <a:p>
            <a:pPr marL="0" indent="0">
              <a:buNone/>
            </a:pPr>
            <a:r>
              <a:rPr lang="en-US" sz="1000" dirty="0">
                <a:solidFill>
                  <a:srgbClr val="6C757D"/>
                </a:solidFill>
                <a:latin typeface="Consolas" pitchFamily="34" charset="0"/>
                <a:ea typeface="Consolas" pitchFamily="34" charset="-122"/>
                <a:cs typeface="Consolas" pitchFamily="34" charset="-120"/>
              </a:rPr>
              <a:t>●  ●  ●   Crop Prediction Terminal</a:t>
            </a:r>
            <a:endParaRPr lang="en-US" sz="1000" dirty="0"/>
          </a:p>
        </p:txBody>
      </p:sp>
      <p:sp>
        <p:nvSpPr>
          <p:cNvPr id="7" name="Text 5"/>
          <p:cNvSpPr/>
          <p:nvPr/>
        </p:nvSpPr>
        <p:spPr>
          <a:xfrm>
            <a:off x="502920" y="1536192"/>
            <a:ext cx="4754880" cy="246888"/>
          </a:xfrm>
          <a:prstGeom prst="rect">
            <a:avLst/>
          </a:prstGeom>
          <a:noFill/>
          <a:ln/>
        </p:spPr>
        <p:txBody>
          <a:bodyPr wrap="square" lIns="0" tIns="0" rIns="0" bIns="0" rtlCol="0" anchor="ctr"/>
          <a:lstStyle/>
          <a:p>
            <a:pPr marL="0" indent="0">
              <a:buNone/>
            </a:pPr>
            <a:r>
              <a:rPr lang="en-US" sz="1100" dirty="0">
                <a:solidFill>
                  <a:srgbClr val="E9C46A"/>
                </a:solidFill>
                <a:latin typeface="Consolas" pitchFamily="34" charset="0"/>
                <a:ea typeface="Consolas" pitchFamily="34" charset="-122"/>
                <a:cs typeface="Consolas" pitchFamily="34" charset="-120"/>
              </a:rPr>
              <a:t>========== Crop Prediction ==========</a:t>
            </a:r>
            <a:endParaRPr lang="en-US" sz="1100" dirty="0"/>
          </a:p>
        </p:txBody>
      </p:sp>
      <p:sp>
        <p:nvSpPr>
          <p:cNvPr id="8" name="Text 6"/>
          <p:cNvSpPr/>
          <p:nvPr/>
        </p:nvSpPr>
        <p:spPr>
          <a:xfrm>
            <a:off x="502920" y="1783080"/>
            <a:ext cx="4754880" cy="24688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a:t>
            </a:r>
            <a:endParaRPr lang="en-US" sz="1100" dirty="0"/>
          </a:p>
        </p:txBody>
      </p:sp>
      <p:sp>
        <p:nvSpPr>
          <p:cNvPr id="9" name="Text 7"/>
          <p:cNvSpPr/>
          <p:nvPr/>
        </p:nvSpPr>
        <p:spPr>
          <a:xfrm>
            <a:off x="502920" y="2029968"/>
            <a:ext cx="4754880" cy="246888"/>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Enter Nitrogen (N): 90</a:t>
            </a:r>
            <a:endParaRPr lang="en-US" sz="1100" dirty="0"/>
          </a:p>
        </p:txBody>
      </p:sp>
      <p:sp>
        <p:nvSpPr>
          <p:cNvPr id="10" name="Text 8"/>
          <p:cNvSpPr/>
          <p:nvPr/>
        </p:nvSpPr>
        <p:spPr>
          <a:xfrm>
            <a:off x="502920" y="2276856"/>
            <a:ext cx="4754880" cy="246888"/>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Enter Phosphorus (P): 42</a:t>
            </a:r>
            <a:endParaRPr lang="en-US" sz="1100" dirty="0"/>
          </a:p>
        </p:txBody>
      </p:sp>
      <p:sp>
        <p:nvSpPr>
          <p:cNvPr id="11" name="Text 9"/>
          <p:cNvSpPr/>
          <p:nvPr/>
        </p:nvSpPr>
        <p:spPr>
          <a:xfrm>
            <a:off x="502920" y="2523744"/>
            <a:ext cx="4754880" cy="246888"/>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Enter Potassium (K): 43</a:t>
            </a:r>
            <a:endParaRPr lang="en-US" sz="1100" dirty="0"/>
          </a:p>
        </p:txBody>
      </p:sp>
      <p:sp>
        <p:nvSpPr>
          <p:cNvPr id="12" name="Text 10"/>
          <p:cNvSpPr/>
          <p:nvPr/>
        </p:nvSpPr>
        <p:spPr>
          <a:xfrm>
            <a:off x="502920" y="2770632"/>
            <a:ext cx="4754880" cy="246888"/>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Enter Temperature: 20.8</a:t>
            </a:r>
            <a:endParaRPr lang="en-US" sz="1100" dirty="0"/>
          </a:p>
        </p:txBody>
      </p:sp>
      <p:sp>
        <p:nvSpPr>
          <p:cNvPr id="13" name="Text 11"/>
          <p:cNvSpPr/>
          <p:nvPr/>
        </p:nvSpPr>
        <p:spPr>
          <a:xfrm>
            <a:off x="502920" y="3017520"/>
            <a:ext cx="4754880" cy="246888"/>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Enter Humidity: 82.0</a:t>
            </a:r>
            <a:endParaRPr lang="en-US" sz="1100" dirty="0"/>
          </a:p>
        </p:txBody>
      </p:sp>
      <p:sp>
        <p:nvSpPr>
          <p:cNvPr id="14" name="Text 12"/>
          <p:cNvSpPr/>
          <p:nvPr/>
        </p:nvSpPr>
        <p:spPr>
          <a:xfrm>
            <a:off x="502920" y="3264408"/>
            <a:ext cx="4754880" cy="246888"/>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Enter pH Value: 6.5</a:t>
            </a:r>
            <a:endParaRPr lang="en-US" sz="1100" dirty="0"/>
          </a:p>
        </p:txBody>
      </p:sp>
      <p:sp>
        <p:nvSpPr>
          <p:cNvPr id="15" name="Text 13"/>
          <p:cNvSpPr/>
          <p:nvPr/>
        </p:nvSpPr>
        <p:spPr>
          <a:xfrm>
            <a:off x="502920" y="3511296"/>
            <a:ext cx="4754880" cy="246888"/>
          </a:xfrm>
          <a:prstGeom prst="rect">
            <a:avLst/>
          </a:prstGeom>
          <a:noFill/>
          <a:ln/>
        </p:spPr>
        <p:txBody>
          <a:bodyPr wrap="square" lIns="0" tIns="0" rIns="0" bIns="0" rtlCol="0" anchor="ctr"/>
          <a:lstStyle/>
          <a:p>
            <a:pPr marL="0" indent="0">
              <a:buNone/>
            </a:pPr>
            <a:r>
              <a:rPr lang="en-US" sz="1100" dirty="0">
                <a:solidFill>
                  <a:srgbClr val="74C69D"/>
                </a:solidFill>
                <a:latin typeface="Consolas" pitchFamily="34" charset="0"/>
                <a:ea typeface="Consolas" pitchFamily="34" charset="-122"/>
                <a:cs typeface="Consolas" pitchFamily="34" charset="-120"/>
              </a:rPr>
              <a:t>Enter Rainfall: 202.9</a:t>
            </a:r>
            <a:endParaRPr lang="en-US" sz="1100" dirty="0"/>
          </a:p>
        </p:txBody>
      </p:sp>
      <p:sp>
        <p:nvSpPr>
          <p:cNvPr id="16" name="Text 14"/>
          <p:cNvSpPr/>
          <p:nvPr/>
        </p:nvSpPr>
        <p:spPr>
          <a:xfrm>
            <a:off x="502920" y="3758184"/>
            <a:ext cx="4754880" cy="24688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a:t>
            </a:r>
            <a:endParaRPr lang="en-US" sz="1100" dirty="0"/>
          </a:p>
        </p:txBody>
      </p:sp>
      <p:sp>
        <p:nvSpPr>
          <p:cNvPr id="17" name="Text 15"/>
          <p:cNvSpPr/>
          <p:nvPr/>
        </p:nvSpPr>
        <p:spPr>
          <a:xfrm>
            <a:off x="502920" y="4005072"/>
            <a:ext cx="4754880" cy="24688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Recommended Crop:</a:t>
            </a:r>
            <a:endParaRPr lang="en-US" sz="1100" dirty="0"/>
          </a:p>
        </p:txBody>
      </p:sp>
      <p:sp>
        <p:nvSpPr>
          <p:cNvPr id="18" name="Text 16"/>
          <p:cNvSpPr/>
          <p:nvPr/>
        </p:nvSpPr>
        <p:spPr>
          <a:xfrm>
            <a:off x="502920" y="4251960"/>
            <a:ext cx="4754880" cy="246888"/>
          </a:xfrm>
          <a:prstGeom prst="rect">
            <a:avLst/>
          </a:prstGeom>
          <a:noFill/>
          <a:ln/>
        </p:spPr>
        <p:txBody>
          <a:bodyPr wrap="square" lIns="0" tIns="0" rIns="0" bIns="0" rtlCol="0" anchor="ctr"/>
          <a:lstStyle/>
          <a:p>
            <a:pPr marL="0" indent="0">
              <a:buNone/>
            </a:pPr>
            <a:r>
              <a:rPr lang="en-US" sz="1100" dirty="0">
                <a:solidFill>
                  <a:srgbClr val="E9C46A"/>
                </a:solidFill>
                <a:latin typeface="Consolas" pitchFamily="34" charset="0"/>
                <a:ea typeface="Consolas" pitchFamily="34" charset="-122"/>
                <a:cs typeface="Consolas" pitchFamily="34" charset="-120"/>
              </a:rPr>
              <a:t>&gt;&gt;&gt; rice ✓</a:t>
            </a:r>
            <a:endParaRPr lang="en-US" sz="1100" dirty="0"/>
          </a:p>
        </p:txBody>
      </p:sp>
      <p:sp>
        <p:nvSpPr>
          <p:cNvPr id="19" name="Shape 17"/>
          <p:cNvSpPr/>
          <p:nvPr/>
        </p:nvSpPr>
        <p:spPr>
          <a:xfrm>
            <a:off x="5577840" y="1143000"/>
            <a:ext cx="3200400" cy="3474720"/>
          </a:xfrm>
          <a:prstGeom prst="rect">
            <a:avLst/>
          </a:prstGeom>
          <a:solidFill>
            <a:srgbClr val="FFFFFF"/>
          </a:solidFill>
          <a:ln/>
          <a:effectLst>
            <a:outerShdw blurRad="101600" dist="38100" dir="8100000" algn="bl" rotWithShape="0">
              <a:srgbClr val="000000">
                <a:alpha val="10000"/>
              </a:srgbClr>
            </a:outerShdw>
          </a:effectLst>
        </p:spPr>
      </p:sp>
      <p:sp>
        <p:nvSpPr>
          <p:cNvPr id="20" name="Text 18"/>
          <p:cNvSpPr/>
          <p:nvPr/>
        </p:nvSpPr>
        <p:spPr>
          <a:xfrm>
            <a:off x="5715000" y="1234440"/>
            <a:ext cx="2926080" cy="411480"/>
          </a:xfrm>
          <a:prstGeom prst="rect">
            <a:avLst/>
          </a:prstGeom>
          <a:noFill/>
          <a:ln/>
        </p:spPr>
        <p:txBody>
          <a:bodyPr wrap="square" lIns="0" tIns="0" rIns="0" bIns="0"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How It Works</a:t>
            </a:r>
            <a:endParaRPr lang="en-US" sz="1400" dirty="0"/>
          </a:p>
        </p:txBody>
      </p:sp>
      <p:sp>
        <p:nvSpPr>
          <p:cNvPr id="21" name="Shape 19"/>
          <p:cNvSpPr/>
          <p:nvPr/>
        </p:nvSpPr>
        <p:spPr>
          <a:xfrm>
            <a:off x="5669280" y="1792224"/>
            <a:ext cx="347472" cy="347472"/>
          </a:xfrm>
          <a:prstGeom prst="ellipse">
            <a:avLst/>
          </a:prstGeom>
          <a:solidFill>
            <a:srgbClr val="40916C"/>
          </a:solidFill>
          <a:ln w="12700">
            <a:solidFill>
              <a:srgbClr val="40916C"/>
            </a:solidFill>
            <a:prstDash val="solid"/>
          </a:ln>
        </p:spPr>
      </p:sp>
      <p:sp>
        <p:nvSpPr>
          <p:cNvPr id="22" name="Text 20"/>
          <p:cNvSpPr/>
          <p:nvPr/>
        </p:nvSpPr>
        <p:spPr>
          <a:xfrm>
            <a:off x="5669280" y="17922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3" name="Text 21"/>
          <p:cNvSpPr/>
          <p:nvPr/>
        </p:nvSpPr>
        <p:spPr>
          <a:xfrm>
            <a:off x="6126480" y="1737360"/>
            <a:ext cx="2514600" cy="4572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User inputs 7 soil &amp; weather parameters</a:t>
            </a:r>
            <a:endParaRPr lang="en-US" sz="1100" dirty="0"/>
          </a:p>
        </p:txBody>
      </p:sp>
      <p:sp>
        <p:nvSpPr>
          <p:cNvPr id="24" name="Shape 22"/>
          <p:cNvSpPr/>
          <p:nvPr/>
        </p:nvSpPr>
        <p:spPr>
          <a:xfrm>
            <a:off x="5669280" y="2304288"/>
            <a:ext cx="347472" cy="347472"/>
          </a:xfrm>
          <a:prstGeom prst="ellipse">
            <a:avLst/>
          </a:prstGeom>
          <a:solidFill>
            <a:srgbClr val="40916C"/>
          </a:solidFill>
          <a:ln w="12700">
            <a:solidFill>
              <a:srgbClr val="40916C"/>
            </a:solidFill>
            <a:prstDash val="solid"/>
          </a:ln>
        </p:spPr>
      </p:sp>
      <p:sp>
        <p:nvSpPr>
          <p:cNvPr id="25" name="Text 23"/>
          <p:cNvSpPr/>
          <p:nvPr/>
        </p:nvSpPr>
        <p:spPr>
          <a:xfrm>
            <a:off x="5669280" y="23042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4"/>
          <p:cNvSpPr/>
          <p:nvPr/>
        </p:nvSpPr>
        <p:spPr>
          <a:xfrm>
            <a:off x="6126480" y="2249424"/>
            <a:ext cx="2514600" cy="4572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Data formatted as numpy array</a:t>
            </a:r>
            <a:endParaRPr lang="en-US" sz="1100" dirty="0"/>
          </a:p>
        </p:txBody>
      </p:sp>
      <p:sp>
        <p:nvSpPr>
          <p:cNvPr id="27" name="Shape 25"/>
          <p:cNvSpPr/>
          <p:nvPr/>
        </p:nvSpPr>
        <p:spPr>
          <a:xfrm>
            <a:off x="5669280" y="2816352"/>
            <a:ext cx="347472" cy="347472"/>
          </a:xfrm>
          <a:prstGeom prst="ellipse">
            <a:avLst/>
          </a:prstGeom>
          <a:solidFill>
            <a:srgbClr val="40916C"/>
          </a:solidFill>
          <a:ln w="12700">
            <a:solidFill>
              <a:srgbClr val="40916C"/>
            </a:solidFill>
            <a:prstDash val="solid"/>
          </a:ln>
        </p:spPr>
      </p:sp>
      <p:sp>
        <p:nvSpPr>
          <p:cNvPr id="28" name="Text 26"/>
          <p:cNvSpPr/>
          <p:nvPr/>
        </p:nvSpPr>
        <p:spPr>
          <a:xfrm>
            <a:off x="5669280" y="281635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6126480" y="2761488"/>
            <a:ext cx="2514600" cy="4572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Passed to trained Random Forest model</a:t>
            </a:r>
            <a:endParaRPr lang="en-US" sz="1100" dirty="0"/>
          </a:p>
        </p:txBody>
      </p:sp>
      <p:sp>
        <p:nvSpPr>
          <p:cNvPr id="30" name="Shape 28"/>
          <p:cNvSpPr/>
          <p:nvPr/>
        </p:nvSpPr>
        <p:spPr>
          <a:xfrm>
            <a:off x="5669280" y="3328416"/>
            <a:ext cx="347472" cy="347472"/>
          </a:xfrm>
          <a:prstGeom prst="ellipse">
            <a:avLst/>
          </a:prstGeom>
          <a:solidFill>
            <a:srgbClr val="40916C"/>
          </a:solidFill>
          <a:ln w="12700">
            <a:solidFill>
              <a:srgbClr val="40916C"/>
            </a:solidFill>
            <a:prstDash val="solid"/>
          </a:ln>
        </p:spPr>
      </p:sp>
      <p:sp>
        <p:nvSpPr>
          <p:cNvPr id="31" name="Text 29"/>
          <p:cNvSpPr/>
          <p:nvPr/>
        </p:nvSpPr>
        <p:spPr>
          <a:xfrm>
            <a:off x="5669280" y="33284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Text 30"/>
          <p:cNvSpPr/>
          <p:nvPr/>
        </p:nvSpPr>
        <p:spPr>
          <a:xfrm>
            <a:off x="6126480" y="3273552"/>
            <a:ext cx="2514600" cy="4572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Model outputs crop recommendation</a:t>
            </a:r>
            <a:endParaRPr lang="en-US" sz="1100" dirty="0"/>
          </a:p>
        </p:txBody>
      </p:sp>
      <p:sp>
        <p:nvSpPr>
          <p:cNvPr id="33" name="Shape 31"/>
          <p:cNvSpPr/>
          <p:nvPr/>
        </p:nvSpPr>
        <p:spPr>
          <a:xfrm>
            <a:off x="5669280" y="3840480"/>
            <a:ext cx="347472" cy="347472"/>
          </a:xfrm>
          <a:prstGeom prst="ellipse">
            <a:avLst/>
          </a:prstGeom>
          <a:solidFill>
            <a:srgbClr val="40916C"/>
          </a:solidFill>
          <a:ln w="12700">
            <a:solidFill>
              <a:srgbClr val="40916C"/>
            </a:solidFill>
            <a:prstDash val="solid"/>
          </a:ln>
        </p:spPr>
      </p:sp>
      <p:sp>
        <p:nvSpPr>
          <p:cNvPr id="34" name="Text 32"/>
          <p:cNvSpPr/>
          <p:nvPr/>
        </p:nvSpPr>
        <p:spPr>
          <a:xfrm>
            <a:off x="5669280" y="384048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5" name="Text 33"/>
          <p:cNvSpPr/>
          <p:nvPr/>
        </p:nvSpPr>
        <p:spPr>
          <a:xfrm>
            <a:off x="6126480" y="3785616"/>
            <a:ext cx="2514600" cy="457200"/>
          </a:xfrm>
          <a:prstGeom prst="rect">
            <a:avLst/>
          </a:prstGeom>
          <a:noFill/>
          <a:ln/>
        </p:spPr>
        <p:txBody>
          <a:bodyPr wrap="square" lIns="0" tIns="0" rIns="0" bIns="0" rtlCol="0" anchor="ctr"/>
          <a:lstStyle/>
          <a:p>
            <a:pPr marL="0" indent="0">
              <a:buNone/>
            </a:pPr>
            <a:r>
              <a:rPr lang="en-US" sz="1100" dirty="0">
                <a:solidFill>
                  <a:srgbClr val="212529"/>
                </a:solidFill>
                <a:latin typeface="Calibri" pitchFamily="34" charset="0"/>
                <a:ea typeface="Calibri" pitchFamily="34" charset="-122"/>
                <a:cs typeface="Calibri" pitchFamily="34" charset="-120"/>
              </a:rPr>
              <a:t>Result displayed to farmer/agronomist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2D6A4F">
              <a:alpha val="50000"/>
            </a:srgbClr>
          </a:solidFill>
          <a:ln w="12700">
            <a:solidFill>
              <a:srgbClr val="2D6A4F"/>
            </a:solidFill>
            <a:prstDash val="solid"/>
          </a:ln>
        </p:spPr>
      </p:sp>
      <p:sp>
        <p:nvSpPr>
          <p:cNvPr id="3" name="Shape 1"/>
          <p:cNvSpPr/>
          <p:nvPr/>
        </p:nvSpPr>
        <p:spPr>
          <a:xfrm>
            <a:off x="-731520" y="3200400"/>
            <a:ext cx="2743200" cy="2743200"/>
          </a:xfrm>
          <a:prstGeom prst="ellipse">
            <a:avLst/>
          </a:prstGeom>
          <a:solidFill>
            <a:srgbClr val="2D6A4F">
              <a:alpha val="40000"/>
            </a:srgbClr>
          </a:solidFill>
          <a:ln w="12700">
            <a:solidFill>
              <a:srgbClr val="2D6A4F"/>
            </a:solidFill>
            <a:prstDash val="solid"/>
          </a:ln>
        </p:spPr>
      </p:sp>
      <p:sp>
        <p:nvSpPr>
          <p:cNvPr id="4" name="Text 2"/>
          <p:cNvSpPr/>
          <p:nvPr/>
        </p:nvSpPr>
        <p:spPr>
          <a:xfrm>
            <a:off x="548640" y="365760"/>
            <a:ext cx="8229600" cy="685800"/>
          </a:xfrm>
          <a:prstGeom prst="rect">
            <a:avLst/>
          </a:prstGeom>
          <a:noFill/>
          <a:ln/>
        </p:spPr>
        <p:txBody>
          <a:bodyPr wrap="square" lIns="0" tIns="0" rIns="0" bIns="0" rtlCol="0" anchor="ctr"/>
          <a:lstStyle/>
          <a:p>
            <a:pPr marL="0" indent="0" algn="l">
              <a:buNone/>
            </a:pPr>
            <a:r>
              <a:rPr lang="en-IN" sz="4800" dirty="0">
                <a:solidFill>
                  <a:schemeClr val="bg1"/>
                </a:solidFill>
              </a:rPr>
              <a:t>Conclusion</a:t>
            </a:r>
            <a:endParaRPr lang="en-US" sz="4800" dirty="0">
              <a:solidFill>
                <a:schemeClr val="bg1"/>
              </a:solidFill>
            </a:endParaRPr>
          </a:p>
        </p:txBody>
      </p:sp>
      <p:sp>
        <p:nvSpPr>
          <p:cNvPr id="5" name="Shape 3"/>
          <p:cNvSpPr/>
          <p:nvPr/>
        </p:nvSpPr>
        <p:spPr>
          <a:xfrm>
            <a:off x="548640" y="1005840"/>
            <a:ext cx="2743200" cy="45720"/>
          </a:xfrm>
          <a:prstGeom prst="rect">
            <a:avLst/>
          </a:prstGeom>
          <a:solidFill>
            <a:srgbClr val="E9C46A"/>
          </a:solidFill>
          <a:ln w="12700">
            <a:solidFill>
              <a:srgbClr val="E9C46A"/>
            </a:solidFill>
            <a:prstDash val="solid"/>
          </a:ln>
        </p:spPr>
      </p:sp>
      <p:sp>
        <p:nvSpPr>
          <p:cNvPr id="6" name="Shape 4"/>
          <p:cNvSpPr/>
          <p:nvPr/>
        </p:nvSpPr>
        <p:spPr>
          <a:xfrm>
            <a:off x="457200" y="1371600"/>
            <a:ext cx="8321040" cy="3246120"/>
          </a:xfrm>
          <a:prstGeom prst="rect">
            <a:avLst/>
          </a:prstGeom>
          <a:solidFill>
            <a:srgbClr val="2D6A4F">
              <a:alpha val="80000"/>
            </a:srgbClr>
          </a:solidFill>
          <a:ln/>
          <a:effectLst>
            <a:outerShdw blurRad="76200" dist="25400" dir="8100000" algn="bl" rotWithShape="0">
              <a:srgbClr val="000000">
                <a:alpha val="20000"/>
              </a:srgbClr>
            </a:outerShdw>
          </a:effectLst>
        </p:spPr>
      </p:sp>
      <p:sp>
        <p:nvSpPr>
          <p:cNvPr id="7" name="Text 5"/>
          <p:cNvSpPr/>
          <p:nvPr/>
        </p:nvSpPr>
        <p:spPr>
          <a:xfrm>
            <a:off x="594360" y="1463040"/>
            <a:ext cx="3840480" cy="411480"/>
          </a:xfrm>
          <a:prstGeom prst="rect">
            <a:avLst/>
          </a:prstGeom>
          <a:noFill/>
          <a:ln/>
        </p:spPr>
        <p:txBody>
          <a:bodyPr wrap="square" lIns="0" tIns="0" rIns="0" bIns="0" rtlCol="0" anchor="ctr"/>
          <a:lstStyle/>
          <a:p>
            <a:pPr marL="0" indent="0">
              <a:buNone/>
            </a:pPr>
            <a:endParaRPr lang="en-US" sz="1400" dirty="0"/>
          </a:p>
        </p:txBody>
      </p:sp>
      <p:sp>
        <p:nvSpPr>
          <p:cNvPr id="8" name="Text 6"/>
          <p:cNvSpPr/>
          <p:nvPr/>
        </p:nvSpPr>
        <p:spPr>
          <a:xfrm>
            <a:off x="594360" y="1874520"/>
            <a:ext cx="7955280" cy="2621280"/>
          </a:xfrm>
          <a:prstGeom prst="rect">
            <a:avLst/>
          </a:prstGeom>
          <a:noFill/>
          <a:ln/>
        </p:spPr>
        <p:txBody>
          <a:bodyPr wrap="square" lIns="0" tIns="0" rIns="0" bIns="0" rtlCol="0" anchor="t"/>
          <a:lstStyle/>
          <a:p>
            <a:pPr marL="0" indent="0">
              <a:buNone/>
            </a:pPr>
            <a:r>
              <a:rPr lang="en-US" sz="1600" dirty="0">
                <a:solidFill>
                  <a:schemeClr val="bg1"/>
                </a:solidFill>
              </a:rPr>
              <a:t>The Smart Crop Recommendation System successfully predicts the most suitable crop based on soil nutrients and environmental conditions using machine learning techniques. By leveraging the Random Forest algorithm, the system provides accurate crop recommendations, helping farmers make informed decisions, improve productivity, and optimize agricultural resources. This project demonstrates the practical application of supervised learning in smart agriculture.</a:t>
            </a:r>
          </a:p>
        </p:txBody>
      </p:sp>
      <p:sp>
        <p:nvSpPr>
          <p:cNvPr id="10" name="Text 8"/>
          <p:cNvSpPr/>
          <p:nvPr/>
        </p:nvSpPr>
        <p:spPr>
          <a:xfrm>
            <a:off x="5074920" y="1463040"/>
            <a:ext cx="3840480" cy="411480"/>
          </a:xfrm>
          <a:prstGeom prst="rect">
            <a:avLst/>
          </a:prstGeom>
          <a:noFill/>
          <a:ln/>
        </p:spPr>
        <p:txBody>
          <a:bodyPr wrap="square" lIns="0" tIns="0" rIns="0" bIns="0" rtlCol="0" anchor="ctr"/>
          <a:lstStyle/>
          <a:p>
            <a:pPr marL="0" indent="0">
              <a:buNone/>
            </a:pPr>
            <a:endParaRPr lang="en-US" sz="1400" dirty="0"/>
          </a:p>
        </p:txBody>
      </p:sp>
      <p:sp>
        <p:nvSpPr>
          <p:cNvPr id="11" name="Text 9"/>
          <p:cNvSpPr/>
          <p:nvPr/>
        </p:nvSpPr>
        <p:spPr>
          <a:xfrm>
            <a:off x="5074920" y="1874520"/>
            <a:ext cx="3840480" cy="777240"/>
          </a:xfrm>
          <a:prstGeom prst="rect">
            <a:avLst/>
          </a:prstGeom>
          <a:noFill/>
          <a:ln/>
        </p:spPr>
        <p:txBody>
          <a:bodyPr wrap="square" lIns="0" tIns="0" rIns="0" bIns="0" rtlCol="0" anchor="t"/>
          <a:lstStyle/>
          <a:p>
            <a:pPr marL="0" indent="0">
              <a:buNone/>
            </a:pPr>
            <a:endParaRPr lang="en-US" sz="1100" dirty="0"/>
          </a:p>
        </p:txBody>
      </p:sp>
      <p:sp>
        <p:nvSpPr>
          <p:cNvPr id="13" name="Text 11"/>
          <p:cNvSpPr/>
          <p:nvPr/>
        </p:nvSpPr>
        <p:spPr>
          <a:xfrm>
            <a:off x="594360" y="3017520"/>
            <a:ext cx="3840480" cy="411480"/>
          </a:xfrm>
          <a:prstGeom prst="rect">
            <a:avLst/>
          </a:prstGeom>
          <a:noFill/>
          <a:ln/>
        </p:spPr>
        <p:txBody>
          <a:bodyPr wrap="square" lIns="0" tIns="0" rIns="0" bIns="0" rtlCol="0" anchor="ctr"/>
          <a:lstStyle/>
          <a:p>
            <a:pPr marL="0" indent="0">
              <a:buNone/>
            </a:pPr>
            <a:endParaRPr lang="en-US" sz="1400" dirty="0"/>
          </a:p>
        </p:txBody>
      </p:sp>
      <p:sp>
        <p:nvSpPr>
          <p:cNvPr id="14" name="Text 12"/>
          <p:cNvSpPr/>
          <p:nvPr/>
        </p:nvSpPr>
        <p:spPr>
          <a:xfrm>
            <a:off x="594360" y="3429000"/>
            <a:ext cx="3840480" cy="777240"/>
          </a:xfrm>
          <a:prstGeom prst="rect">
            <a:avLst/>
          </a:prstGeom>
          <a:noFill/>
          <a:ln/>
        </p:spPr>
        <p:txBody>
          <a:bodyPr wrap="square" lIns="0" tIns="0" rIns="0" bIns="0" rtlCol="0" anchor="t"/>
          <a:lstStyle/>
          <a:p>
            <a:pPr marL="0" indent="0">
              <a:buNone/>
            </a:pPr>
            <a:endParaRPr lang="en-US" sz="1100" dirty="0"/>
          </a:p>
        </p:txBody>
      </p:sp>
      <p:sp>
        <p:nvSpPr>
          <p:cNvPr id="16" name="Text 14"/>
          <p:cNvSpPr/>
          <p:nvPr/>
        </p:nvSpPr>
        <p:spPr>
          <a:xfrm>
            <a:off x="5074920" y="3017520"/>
            <a:ext cx="3840480" cy="411480"/>
          </a:xfrm>
          <a:prstGeom prst="rect">
            <a:avLst/>
          </a:prstGeom>
          <a:noFill/>
          <a:ln/>
        </p:spPr>
        <p:txBody>
          <a:bodyPr wrap="square" lIns="0" tIns="0" rIns="0" bIns="0" rtlCol="0" anchor="ctr"/>
          <a:lstStyle/>
          <a:p>
            <a:pPr marL="0" indent="0">
              <a:buNone/>
            </a:pPr>
            <a:endParaRPr lang="en-US" sz="1400" dirty="0"/>
          </a:p>
        </p:txBody>
      </p:sp>
      <p:sp>
        <p:nvSpPr>
          <p:cNvPr id="17" name="Text 15"/>
          <p:cNvSpPr/>
          <p:nvPr/>
        </p:nvSpPr>
        <p:spPr>
          <a:xfrm>
            <a:off x="5074920" y="3429000"/>
            <a:ext cx="3840480" cy="777240"/>
          </a:xfrm>
          <a:prstGeom prst="rect">
            <a:avLst/>
          </a:prstGeom>
          <a:noFill/>
          <a:ln/>
        </p:spPr>
        <p:txBody>
          <a:bodyPr wrap="square" lIns="0" tIns="0" rIns="0" bIns="0" rtlCol="0" anchor="t"/>
          <a:lstStyle/>
          <a:p>
            <a:pPr marL="0" indent="0">
              <a:buNone/>
            </a:pPr>
            <a:endParaRPr lang="en-US" sz="1100" dirty="0"/>
          </a:p>
        </p:txBody>
      </p:sp>
      <p:sp>
        <p:nvSpPr>
          <p:cNvPr id="18" name="Shape 16"/>
          <p:cNvSpPr/>
          <p:nvPr/>
        </p:nvSpPr>
        <p:spPr>
          <a:xfrm>
            <a:off x="0" y="4800600"/>
            <a:ext cx="9144000" cy="342900"/>
          </a:xfrm>
          <a:prstGeom prst="rect">
            <a:avLst/>
          </a:prstGeom>
          <a:solidFill>
            <a:srgbClr val="40916C"/>
          </a:solidFill>
          <a:ln w="12700">
            <a:solidFill>
              <a:srgbClr val="40916C"/>
            </a:solidFill>
            <a:prstDash val="solid"/>
          </a:ln>
        </p:spPr>
      </p:sp>
      <p:sp>
        <p:nvSpPr>
          <p:cNvPr id="19" name="Text 17"/>
          <p:cNvSpPr/>
          <p:nvPr/>
        </p:nvSpPr>
        <p:spPr>
          <a:xfrm>
            <a:off x="365760" y="4800600"/>
            <a:ext cx="8412480" cy="3429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Built with Python · scikit-learn · pandas · seaborn · matplotlib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577</Words>
  <Application>Microsoft Office PowerPoint</Application>
  <PresentationFormat>On-screen Show (16:9)</PresentationFormat>
  <Paragraphs>141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Prediction Using Machine Learning</dc:title>
  <dc:subject>PptxGenJS Presentation</dc:subject>
  <dc:creator>PptxGenJS</dc:creator>
  <cp:lastModifiedBy>sireeshareddy065@gmail.com</cp:lastModifiedBy>
  <cp:revision>4</cp:revision>
  <dcterms:created xsi:type="dcterms:W3CDTF">2026-06-06T05:56:13Z</dcterms:created>
  <dcterms:modified xsi:type="dcterms:W3CDTF">2026-06-06T06:21:24Z</dcterms:modified>
</cp:coreProperties>
</file>